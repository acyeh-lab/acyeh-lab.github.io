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5"/>
  </p:sldMasterIdLst>
  <p:notesMasterIdLst>
    <p:notesMasterId r:id="rId19"/>
  </p:notesMasterIdLst>
  <p:handoutMasterIdLst>
    <p:handoutMasterId r:id="rId20"/>
  </p:handoutMasterIdLst>
  <p:sldIdLst>
    <p:sldId id="263" r:id="rId6"/>
    <p:sldId id="295" r:id="rId7"/>
    <p:sldId id="296" r:id="rId8"/>
    <p:sldId id="297" r:id="rId9"/>
    <p:sldId id="304" r:id="rId10"/>
    <p:sldId id="298" r:id="rId11"/>
    <p:sldId id="305" r:id="rId12"/>
    <p:sldId id="299" r:id="rId13"/>
    <p:sldId id="300" r:id="rId14"/>
    <p:sldId id="301" r:id="rId15"/>
    <p:sldId id="302" r:id="rId16"/>
    <p:sldId id="303" r:id="rId17"/>
    <p:sldId id="292" r:id="rId1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C2C6"/>
    <a:srgbClr val="154067"/>
    <a:srgbClr val="0000FF"/>
    <a:srgbClr val="99CB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304" autoAdjust="0"/>
  </p:normalViewPr>
  <p:slideViewPr>
    <p:cSldViewPr snapToGrid="0" snapToObjects="1">
      <p:cViewPr varScale="1">
        <p:scale>
          <a:sx n="72" d="100"/>
          <a:sy n="72" d="100"/>
        </p:scale>
        <p:origin x="131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381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EE232-534D-4B55-B46F-D612A6B0FE45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41B78-62A7-4829-B860-A4BCFDE9C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309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3D6D4-48DC-4A4D-813F-2A5F22A12CCF}" type="datetimeFigureOut">
              <a:rPr lang="en-US" smtClean="0"/>
              <a:t>8/2/2018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FC885-69D8-4529-80F6-6A0566D37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974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701041" y="4473893"/>
            <a:ext cx="5608319" cy="366045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49" name="Shape 49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546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FredHutch_v_tag_4col_rgb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1277938"/>
            <a:ext cx="5113338" cy="41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1588" y="6492875"/>
            <a:ext cx="25574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© Fred Hutchinson Cancer Research Center 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8250" y="6492875"/>
            <a:ext cx="3746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charset="0"/>
              </a:defRPr>
            </a:lvl1pPr>
          </a:lstStyle>
          <a:p>
            <a:fld id="{224ACA9D-2A64-9A4B-A9DD-0B8C6176E9A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788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647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 b="1">
                <a:solidFill>
                  <a:srgbClr val="154067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4002"/>
            <a:ext cx="7886700" cy="4772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54067"/>
                </a:solidFill>
              </a:defRPr>
            </a:lvl1pPr>
            <a:lvl2pPr>
              <a:buClr>
                <a:srgbClr val="99CB5A"/>
              </a:buClr>
              <a:defRPr>
                <a:solidFill>
                  <a:srgbClr val="154067"/>
                </a:solidFill>
              </a:defRPr>
            </a:lvl2pPr>
            <a:lvl3pPr>
              <a:buClr>
                <a:srgbClr val="99CB5A"/>
              </a:buClr>
              <a:defRPr>
                <a:solidFill>
                  <a:srgbClr val="154067"/>
                </a:solidFill>
              </a:defRPr>
            </a:lvl3pPr>
            <a:lvl4pPr>
              <a:buClr>
                <a:srgbClr val="99CB5A"/>
              </a:buClr>
              <a:defRPr>
                <a:solidFill>
                  <a:srgbClr val="154067"/>
                </a:solidFill>
              </a:defRPr>
            </a:lvl4pPr>
            <a:lvl5pPr>
              <a:buClr>
                <a:srgbClr val="99CB5A"/>
              </a:buClr>
              <a:defRPr>
                <a:solidFill>
                  <a:srgbClr val="154067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1588" y="6492875"/>
            <a:ext cx="25574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© Fred Hutchinson Cancer Research Center 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8250" y="6492875"/>
            <a:ext cx="3746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charset="0"/>
              </a:defRPr>
            </a:lvl1pPr>
          </a:lstStyle>
          <a:p>
            <a:fld id="{224ACA9D-2A64-9A4B-A9DD-0B8C6176E9AA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9" name="Picture 8" descr="fh-hor-ny-no-csh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58" y="6464300"/>
            <a:ext cx="9667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405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FH-hor-W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4" y="5954717"/>
            <a:ext cx="207486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578537"/>
            <a:ext cx="8229600" cy="1325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2039032"/>
            <a:ext cx="8229600" cy="33465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1588" y="6492875"/>
            <a:ext cx="25574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© Fred Hutchinson Cancer Research Center 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8250" y="6492875"/>
            <a:ext cx="3746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charset="0"/>
              </a:defRPr>
            </a:lvl1pPr>
          </a:lstStyle>
          <a:p>
            <a:fld id="{224ACA9D-2A64-9A4B-A9DD-0B8C6176E9A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20949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rgbClr val="18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1699202" y="2383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  <p:sp>
        <p:nvSpPr>
          <p:cNvPr id="6" name="Title 11"/>
          <p:cNvSpPr>
            <a:spLocks noGrp="1"/>
          </p:cNvSpPr>
          <p:nvPr>
            <p:ph type="title" hasCustomPrompt="1"/>
          </p:nvPr>
        </p:nvSpPr>
        <p:spPr>
          <a:xfrm>
            <a:off x="458790" y="2995200"/>
            <a:ext cx="8224837" cy="864426"/>
          </a:xfrm>
          <a:prstGeom prst="rect">
            <a:avLst/>
          </a:prstGeom>
        </p:spPr>
        <p:txBody>
          <a:bodyPr/>
          <a:lstStyle>
            <a:lvl1pPr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Edit Section Break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1588" y="6492875"/>
            <a:ext cx="25574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© Fred Hutchinson Cancer Research Center 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8250" y="6492875"/>
            <a:ext cx="3746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solidFill>
                  <a:srgbClr val="FFFFFF"/>
                </a:solidFill>
                <a:latin typeface="Arial" charset="0"/>
              </a:defRPr>
            </a:lvl1pPr>
          </a:lstStyle>
          <a:p>
            <a:fld id="{E789DC04-A3C6-BA4E-A81A-454E211483E7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9" name="Picture 2" descr="fh-hor-wh-no-cash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56" y="6470650"/>
            <a:ext cx="9636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115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h-hor-ny-no-csh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58" y="6464300"/>
            <a:ext cx="9667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647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 b="1">
                <a:solidFill>
                  <a:srgbClr val="154067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28650" y="1404002"/>
            <a:ext cx="7886700" cy="4772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54067"/>
                </a:solidFill>
              </a:defRPr>
            </a:lvl1pPr>
            <a:lvl2pPr>
              <a:buClr>
                <a:srgbClr val="99CB5A"/>
              </a:buClr>
              <a:defRPr>
                <a:solidFill>
                  <a:srgbClr val="154067"/>
                </a:solidFill>
              </a:defRPr>
            </a:lvl2pPr>
            <a:lvl3pPr>
              <a:buClr>
                <a:srgbClr val="99CB5A"/>
              </a:buClr>
              <a:defRPr>
                <a:solidFill>
                  <a:srgbClr val="154067"/>
                </a:solidFill>
              </a:defRPr>
            </a:lvl3pPr>
            <a:lvl4pPr>
              <a:buClr>
                <a:srgbClr val="99CB5A"/>
              </a:buClr>
              <a:defRPr>
                <a:solidFill>
                  <a:srgbClr val="154067"/>
                </a:solidFill>
              </a:defRPr>
            </a:lvl4pPr>
            <a:lvl5pPr>
              <a:buClr>
                <a:srgbClr val="99CB5A"/>
              </a:buClr>
              <a:defRPr>
                <a:solidFill>
                  <a:srgbClr val="154067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1588" y="6505575"/>
            <a:ext cx="25574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© Fred Hutchinson Cancer Research Center 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8250" y="6505575"/>
            <a:ext cx="3746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charset="0"/>
              </a:defRPr>
            </a:lvl1pPr>
          </a:lstStyle>
          <a:p>
            <a:fld id="{224ACA9D-2A64-9A4B-A9DD-0B8C6176E9A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669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5088"/>
            <a:ext cx="7886700" cy="4581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154067"/>
                </a:solidFill>
              </a:defRPr>
            </a:lvl1pPr>
            <a:lvl2pPr>
              <a:buClr>
                <a:srgbClr val="99CB5A"/>
              </a:buClr>
              <a:defRPr>
                <a:solidFill>
                  <a:srgbClr val="154067"/>
                </a:solidFill>
              </a:defRPr>
            </a:lvl2pPr>
            <a:lvl3pPr>
              <a:buClr>
                <a:srgbClr val="99CB5A"/>
              </a:buClr>
              <a:defRPr>
                <a:solidFill>
                  <a:srgbClr val="154067"/>
                </a:solidFill>
              </a:defRPr>
            </a:lvl3pPr>
            <a:lvl4pPr>
              <a:buClr>
                <a:srgbClr val="99CB5A"/>
              </a:buClr>
              <a:defRPr>
                <a:solidFill>
                  <a:srgbClr val="154067"/>
                </a:solidFill>
              </a:defRPr>
            </a:lvl4pPr>
            <a:lvl5pPr>
              <a:buClr>
                <a:srgbClr val="99CB5A"/>
              </a:buClr>
              <a:defRPr>
                <a:solidFill>
                  <a:srgbClr val="154067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fh-hor-ny-no-csh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58" y="6464300"/>
            <a:ext cx="9667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 userDrawn="1"/>
        </p:nvSpPr>
        <p:spPr bwMode="auto">
          <a:xfrm>
            <a:off x="446090" y="1252192"/>
            <a:ext cx="8237537" cy="55563"/>
          </a:xfrm>
          <a:prstGeom prst="rect">
            <a:avLst/>
          </a:prstGeom>
          <a:gradFill flip="none" rotWithShape="1">
            <a:gsLst>
              <a:gs pos="0">
                <a:srgbClr val="154067"/>
              </a:gs>
              <a:gs pos="100000">
                <a:srgbClr val="99CB5A"/>
              </a:gs>
              <a:gs pos="50000">
                <a:srgbClr val="42C2C6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/>
          <a:lstStyle/>
          <a:p>
            <a:pPr>
              <a:defRPr/>
            </a:pPr>
            <a:endParaRPr lang="en-US" sz="1800">
              <a:latin typeface="Times New Roman" pitchFamily="18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647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 b="1">
                <a:solidFill>
                  <a:srgbClr val="154067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1588" y="6492875"/>
            <a:ext cx="25574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© Fred Hutchinson Cancer Research Center </a:t>
            </a: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8250" y="6492875"/>
            <a:ext cx="3746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charset="0"/>
              </a:defRPr>
            </a:lvl1pPr>
          </a:lstStyle>
          <a:p>
            <a:fld id="{224ACA9D-2A64-9A4B-A9DD-0B8C6176E9A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87884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98404"/>
            <a:ext cx="3886200" cy="457856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99CB5A"/>
              </a:buClr>
              <a:buNone/>
              <a:defRPr>
                <a:solidFill>
                  <a:srgbClr val="154067"/>
                </a:solidFill>
              </a:defRPr>
            </a:lvl1pPr>
            <a:lvl2pPr>
              <a:buClr>
                <a:srgbClr val="99CB5A"/>
              </a:buClr>
              <a:defRPr>
                <a:solidFill>
                  <a:srgbClr val="154067"/>
                </a:solidFill>
              </a:defRPr>
            </a:lvl2pPr>
            <a:lvl3pPr>
              <a:buClr>
                <a:srgbClr val="99CB5A"/>
              </a:buClr>
              <a:defRPr>
                <a:solidFill>
                  <a:srgbClr val="154067"/>
                </a:solidFill>
              </a:defRPr>
            </a:lvl3pPr>
            <a:lvl4pPr>
              <a:buClr>
                <a:srgbClr val="99CB5A"/>
              </a:buClr>
              <a:defRPr>
                <a:solidFill>
                  <a:srgbClr val="154067"/>
                </a:solidFill>
              </a:defRPr>
            </a:lvl4pPr>
            <a:lvl5pPr>
              <a:buClr>
                <a:srgbClr val="99CB5A"/>
              </a:buClr>
              <a:defRPr>
                <a:solidFill>
                  <a:srgbClr val="154067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98404"/>
            <a:ext cx="3886200" cy="457856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99CB5A"/>
              </a:buClr>
              <a:buNone/>
              <a:defRPr>
                <a:solidFill>
                  <a:srgbClr val="154067"/>
                </a:solidFill>
              </a:defRPr>
            </a:lvl1pPr>
            <a:lvl2pPr>
              <a:buClr>
                <a:srgbClr val="99CB5A"/>
              </a:buClr>
              <a:defRPr>
                <a:solidFill>
                  <a:srgbClr val="154067"/>
                </a:solidFill>
              </a:defRPr>
            </a:lvl2pPr>
            <a:lvl3pPr>
              <a:buClr>
                <a:srgbClr val="99CB5A"/>
              </a:buClr>
              <a:defRPr>
                <a:solidFill>
                  <a:srgbClr val="154067"/>
                </a:solidFill>
              </a:defRPr>
            </a:lvl3pPr>
            <a:lvl4pPr>
              <a:buClr>
                <a:srgbClr val="99CB5A"/>
              </a:buClr>
              <a:defRPr>
                <a:solidFill>
                  <a:srgbClr val="154067"/>
                </a:solidFill>
              </a:defRPr>
            </a:lvl4pPr>
            <a:lvl5pPr>
              <a:buClr>
                <a:srgbClr val="99CB5A"/>
              </a:buClr>
              <a:defRPr>
                <a:solidFill>
                  <a:srgbClr val="154067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446090" y="1252192"/>
            <a:ext cx="8237537" cy="55563"/>
          </a:xfrm>
          <a:prstGeom prst="rect">
            <a:avLst/>
          </a:prstGeom>
          <a:gradFill flip="none" rotWithShape="1">
            <a:gsLst>
              <a:gs pos="0">
                <a:srgbClr val="154067"/>
              </a:gs>
              <a:gs pos="100000">
                <a:srgbClr val="99CB5A"/>
              </a:gs>
              <a:gs pos="50000">
                <a:srgbClr val="42C2C6"/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wrap="none"/>
          <a:lstStyle/>
          <a:p>
            <a:pPr>
              <a:defRPr/>
            </a:pPr>
            <a:endParaRPr lang="en-US" sz="1800">
              <a:latin typeface="Times New Roman" pitchFamily="18" charset="0"/>
              <a:ea typeface="ヒラギノ角ゴ Pro W3" charset="0"/>
              <a:cs typeface="ヒラギノ角ゴ Pro W3" charset="0"/>
            </a:endParaRPr>
          </a:p>
        </p:txBody>
      </p:sp>
      <p:pic>
        <p:nvPicPr>
          <p:cNvPr id="12" name="Picture 11" descr="fh-hor-ny-no-csh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58" y="6464300"/>
            <a:ext cx="9667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1647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 b="1">
                <a:solidFill>
                  <a:srgbClr val="154067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1588" y="6492875"/>
            <a:ext cx="25574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© Fred Hutchinson Cancer Research Center </a:t>
            </a: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8250" y="6492875"/>
            <a:ext cx="3746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charset="0"/>
              </a:defRPr>
            </a:lvl1pPr>
          </a:lstStyle>
          <a:p>
            <a:fld id="{224ACA9D-2A64-9A4B-A9DD-0B8C6176E9A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44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h-hor-ny-no-csh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58" y="6464300"/>
            <a:ext cx="9667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1588" y="6492875"/>
            <a:ext cx="25574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© Fred Hutchinson Cancer Research Center </a:t>
            </a: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8250" y="6492875"/>
            <a:ext cx="3746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charset="0"/>
              </a:defRPr>
            </a:lvl1pPr>
          </a:lstStyle>
          <a:p>
            <a:fld id="{224ACA9D-2A64-9A4B-A9DD-0B8C6176E9A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0898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8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cureStartsHer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3043242"/>
            <a:ext cx="8240712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6" descr="FH-hor-W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4" y="5954717"/>
            <a:ext cx="207486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1588" y="6492875"/>
            <a:ext cx="25574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© Fred Hutchinson Cancer Research Center 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8250" y="6492875"/>
            <a:ext cx="3746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charset="0"/>
              </a:defRPr>
            </a:lvl1pPr>
          </a:lstStyle>
          <a:p>
            <a:fld id="{224ACA9D-2A64-9A4B-A9DD-0B8C6176E9A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7174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rgbClr val="18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thank you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939" y="3041650"/>
            <a:ext cx="45593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 descr="fredhutch org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827" y="6235704"/>
            <a:ext cx="1136650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 descr="FH-hor-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4" y="5954717"/>
            <a:ext cx="207486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1588" y="6492875"/>
            <a:ext cx="25574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© Fred Hutchinson Cancer Research Center 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8250" y="6492875"/>
            <a:ext cx="3746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charset="0"/>
              </a:defRPr>
            </a:lvl1pPr>
          </a:lstStyle>
          <a:p>
            <a:fld id="{224ACA9D-2A64-9A4B-A9DD-0B8C6176E9A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4693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hape 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2" y="5934075"/>
            <a:ext cx="2106613" cy="5302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1588" y="6492875"/>
            <a:ext cx="25574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© Fred Hutchinson Cancer Research Center 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88250" y="6492875"/>
            <a:ext cx="3746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600">
                <a:latin typeface="Arial" charset="0"/>
              </a:defRPr>
            </a:lvl1pPr>
          </a:lstStyle>
          <a:p>
            <a:fld id="{224ACA9D-2A64-9A4B-A9DD-0B8C6176E9A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30291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820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9" r:id="rId4"/>
    <p:sldLayoutId id="2147483675" r:id="rId5"/>
    <p:sldLayoutId id="2147483676" r:id="rId6"/>
    <p:sldLayoutId id="2147483664" r:id="rId7"/>
    <p:sldLayoutId id="2147483667" r:id="rId8"/>
    <p:sldLayoutId id="2147483673" r:id="rId9"/>
    <p:sldLayoutId id="2147483674" r:id="rId10"/>
    <p:sldLayoutId id="2147483680" r:id="rId11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154067"/>
          </a:solidFill>
          <a:latin typeface="+mn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Clr>
          <a:srgbClr val="99CB5A"/>
        </a:buClr>
        <a:buFont typeface="Arial" panose="020B0604020202020204" pitchFamily="34" charset="0"/>
        <a:buNone/>
        <a:defRPr sz="2800" kern="1200">
          <a:solidFill>
            <a:srgbClr val="154067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99CB5A"/>
        </a:buClr>
        <a:buFont typeface="Arial" panose="020B0604020202020204" pitchFamily="34" charset="0"/>
        <a:buChar char="•"/>
        <a:defRPr sz="2400" kern="1200">
          <a:solidFill>
            <a:srgbClr val="154067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99CB5A"/>
        </a:buClr>
        <a:buFont typeface="Arial" panose="020B0604020202020204" pitchFamily="34" charset="0"/>
        <a:buChar char="•"/>
        <a:defRPr sz="2000" kern="1200">
          <a:solidFill>
            <a:srgbClr val="154067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99CB5A"/>
        </a:buClr>
        <a:buFont typeface="Arial" panose="020B0604020202020204" pitchFamily="34" charset="0"/>
        <a:buChar char="•"/>
        <a:defRPr sz="1800" kern="1200">
          <a:solidFill>
            <a:srgbClr val="154067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99CB5A"/>
        </a:buClr>
        <a:buFont typeface="Arial" panose="020B0604020202020204" pitchFamily="34" charset="0"/>
        <a:buChar char="•"/>
        <a:defRPr sz="1800" kern="1200">
          <a:solidFill>
            <a:srgbClr val="154067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body" idx="4294967295"/>
          </p:nvPr>
        </p:nvSpPr>
        <p:spPr>
          <a:xfrm>
            <a:off x="411037" y="218391"/>
            <a:ext cx="8228013" cy="193830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C5EEF1"/>
              </a:buClr>
              <a:buSzPct val="25000"/>
            </a:pPr>
            <a:r>
              <a:rPr lang="en-US" sz="3600" dirty="0">
                <a:solidFill>
                  <a:schemeClr val="bg1"/>
                </a:solidFill>
              </a:rPr>
              <a:t>Experimental Histopathology Shared Resources </a:t>
            </a:r>
            <a:endParaRPr lang="en-US" sz="3600" dirty="0">
              <a:solidFill>
                <a:schemeClr val="accent5"/>
              </a:solidFill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C5EEF1"/>
              </a:buClr>
              <a:buSzPct val="25000"/>
            </a:pPr>
            <a:endParaRPr lang="en-US" sz="2000" i="1" dirty="0">
              <a:solidFill>
                <a:schemeClr val="accent5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© Fred Hutchinson Cancer Research Center </a:t>
            </a: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4ACA9D-2A64-9A4B-A9DD-0B8C6176E9AA}" type="slidenum">
              <a:rPr lang="en-US" altLang="en-US" smtClean="0"/>
              <a:pPr/>
              <a:t>1</a:t>
            </a:fld>
            <a:endParaRPr lang="en-US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1" y="4018547"/>
            <a:ext cx="4451683" cy="126331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n-US" dirty="0"/>
          </a:p>
        </p:txBody>
      </p:sp>
      <p:sp>
        <p:nvSpPr>
          <p:cNvPr id="7" name="Shape 51">
            <a:extLst>
              <a:ext uri="{FF2B5EF4-FFF2-40B4-BE49-F238E27FC236}">
                <a16:creationId xmlns:a16="http://schemas.microsoft.com/office/drawing/2014/main" id="{5429F489-FF48-4C0A-AB2E-B5F68AD8CF6C}"/>
              </a:ext>
            </a:extLst>
          </p:cNvPr>
          <p:cNvSpPr txBox="1">
            <a:spLocks/>
          </p:cNvSpPr>
          <p:nvPr/>
        </p:nvSpPr>
        <p:spPr>
          <a:xfrm>
            <a:off x="360237" y="3288327"/>
            <a:ext cx="8228013" cy="30687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9CB5A"/>
              </a:buClr>
              <a:buFont typeface="Arial" panose="020B0604020202020204" pitchFamily="34" charset="0"/>
              <a:buNone/>
              <a:defRPr sz="2800" kern="1200">
                <a:solidFill>
                  <a:srgbClr val="154067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99CB5A"/>
              </a:buClr>
              <a:buFont typeface="Arial" panose="020B0604020202020204" pitchFamily="34" charset="0"/>
              <a:buChar char="•"/>
              <a:defRPr sz="2400" kern="1200">
                <a:solidFill>
                  <a:srgbClr val="154067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99CB5A"/>
              </a:buClr>
              <a:buFont typeface="Arial" panose="020B0604020202020204" pitchFamily="34" charset="0"/>
              <a:buChar char="•"/>
              <a:defRPr sz="2000" kern="1200">
                <a:solidFill>
                  <a:srgbClr val="154067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99CB5A"/>
              </a:buClr>
              <a:buFont typeface="Arial" panose="020B0604020202020204" pitchFamily="34" charset="0"/>
              <a:buChar char="•"/>
              <a:defRPr sz="1800" kern="1200">
                <a:solidFill>
                  <a:srgbClr val="154067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99CB5A"/>
              </a:buClr>
              <a:buFont typeface="Arial" panose="020B0604020202020204" pitchFamily="34" charset="0"/>
              <a:buChar char="•"/>
              <a:defRPr sz="1800" kern="1200">
                <a:solidFill>
                  <a:srgbClr val="154067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8571"/>
              </a:lnSpc>
              <a:spcBef>
                <a:spcPts val="0"/>
              </a:spcBef>
              <a:buClr>
                <a:srgbClr val="C5EEF1"/>
              </a:buClr>
              <a:buSzPct val="25000"/>
            </a:pPr>
            <a:br>
              <a:rPr lang="en-US" sz="2000" dirty="0">
                <a:solidFill>
                  <a:schemeClr val="bg1"/>
                </a:solidFill>
                <a:cs typeface="Arial" panose="020B0604020202020204" pitchFamily="34" charset="0"/>
              </a:rPr>
            </a:br>
            <a:r>
              <a:rPr lang="en-US" sz="4000" b="1" u="sng" dirty="0">
                <a:solidFill>
                  <a:schemeClr val="bg1"/>
                </a:solidFill>
                <a:cs typeface="Arial" panose="020B0604020202020204" pitchFamily="34" charset="0"/>
              </a:rPr>
              <a:t>Basic Tissue Freezing Workshop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8027C-DF6D-471D-96F8-C73D41B829D7}"/>
              </a:ext>
            </a:extLst>
          </p:cNvPr>
          <p:cNvSpPr txBox="1"/>
          <p:nvPr/>
        </p:nvSpPr>
        <p:spPr>
          <a:xfrm>
            <a:off x="987555" y="4747773"/>
            <a:ext cx="7368209" cy="126331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Presenter Elizabeth Benitez, M.Ed., Research </a:t>
            </a:r>
            <a:r>
              <a:rPr lang="en-US" sz="2000" dirty="0" err="1">
                <a:solidFill>
                  <a:schemeClr val="bg1"/>
                </a:solidFill>
              </a:rPr>
              <a:t>Histotechnician</a:t>
            </a:r>
            <a:r>
              <a:rPr lang="en-US" sz="2000" dirty="0">
                <a:solidFill>
                  <a:schemeClr val="bg1"/>
                </a:solidFill>
              </a:rPr>
              <a:t> III</a:t>
            </a:r>
          </a:p>
          <a:p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58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780" y="894713"/>
            <a:ext cx="8229600" cy="1143000"/>
          </a:xfrm>
        </p:spPr>
        <p:txBody>
          <a:bodyPr/>
          <a:lstStyle/>
          <a:p>
            <a:r>
              <a:rPr lang="en-US" dirty="0"/>
              <a:t>	</a:t>
            </a:r>
            <a:r>
              <a:rPr lang="en-US" u="sng" dirty="0"/>
              <a:t>Why </a:t>
            </a:r>
            <a:r>
              <a:rPr lang="en-US" u="sng" dirty="0" err="1"/>
              <a:t>Isopentane</a:t>
            </a:r>
            <a:r>
              <a:rPr lang="en-US" u="sng" dirty="0"/>
              <a:t> Freezing?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" y="1978326"/>
            <a:ext cx="8229600" cy="4452638"/>
          </a:xfrm>
        </p:spPr>
        <p:txBody>
          <a:bodyPr/>
          <a:lstStyle/>
          <a:p>
            <a:r>
              <a:rPr lang="en-US" dirty="0"/>
              <a:t>The quicker you freeze samples the better the results.</a:t>
            </a:r>
          </a:p>
          <a:p>
            <a:pPr marL="914400" lvl="1" indent="-457200"/>
            <a:r>
              <a:rPr lang="en-US" sz="2800" dirty="0"/>
              <a:t>Less ice crystals = better morphology</a:t>
            </a:r>
          </a:p>
          <a:p>
            <a:pPr lvl="1"/>
            <a:r>
              <a:rPr lang="en-US" sz="2800" dirty="0"/>
              <a:t>   Samples freeze in about 10-12   </a:t>
            </a:r>
          </a:p>
          <a:p>
            <a:pPr marL="457189" lvl="1" indent="0">
              <a:buNone/>
            </a:pPr>
            <a:r>
              <a:rPr lang="en-US" sz="2800" dirty="0"/>
              <a:t>      seconds.</a:t>
            </a:r>
          </a:p>
          <a:p>
            <a:pPr lvl="1"/>
            <a:r>
              <a:rPr lang="en-US" sz="2800" dirty="0" err="1"/>
              <a:t>Isopentane</a:t>
            </a:r>
            <a:r>
              <a:rPr lang="en-US" sz="2800" dirty="0"/>
              <a:t> freezing produces better morphology for muscle and tissues with a lot of fat.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5" t="57951" r="52125" b="2056"/>
          <a:stretch/>
        </p:blipFill>
        <p:spPr bwMode="auto">
          <a:xfrm>
            <a:off x="3423249" y="4820287"/>
            <a:ext cx="2182208" cy="161067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94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4646"/>
            <a:ext cx="7886700" cy="916474"/>
          </a:xfrm>
        </p:spPr>
        <p:txBody>
          <a:bodyPr/>
          <a:lstStyle/>
          <a:p>
            <a:pPr algn="ctr"/>
            <a:r>
              <a:rPr lang="en-US" dirty="0"/>
              <a:t>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02060" y="1281601"/>
            <a:ext cx="2915729" cy="515370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5132717" y="1095555"/>
            <a:ext cx="3562709" cy="524486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51A3B6-4973-4F14-B590-4A1408E01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008619" y="4733289"/>
            <a:ext cx="2007703" cy="15057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8" name="Picture 4" descr="Related image">
            <a:extLst>
              <a:ext uri="{FF2B5EF4-FFF2-40B4-BE49-F238E27FC236}">
                <a16:creationId xmlns:a16="http://schemas.microsoft.com/office/drawing/2014/main" id="{4362C60D-19F9-48BD-8293-68121FCB2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447" y="4476816"/>
            <a:ext cx="1505777" cy="200770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0D9704-3204-4F2E-ABC3-F778E849E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610112"/>
              </p:ext>
            </p:extLst>
          </p:nvPr>
        </p:nvGraphicFramePr>
        <p:xfrm>
          <a:off x="697730" y="1805946"/>
          <a:ext cx="7876215" cy="2529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25405">
                  <a:extLst>
                    <a:ext uri="{9D8B030D-6E8A-4147-A177-3AD203B41FA5}">
                      <a16:colId xmlns:a16="http://schemas.microsoft.com/office/drawing/2014/main" val="2690377475"/>
                    </a:ext>
                  </a:extLst>
                </a:gridCol>
                <a:gridCol w="2625405">
                  <a:extLst>
                    <a:ext uri="{9D8B030D-6E8A-4147-A177-3AD203B41FA5}">
                      <a16:colId xmlns:a16="http://schemas.microsoft.com/office/drawing/2014/main" val="1141311768"/>
                    </a:ext>
                  </a:extLst>
                </a:gridCol>
                <a:gridCol w="2625405">
                  <a:extLst>
                    <a:ext uri="{9D8B030D-6E8A-4147-A177-3AD203B41FA5}">
                      <a16:colId xmlns:a16="http://schemas.microsoft.com/office/drawing/2014/main" val="1056614286"/>
                    </a:ext>
                  </a:extLst>
                </a:gridCol>
              </a:tblGrid>
              <a:tr h="2428337"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Gloves</a:t>
                      </a:r>
                    </a:p>
                    <a:p>
                      <a:pPr marL="285750" indent="-285750" algn="ctr"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Cryo</a:t>
                      </a: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Gloves</a:t>
                      </a:r>
                    </a:p>
                    <a:p>
                      <a:pPr marL="285750" indent="-285750" algn="ctr"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Safety gear for handling Liquid nitrogen</a:t>
                      </a:r>
                    </a:p>
                    <a:p>
                      <a:endParaRPr lang="en-US" sz="1600" b="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Intermediate Cryomold Mold  (15mm x 15 mm x 5 mm)</a:t>
                      </a:r>
                    </a:p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Thermo</a:t>
                      </a: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flasks</a:t>
                      </a:r>
                    </a:p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Forceps</a:t>
                      </a:r>
                    </a:p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Styrofoam container</a:t>
                      </a:r>
                    </a:p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Aluminum foil </a:t>
                      </a:r>
                    </a:p>
                    <a:p>
                      <a:pPr marL="285750" marR="0" lvl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Box for -70 freezer storage</a:t>
                      </a:r>
                    </a:p>
                    <a:p>
                      <a:endParaRPr lang="en-US" sz="1600" b="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Tissue</a:t>
                      </a:r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Tek</a:t>
                      </a: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OCT</a:t>
                      </a:r>
                    </a:p>
                    <a:p>
                      <a:pPr marL="285750" indent="-285750"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Isopentane</a:t>
                      </a: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/2-methylbutane (1liter)</a:t>
                      </a:r>
                    </a:p>
                    <a:p>
                      <a:pPr marL="285750" indent="-285750"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Liquid Nitrogen (900ml)</a:t>
                      </a:r>
                    </a:p>
                    <a:p>
                      <a:pPr marL="285750" indent="-285750">
                        <a:buClr>
                          <a:schemeClr val="accent6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Dry Ice or easy access to -70 freezer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12765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64E1D88-8FD3-4BCB-B976-159F4D3D3A7C}"/>
              </a:ext>
            </a:extLst>
          </p:cNvPr>
          <p:cNvSpPr txBox="1"/>
          <p:nvPr/>
        </p:nvSpPr>
        <p:spPr>
          <a:xfrm>
            <a:off x="1188324" y="1268585"/>
            <a:ext cx="1847805" cy="3110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2000" dirty="0"/>
              <a:t>Safety Gear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564B7E-EA71-4414-827A-1B5B5CD67CBF}"/>
              </a:ext>
            </a:extLst>
          </p:cNvPr>
          <p:cNvSpPr txBox="1"/>
          <p:nvPr/>
        </p:nvSpPr>
        <p:spPr>
          <a:xfrm>
            <a:off x="3622661" y="1276119"/>
            <a:ext cx="1847805" cy="3110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2000" dirty="0"/>
              <a:t>Materials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902057-E9C8-4DD1-96D6-6DA155DFD77B}"/>
              </a:ext>
            </a:extLst>
          </p:cNvPr>
          <p:cNvSpPr txBox="1"/>
          <p:nvPr/>
        </p:nvSpPr>
        <p:spPr>
          <a:xfrm>
            <a:off x="6118749" y="1293017"/>
            <a:ext cx="2221430" cy="27395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sz="2000" dirty="0"/>
              <a:t>Solutions &amp; misc.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45C134-9C80-4E78-9AD5-A6690D166A33}"/>
              </a:ext>
            </a:extLst>
          </p:cNvPr>
          <p:cNvSpPr txBox="1"/>
          <p:nvPr/>
        </p:nvSpPr>
        <p:spPr>
          <a:xfrm>
            <a:off x="6875124" y="1283019"/>
            <a:ext cx="1847805" cy="3110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endParaRPr lang="en-US" sz="4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B58E0C-81B9-492A-AF45-71FD8A156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5749" y="4504876"/>
            <a:ext cx="2558308" cy="19851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1757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Setting up for freezing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4002"/>
            <a:ext cx="7886700" cy="47729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/>
              <a:t>Flask method: Open a hole on either side of the plastic 500 ml beaker and run a metal wire through on either side. Make sure that the beaker fits inside and can hang off of the top of the </a:t>
            </a:r>
            <a:r>
              <a:rPr lang="en-US" sz="2500" dirty="0" err="1"/>
              <a:t>Thermo</a:t>
            </a:r>
            <a:r>
              <a:rPr lang="en-US" sz="2500" dirty="0"/>
              <a:t> Flask.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500" dirty="0"/>
              <a:t>Styrofoam box method: Just use a regular 500 ml polypropylene container and Styrofoam box with a lid.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 descr="C:\Users\ebenitez\Desktop\Frozen Images\IMG_027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600" y="3731012"/>
            <a:ext cx="2261298" cy="293555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ebenitez\Desktop\Frozen Images\IMG_027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044" y="3731011"/>
            <a:ext cx="2201670" cy="29355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07FD6D-04C3-40C1-8AD1-3FF35372BE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266"/>
          <a:stretch/>
        </p:blipFill>
        <p:spPr>
          <a:xfrm>
            <a:off x="6273784" y="3731011"/>
            <a:ext cx="2455452" cy="29355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1955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Setting up for freezing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Bend edge of cryomolds upward for better handling of mold while freezing.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Label Cryomolds with a sharpie pen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Styrofoam box with dry ice and lid (for when you are done embedding the tissue).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Liquid nitrogen (500 ml – 1 liter)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Aluminum foil (to wrap up embedded tissue)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Have all materials ready for embedding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Use proper safety materials and precautions while freezing.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© Fred Hutchinson Cancer Research Center 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4ACA9D-2A64-9A4B-A9DD-0B8C6176E9AA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2287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Setting up solution for </a:t>
            </a:r>
            <a:r>
              <a:rPr lang="en-US" u="sng" dirty="0" err="1"/>
              <a:t>Thermo</a:t>
            </a:r>
            <a:r>
              <a:rPr lang="en-US" u="sng" dirty="0"/>
              <a:t> flask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4003"/>
            <a:ext cx="7886700" cy="4798014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Fill 500 ml container/beaker with approximately 300 ml of </a:t>
            </a:r>
            <a:r>
              <a:rPr lang="en-US" dirty="0" err="1"/>
              <a:t>isoptentane</a:t>
            </a:r>
            <a:r>
              <a:rPr lang="en-US" dirty="0"/>
              <a:t>/2-Methlybutane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Lower 500 ml container/beaker with </a:t>
            </a:r>
            <a:r>
              <a:rPr lang="en-US" dirty="0" err="1"/>
              <a:t>isopentane</a:t>
            </a:r>
            <a:r>
              <a:rPr lang="en-US" dirty="0"/>
              <a:t>/2-methylbutane into a </a:t>
            </a:r>
            <a:r>
              <a:rPr lang="en-US" dirty="0" err="1"/>
              <a:t>thermoflask</a:t>
            </a:r>
            <a:r>
              <a:rPr lang="en-US" dirty="0"/>
              <a:t> with 500 ml of Liquid nitrogen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Allow beaker to sit in liquid nitrogen until you see edges of the beaker turning white (cold) approximately 10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algn="ctr"/>
            <a:r>
              <a:rPr lang="en-US" b="1" dirty="0" err="1"/>
              <a:t>isopentane</a:t>
            </a:r>
            <a:r>
              <a:rPr lang="en-US" b="1" dirty="0"/>
              <a:t> should look like a slurry before use (approximately 5-10 minutes depending on amount of </a:t>
            </a:r>
            <a:r>
              <a:rPr lang="en-US" b="1" dirty="0" err="1"/>
              <a:t>isopentane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7520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8261-7379-4E44-A09A-2619A2828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306" y="136525"/>
            <a:ext cx="8151744" cy="916474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Setting up solution for dry ice method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6E839-BE1F-4EBA-8848-011A72399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06" y="1052271"/>
            <a:ext cx="8343888" cy="526115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Fill bottom of Styrofoam box with about 1 inch of liquid nitrogen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Fill a 500 ml container/beaker with approximately 300 ml of </a:t>
            </a:r>
            <a:r>
              <a:rPr lang="en-US" dirty="0" err="1"/>
              <a:t>Isoptentane</a:t>
            </a:r>
            <a:r>
              <a:rPr lang="en-US" dirty="0"/>
              <a:t>/2-Methlybutane.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Slowly lower container into liquid nitrogen. Ensure that the container does not spill into the liquid nitrogen.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Allow beaker to sit in liquid nitrogen until you see edges of the beaker turning white (cold) approximately 10 minutes</a:t>
            </a:r>
          </a:p>
          <a:p>
            <a:pPr algn="ctr"/>
            <a:r>
              <a:rPr lang="en-US" b="1" dirty="0" err="1"/>
              <a:t>Isopentane</a:t>
            </a:r>
            <a:r>
              <a:rPr lang="en-US" b="1" dirty="0"/>
              <a:t> should look like a slurry before use (</a:t>
            </a:r>
            <a:r>
              <a:rPr lang="en-US" sz="2600" b="1" dirty="0"/>
              <a:t>approximately</a:t>
            </a:r>
            <a:r>
              <a:rPr lang="en-US" b="1" dirty="0"/>
              <a:t> 5-10 minutes depending on amount of </a:t>
            </a:r>
            <a:r>
              <a:rPr lang="en-US" sz="2500" b="1" dirty="0" err="1"/>
              <a:t>isopentane</a:t>
            </a:r>
            <a:r>
              <a:rPr lang="en-US" b="1" dirty="0"/>
              <a:t>)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8B285-E1AA-4A34-87E7-B0EA87B4AF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© Fred Hutchinson Cancer Research Center </a:t>
            </a:r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A5420-5EF5-45F7-B392-687F19A91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4ACA9D-2A64-9A4B-A9DD-0B8C6176E9AA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05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Prepping the tissue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Cut down tissue samples: </a:t>
            </a:r>
          </a:p>
          <a:p>
            <a:pPr marL="0" indent="0">
              <a:buNone/>
            </a:pPr>
            <a:r>
              <a:rPr lang="en-US" dirty="0"/>
              <a:t>&lt;3 mm in thickness</a:t>
            </a:r>
          </a:p>
          <a:p>
            <a:pPr marL="0" indent="0">
              <a:buNone/>
            </a:pPr>
            <a:r>
              <a:rPr lang="en-US" dirty="0"/>
              <a:t>&lt;10 mm in length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Keep fresh tissue on a moist gauze with saline to avoid drying artifact.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Right before embedding, dry the tissue on a paper towel or dry cloth to avoid ice crystals before freezing.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313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Embedding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Put a small amount of OCT in the labeled </a:t>
            </a:r>
            <a:r>
              <a:rPr lang="en-US" dirty="0" err="1"/>
              <a:t>cryomold</a:t>
            </a:r>
            <a:r>
              <a:rPr lang="en-US" dirty="0"/>
              <a:t> before placing the tissue inside. Avoid or pop any air bubbles that emerge.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Place the tissue in the center of the mold and carefully surround the tissue with OCT. Use a circular motion.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Fill the mold entirely making sure that the tissue is submerged in OCT.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 forceps to keep tissue flat or area of interest downward.</a:t>
            </a:r>
          </a:p>
        </p:txBody>
      </p:sp>
    </p:spTree>
    <p:extLst>
      <p:ext uri="{BB962C8B-B14F-4D97-AF65-F5344CB8AC3E}">
        <p14:creationId xmlns:p14="http://schemas.microsoft.com/office/powerpoint/2010/main" val="2534720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 err="1"/>
              <a:t>Isopentane</a:t>
            </a:r>
            <a:r>
              <a:rPr lang="en-US" u="sng" dirty="0"/>
              <a:t> Freezing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Slowly lower the mold into the </a:t>
            </a:r>
            <a:r>
              <a:rPr lang="en-US" dirty="0" err="1"/>
              <a:t>isopentane</a:t>
            </a:r>
            <a:r>
              <a:rPr lang="en-US" dirty="0"/>
              <a:t> with forceps using the bent edge of the cryomold. *keeping the mold as flat as possible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 a circular or back and forth motion to ensure complete freezing of the sample/OCT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Typical freezing will take 10-12 seconds however, samples can stay longer in the </a:t>
            </a:r>
            <a:r>
              <a:rPr lang="en-US" dirty="0" err="1"/>
              <a:t>isopentane</a:t>
            </a:r>
            <a:r>
              <a:rPr lang="en-US" dirty="0"/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8844C-F457-4794-BC50-42EE52435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507408" y="4829316"/>
            <a:ext cx="2049669" cy="15372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542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After freezing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After the samples have been in the </a:t>
            </a:r>
            <a:r>
              <a:rPr lang="en-US" dirty="0" err="1"/>
              <a:t>isopentane</a:t>
            </a:r>
            <a:r>
              <a:rPr lang="en-US" dirty="0"/>
              <a:t> a minimum of 10-12 seconds, remove samples using forceps and shake off excess liquid </a:t>
            </a:r>
            <a:r>
              <a:rPr lang="en-US" dirty="0" err="1"/>
              <a:t>isopentane</a:t>
            </a:r>
            <a:r>
              <a:rPr lang="en-US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 gloves and wrap samples in aluminum foil for storing. If necessary, keep samples on dry ice before relocating samples into a -70 freezer.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For long term frozen sample storage use a cardboard box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Tissue can be submitted to Experimental Histopathology for frozen cutting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9260" y="6012611"/>
            <a:ext cx="2242868" cy="34505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6331789" y="6012611"/>
            <a:ext cx="1975449" cy="5348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n-US" sz="800" dirty="0"/>
          </a:p>
        </p:txBody>
      </p:sp>
      <p:pic>
        <p:nvPicPr>
          <p:cNvPr id="1027" name="Picture 3" descr="C:\Users\ebenitez\Desktop\Frozen Images\IMG_005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110" y="5160576"/>
            <a:ext cx="1596123" cy="119709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566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u="sng" dirty="0"/>
              <a:t>Ordering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Cryomold</a:t>
            </a:r>
            <a:r>
              <a:rPr lang="en-US" sz="2000" dirty="0"/>
              <a:t> Mold (4566 </a:t>
            </a:r>
            <a:r>
              <a:rPr lang="en-US" sz="2000" dirty="0" err="1"/>
              <a:t>Cryomold</a:t>
            </a:r>
            <a:r>
              <a:rPr lang="en-US" sz="2000" dirty="0"/>
              <a:t>® Intermediate 15 x 15 x 5 mm, 100/pcs)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4 </a:t>
            </a:r>
            <a:r>
              <a:rPr lang="en-US" sz="2000" dirty="0" err="1"/>
              <a:t>Fl</a:t>
            </a:r>
            <a:r>
              <a:rPr lang="en-US" sz="2000" dirty="0"/>
              <a:t> </a:t>
            </a:r>
            <a:r>
              <a:rPr lang="en-US" sz="2000" dirty="0" err="1"/>
              <a:t>oz.Tissue</a:t>
            </a:r>
            <a:r>
              <a:rPr lang="en-US" sz="2000" dirty="0"/>
              <a:t>-Plus OCT (</a:t>
            </a:r>
            <a:r>
              <a:rPr lang="en-US" sz="2000" dirty="0" err="1"/>
              <a:t>Sciegen</a:t>
            </a:r>
            <a:r>
              <a:rPr lang="en-US" sz="2000" dirty="0"/>
              <a:t>, 4583)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Thermo</a:t>
            </a:r>
            <a:r>
              <a:rPr lang="en-US" sz="2000" dirty="0"/>
              <a:t> Scientific </a:t>
            </a:r>
            <a:r>
              <a:rPr lang="en-US" sz="2000" dirty="0" err="1"/>
              <a:t>Thermo</a:t>
            </a:r>
            <a:r>
              <a:rPr lang="en-US" sz="2000" dirty="0"/>
              <a:t> Flask 2L (</a:t>
            </a:r>
            <a:r>
              <a:rPr lang="en-US" sz="2000" dirty="0" err="1"/>
              <a:t>Thermo</a:t>
            </a:r>
            <a:r>
              <a:rPr lang="en-US" sz="2000" dirty="0"/>
              <a:t> Fisher Scientific 2123)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Tempshield</a:t>
            </a:r>
            <a:r>
              <a:rPr lang="en-US" sz="2000" dirty="0"/>
              <a:t> </a:t>
            </a:r>
            <a:r>
              <a:rPr lang="en-US" sz="2000" dirty="0" err="1"/>
              <a:t>Cryo</a:t>
            </a:r>
            <a:r>
              <a:rPr lang="en-US" sz="2000" dirty="0"/>
              <a:t> Gloves (Fisher Scientific S98416B or S98416C)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/>
              <a:t>Isopentane</a:t>
            </a:r>
            <a:r>
              <a:rPr lang="en-US" sz="2000" dirty="0"/>
              <a:t>/2-Methylbutane  (Fisher Scientific AC126470010, 1 liter)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B6291-340C-47FD-982C-710E8C270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002" y="4056542"/>
            <a:ext cx="2676939" cy="20077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53C3DE-93DA-4DD1-A5F2-6B315B84B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880441" y="4307505"/>
            <a:ext cx="2007703" cy="15057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2938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BAED1B-23A6-4CB2-899A-EB3BF8C06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© Fred Hutchinson Cancer Research Center </a:t>
            </a: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B3B763-A2DE-4F65-B008-48C10375C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4ACA9D-2A64-9A4B-A9DD-0B8C6176E9AA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1872" y="629728"/>
            <a:ext cx="7720641" cy="14837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			</a:t>
            </a:r>
          </a:p>
          <a:p>
            <a:r>
              <a:rPr lang="en-US" sz="2200" dirty="0">
                <a:solidFill>
                  <a:schemeClr val="bg1"/>
                </a:solidFill>
              </a:rPr>
              <a:t>		</a:t>
            </a:r>
            <a:r>
              <a:rPr lang="en-US" sz="6000" dirty="0">
                <a:solidFill>
                  <a:schemeClr val="bg1"/>
                </a:solidFill>
              </a:rPr>
              <a:t>THANK YOU!</a:t>
            </a:r>
          </a:p>
          <a:p>
            <a:r>
              <a:rPr lang="en-US" sz="4000"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925" y="4114648"/>
            <a:ext cx="84538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Questions? </a:t>
            </a:r>
          </a:p>
          <a:p>
            <a:r>
              <a:rPr lang="en-US" dirty="0">
                <a:solidFill>
                  <a:schemeClr val="bg1"/>
                </a:solidFill>
              </a:rPr>
              <a:t>Savanh Chanthaphavong, Director of Experimental Histopathology rchantha@fredhutch.org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Elizabeth Benitez, Research </a:t>
            </a:r>
            <a:r>
              <a:rPr lang="en-US" dirty="0" err="1">
                <a:solidFill>
                  <a:schemeClr val="bg1"/>
                </a:solidFill>
              </a:rPr>
              <a:t>Histotechnician</a:t>
            </a:r>
            <a:r>
              <a:rPr lang="en-US" dirty="0">
                <a:solidFill>
                  <a:schemeClr val="bg1"/>
                </a:solidFill>
              </a:rPr>
              <a:t> III</a:t>
            </a:r>
          </a:p>
          <a:p>
            <a:r>
              <a:rPr lang="en-US" dirty="0">
                <a:solidFill>
                  <a:schemeClr val="bg1"/>
                </a:solidFill>
              </a:rPr>
              <a:t>ebenitez@fredhutch.org</a:t>
            </a:r>
          </a:p>
        </p:txBody>
      </p:sp>
    </p:spTree>
    <p:extLst>
      <p:ext uri="{BB962C8B-B14F-4D97-AF65-F5344CB8AC3E}">
        <p14:creationId xmlns:p14="http://schemas.microsoft.com/office/powerpoint/2010/main" val="2994297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>
          <a:defRPr sz="4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4A06317-87B0-104D-83DE-F64989F0363B}" vid="{B1BEDCF9-BE4F-3F46-973D-4E82EF3E20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Nintex conditional workflow start</Name>
    <Synchronization>Synchronous</Synchronization>
    <Type>10001</Type>
    <SequenceNumber>50000</SequenceNumber>
    <Assembly>Nintex.Workflow, Version=1.0.0.0, Culture=neutral, PublicKeyToken=913f6bae0ca5ae12</Assembly>
    <Class>Nintex.Workflow.ConditionalWorkflowStartReceiver</Class>
    <Data>635077015972938303</Data>
    <Filter/>
  </Receiver>
  <Receiver>
    <Name>Nintex conditional workflow start</Name>
    <Synchronization>Synchronous</Synchronization>
    <Type>10002</Type>
    <SequenceNumber>50000</SequenceNumber>
    <Assembly>Nintex.Workflow, Version=1.0.0.0, Culture=neutral, PublicKeyToken=913f6bae0ca5ae12</Assembly>
    <Class>Nintex.Workflow.ConditionalWorkflowStartReceiver</Class>
    <Data>635077015972938303</Data>
    <Filter/>
  </Receiver>
  <Receiver>
    <Name>Nintex conditional workflow start</Name>
    <Synchronization>Synchronous</Synchronization>
    <Type>2</Type>
    <SequenceNumber>50000</SequenceNumber>
    <Assembly>Nintex.Workflow, Version=1.0.0.0, Culture=neutral, PublicKeyToken=913f6bae0ca5ae12</Assembly>
    <Class>Nintex.Workflow.ConditionalWorkflowStartReceiver</Class>
    <Data>635077015972938303</Data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32BE39CAD0F940A7EE53373A780B8E" ma:contentTypeVersion="0" ma:contentTypeDescription="Create a new document." ma:contentTypeScope="" ma:versionID="6fcf4f7355ebde229e765fcea379c6e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8f8477934b843027f1e8ab2404422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6955DF-B1A6-4C83-B7EF-BCC548083E23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8D0333B-03E4-44BD-A6B7-29C5DE53AC92}">
  <ds:schemaRefs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BF50825-4DEB-4063-84A5-2BD2707D0A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AB470376-C593-47B6-8223-574A67BBAD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fh-template-powerpoint-070116</Template>
  <TotalTime>11921</TotalTime>
  <Words>811</Words>
  <Application>Microsoft Office PowerPoint</Application>
  <PresentationFormat>On-screen Show (4:3)</PresentationFormat>
  <Paragraphs>92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ヒラギノ角ゴ Pro W3</vt:lpstr>
      <vt:lpstr>Office Theme</vt:lpstr>
      <vt:lpstr>PowerPoint Presentation</vt:lpstr>
      <vt:lpstr> Why Isopentane Freezing?</vt:lpstr>
      <vt:lpstr>Materials</vt:lpstr>
      <vt:lpstr>Setting up for freezing</vt:lpstr>
      <vt:lpstr>Setting up for freezing</vt:lpstr>
      <vt:lpstr>Setting up solution for Thermo flask</vt:lpstr>
      <vt:lpstr>Setting up solution for dry ice method </vt:lpstr>
      <vt:lpstr>Prepping the tissue</vt:lpstr>
      <vt:lpstr>Embedding</vt:lpstr>
      <vt:lpstr>Isopentane Freezing</vt:lpstr>
      <vt:lpstr>After freezing</vt:lpstr>
      <vt:lpstr>Ordering information</vt:lpstr>
      <vt:lpstr>PowerPoint Presentation</vt:lpstr>
    </vt:vector>
  </TitlesOfParts>
  <Company>Fred Hutch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"Chanthaphavong, Savanh"</dc:creator>
  <cp:lastModifiedBy>Benitez-Martinez, Elizabeth</cp:lastModifiedBy>
  <cp:revision>317</cp:revision>
  <cp:lastPrinted>2017-11-06T18:52:22Z</cp:lastPrinted>
  <dcterms:created xsi:type="dcterms:W3CDTF">2016-11-04T22:23:48Z</dcterms:created>
  <dcterms:modified xsi:type="dcterms:W3CDTF">2018-08-02T20:16:51Z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0x0101005232BE39CAD0F940A7EE53373A780B8E</vt:lpwstr>
  </property>
</Properties>
</file>
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1"/>
  </p:notesMasterIdLst>
  <p:sldIdLst>
    <p:sldId id="256" r:id="rId2"/>
    <p:sldId id="257" r:id="rId3"/>
    <p:sldId id="377" r:id="rId4"/>
    <p:sldId id="381" r:id="rId5"/>
    <p:sldId id="378" r:id="rId6"/>
    <p:sldId id="379" r:id="rId7"/>
    <p:sldId id="258" r:id="rId8"/>
    <p:sldId id="266" r:id="rId9"/>
    <p:sldId id="382" r:id="rId10"/>
    <p:sldId id="284" r:id="rId11"/>
    <p:sldId id="267" r:id="rId12"/>
    <p:sldId id="372" r:id="rId13"/>
    <p:sldId id="373" r:id="rId14"/>
    <p:sldId id="374" r:id="rId15"/>
    <p:sldId id="375" r:id="rId16"/>
    <p:sldId id="376" r:id="rId17"/>
    <p:sldId id="383" r:id="rId18"/>
    <p:sldId id="380" r:id="rId19"/>
    <p:sldId id="384" r:id="rId20"/>
    <p:sldId id="386" r:id="rId21"/>
    <p:sldId id="387" r:id="rId22"/>
    <p:sldId id="388" r:id="rId23"/>
    <p:sldId id="391" r:id="rId24"/>
    <p:sldId id="389" r:id="rId25"/>
    <p:sldId id="390" r:id="rId26"/>
    <p:sldId id="265" r:id="rId27"/>
    <p:sldId id="264" r:id="rId28"/>
    <p:sldId id="371" r:id="rId29"/>
    <p:sldId id="285" r:id="rId30"/>
    <p:sldId id="286" r:id="rId31"/>
    <p:sldId id="268" r:id="rId32"/>
    <p:sldId id="273" r:id="rId33"/>
    <p:sldId id="262" r:id="rId34"/>
    <p:sldId id="318" r:id="rId35"/>
    <p:sldId id="321" r:id="rId36"/>
    <p:sldId id="315" r:id="rId37"/>
    <p:sldId id="260" r:id="rId38"/>
    <p:sldId id="261" r:id="rId39"/>
    <p:sldId id="263"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B5A"/>
    <a:srgbClr val="154067"/>
    <a:srgbClr val="42C2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6498" autoAdjust="0"/>
  </p:normalViewPr>
  <p:slideViewPr>
    <p:cSldViewPr snapToGrid="0" snapToObjects="1">
      <p:cViewPr varScale="1">
        <p:scale>
          <a:sx n="87" d="100"/>
          <a:sy n="87" d="100"/>
        </p:scale>
        <p:origin x="684" y="8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18179E-A89B-4073-ACC0-03D33B4DF54A}" type="datetimeFigureOut">
              <a:rPr lang="en-US" smtClean="0"/>
              <a:t>9/24/2019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63590C-A057-4BB8-9AE7-B8D1457EC8DD}" type="slidenum">
              <a:rPr lang="en-US" smtClean="0"/>
              <a:t>‹#›</a:t>
            </a:fld>
            <a:endParaRPr lang="en-US"/>
          </a:p>
        </p:txBody>
      </p:sp>
    </p:spTree>
    <p:extLst>
      <p:ext uri="{BB962C8B-B14F-4D97-AF65-F5344CB8AC3E}">
        <p14:creationId xmlns:p14="http://schemas.microsoft.com/office/powerpoint/2010/main" val="332886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a:t>
            </a:r>
            <a:r>
              <a:rPr lang="en-US" b="0" dirty="0"/>
              <a:t>The</a:t>
            </a:r>
            <a:r>
              <a:rPr lang="en-US" b="0" baseline="0" dirty="0"/>
              <a:t> e</a:t>
            </a:r>
            <a:r>
              <a:rPr lang="en-US" dirty="0"/>
              <a:t>stimated annual numbers of transplant recipients in the U.S. were compiled according to the number of first transplants registered with the CIBMTR. Estimates of how closely the numbers reported are representative of actual transplant activity vary according to the type of transplant and number of centers reporting data per year. Prior to 2007, all transplants, except unrelated donor allogeneic transplants facilitated by the NMDP, were reported voluntarily. It was estimated that the CIBMTR captured 90% of all unrelated donor transplants performed in the US, 60-90% of related donor allogeneic transplants and 65 to 75% of autologous transplants. These estimates were extrapolated from other databases that capture transplant center activity, accreditation or hospital discharges. After 2007, the Stem Cell Transplant Outcomes Database (SCTOD) was initiated which changed reporting requirements and data capture to an electronic format. The SCTOD requires that all allogeneic transplants performed in the US be registered with CIBMTR. The numbers of allogeneic transplants from</a:t>
            </a:r>
            <a:r>
              <a:rPr lang="en-US" baseline="0" dirty="0"/>
              <a:t> the US </a:t>
            </a:r>
            <a:r>
              <a:rPr lang="en-US" dirty="0"/>
              <a:t>in the CIBMTR are representative of the total US transplant activity. Data reporting of autologous transplants remains voluntary and the numbers in the CIBMTR database are estimated to be</a:t>
            </a:r>
            <a:r>
              <a:rPr lang="en-US" dirty="0">
                <a:highlight>
                  <a:srgbClr val="FFFF00"/>
                </a:highlight>
              </a:rPr>
              <a:t> 80% in</a:t>
            </a:r>
            <a:r>
              <a:rPr lang="en-US" baseline="0" dirty="0">
                <a:highlight>
                  <a:srgbClr val="FFFF00"/>
                </a:highlight>
              </a:rPr>
              <a:t> 2016</a:t>
            </a:r>
            <a:r>
              <a:rPr lang="en-US" dirty="0">
                <a:highlight>
                  <a:srgbClr val="FFFF00"/>
                </a:highlight>
              </a:rPr>
              <a:t>. </a:t>
            </a:r>
          </a:p>
          <a:p>
            <a:endParaRPr lang="en-US" dirty="0">
              <a:highlight>
                <a:srgbClr val="FFFF00"/>
              </a:highlight>
            </a:endParaRPr>
          </a:p>
          <a:p>
            <a:r>
              <a:rPr lang="en-US" dirty="0"/>
              <a:t>The estimated annual number of allogeneic transplants recipients surpasses</a:t>
            </a:r>
            <a:r>
              <a:rPr lang="en-US" baseline="0" dirty="0"/>
              <a:t> 8,000 a year in the US in 2013 with 8631 transplants estimated in 2017, up from 8556 in 2016. </a:t>
            </a:r>
            <a:r>
              <a:rPr lang="en-US" b="0" dirty="0"/>
              <a:t>The number of autologous transplants recipients in the US continues to increase</a:t>
            </a:r>
            <a:r>
              <a:rPr lang="en-US" b="0" baseline="0" dirty="0"/>
              <a:t>, most prominently since 2010</a:t>
            </a:r>
            <a:r>
              <a:rPr lang="en-US" b="0" dirty="0"/>
              <a:t>, mainly</a:t>
            </a:r>
            <a:r>
              <a:rPr lang="en-US" b="0" baseline="0" dirty="0"/>
              <a:t> from transplants performed for plasma cell and lymphoproliferative disorders extending to older patients</a:t>
            </a:r>
            <a:r>
              <a:rPr lang="en-US" b="0" dirty="0"/>
              <a:t>.  </a:t>
            </a:r>
          </a:p>
          <a:p>
            <a:endParaRPr lang="en-US" dirty="0"/>
          </a:p>
          <a:p>
            <a:endParaRPr lang="en-US" dirty="0"/>
          </a:p>
        </p:txBody>
      </p:sp>
      <p:sp>
        <p:nvSpPr>
          <p:cNvPr id="4" name="Slide Number Placeholder 3"/>
          <p:cNvSpPr>
            <a:spLocks noGrp="1"/>
          </p:cNvSpPr>
          <p:nvPr>
            <p:ph type="sldNum" sz="quarter" idx="5"/>
          </p:nvPr>
        </p:nvSpPr>
        <p:spPr/>
        <p:txBody>
          <a:bodyPr/>
          <a:lstStyle/>
          <a:p>
            <a:fld id="{F370F43C-F6BE-4048-A3A8-692912512C07}" type="slidenum">
              <a:rPr lang="en-US" smtClean="0"/>
              <a:t>5</a:t>
            </a:fld>
            <a:endParaRPr lang="en-US"/>
          </a:p>
        </p:txBody>
      </p:sp>
    </p:spTree>
    <p:extLst>
      <p:ext uri="{BB962C8B-B14F-4D97-AF65-F5344CB8AC3E}">
        <p14:creationId xmlns:p14="http://schemas.microsoft.com/office/powerpoint/2010/main" val="2673800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13</a:t>
            </a:r>
            <a:r>
              <a:rPr lang="en-US" dirty="0"/>
              <a:t>: The most common indications for HCT in the US in 2017</a:t>
            </a:r>
            <a:r>
              <a:rPr lang="en-US" baseline="0" dirty="0"/>
              <a:t> </a:t>
            </a:r>
            <a:r>
              <a:rPr lang="en-US" dirty="0"/>
              <a:t>were multiple myeloma and lymphomas (NHL and HD) accounting for 63% of all HCTs.</a:t>
            </a:r>
            <a:r>
              <a:rPr lang="en-US" baseline="0" dirty="0"/>
              <a:t> Acute leukemias (AML, ALL) and MDS (combined with MPNs) are the most common indications for allogeneic transplants accounting for 72% of allogeneic HCTs. MDS/MPN transplants have increased after the availability of Centers for Medicare and Medicaid Services (CMS)-approved Coverage with Evidence Development studies allowing allogeneic HCT in Medicare-insured patients for MDS (since 2010) and will continue to increase with the approval for myelofibrosis in 2017. </a:t>
            </a:r>
            <a:endParaRPr lang="en-US" dirty="0"/>
          </a:p>
          <a:p>
            <a:endParaRPr lang="en-US" dirty="0"/>
          </a:p>
        </p:txBody>
      </p:sp>
      <p:sp>
        <p:nvSpPr>
          <p:cNvPr id="4" name="Slide Number Placeholder 3"/>
          <p:cNvSpPr>
            <a:spLocks noGrp="1"/>
          </p:cNvSpPr>
          <p:nvPr>
            <p:ph type="sldNum" sz="quarter" idx="5"/>
          </p:nvPr>
        </p:nvSpPr>
        <p:spPr/>
        <p:txBody>
          <a:bodyPr/>
          <a:lstStyle/>
          <a:p>
            <a:fld id="{F370F43C-F6BE-4048-A3A8-692912512C07}" type="slidenum">
              <a:rPr lang="en-US" smtClean="0"/>
              <a:t>6</a:t>
            </a:fld>
            <a:endParaRPr lang="en-US"/>
          </a:p>
        </p:txBody>
      </p:sp>
    </p:spTree>
    <p:extLst>
      <p:ext uri="{BB962C8B-B14F-4D97-AF65-F5344CB8AC3E}">
        <p14:creationId xmlns:p14="http://schemas.microsoft.com/office/powerpoint/2010/main" val="259915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en-US" dirty="0"/>
              <a:t>The initiation and maintenance of acute graft-versus-host disease (GVHD) has been conceptualized into distinct phases with positive feedback loops that perpetuate the process. </a:t>
            </a:r>
          </a:p>
          <a:p>
            <a:pPr>
              <a:spcBef>
                <a:spcPct val="0"/>
              </a:spcBef>
            </a:pPr>
            <a:endParaRPr lang="en-US" dirty="0"/>
          </a:p>
          <a:p>
            <a:pPr>
              <a:spcBef>
                <a:spcPct val="0"/>
              </a:spcBef>
            </a:pPr>
            <a:r>
              <a:rPr lang="en-US" dirty="0"/>
              <a:t>The first phase is generally considered to be activation of antigen presenting cells (APCs).  In many models, the conditioning phase damages host tissue which respond by secretion of proinflammatory cytokines such as TNF-alpha, IL-1, and other “danger signals”.  These changes increase expression of costimulatory molecules on APCs, MHC antigens, and chemokine gradients that alert the residual host and donor immune cells. Note that damage to the GI tract is also particularly important as it allows for systemic translocation of immunostimulatory microbial products such as LPS that also activate APCs.  </a:t>
            </a:r>
          </a:p>
          <a:p>
            <a:pPr>
              <a:spcBef>
                <a:spcPct val="0"/>
              </a:spcBef>
            </a:pPr>
            <a:endParaRPr lang="en-US" dirty="0"/>
          </a:p>
          <a:p>
            <a:pPr>
              <a:spcBef>
                <a:spcPct val="0"/>
              </a:spcBef>
            </a:pPr>
            <a:r>
              <a:rPr lang="en-US" dirty="0"/>
              <a:t>Antigen presentation causes activation of alloreactive donor T-cells that recognized mismatched minor and major histocompatibility complexes constitutes the second phase.  Once donor T-cells are activated, the final effector phase occurs, resulting in destruction of the target tissue. The resulting tissue damage, if not treated, will further amplify the process to more severe stages of GVHD pathology, which are extremely difficult to control (Blazar). </a:t>
            </a:r>
          </a:p>
          <a:p>
            <a:endParaRPr lang="en-US" dirty="0"/>
          </a:p>
        </p:txBody>
      </p:sp>
      <p:sp>
        <p:nvSpPr>
          <p:cNvPr id="4" name="Slide Number Placeholder 3"/>
          <p:cNvSpPr>
            <a:spLocks noGrp="1"/>
          </p:cNvSpPr>
          <p:nvPr>
            <p:ph type="sldNum" sz="quarter" idx="5"/>
          </p:nvPr>
        </p:nvSpPr>
        <p:spPr/>
        <p:txBody>
          <a:bodyPr/>
          <a:lstStyle/>
          <a:p>
            <a:fld id="{CE63590C-A057-4BB8-9AE7-B8D1457EC8DD}" type="slidenum">
              <a:rPr lang="en-US" smtClean="0"/>
              <a:t>8</a:t>
            </a:fld>
            <a:endParaRPr lang="en-US"/>
          </a:p>
        </p:txBody>
      </p:sp>
    </p:spTree>
    <p:extLst>
      <p:ext uri="{BB962C8B-B14F-4D97-AF65-F5344CB8AC3E}">
        <p14:creationId xmlns:p14="http://schemas.microsoft.com/office/powerpoint/2010/main" val="821443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spcBef>
                <a:spcPts val="0"/>
              </a:spcBef>
              <a:spcAft>
                <a:spcPts val="0"/>
              </a:spcAft>
              <a:defRPr/>
            </a:pPr>
            <a:r>
              <a:rPr lang="en-US" dirty="0"/>
              <a:t>A very interesting observation was made over the past decade that shed light on what constitutes the initial “danger signal” that activates the APCs (Show study title).  It had been well known that dying cells in the absence of microbial factors release “danger signals” that stimulate APCs to mature, similar to pathogen activated microbial products. Co-injection of dying cells with an antigen into animals is known to have an adjuvant effect, stimulating T-cell responses to the antigen. However, only until recently had it been shown that uric acid is one of primary mediators of this danger signal. Shi </a:t>
            </a:r>
            <a:r>
              <a:rPr lang="en-US" i="1" dirty="0"/>
              <a:t>et al. </a:t>
            </a:r>
            <a:r>
              <a:rPr lang="en-US" dirty="0"/>
              <a:t>purified this endogenous adjuvant activity from the cytosol of damaged cells and showed it to be uric acid, an end product of purine catabolism.  Several important findings were made following this observation:</a:t>
            </a:r>
          </a:p>
          <a:p>
            <a:pPr fontAlgn="auto">
              <a:spcBef>
                <a:spcPts val="0"/>
              </a:spcBef>
              <a:spcAft>
                <a:spcPts val="0"/>
              </a:spcAft>
              <a:defRPr/>
            </a:pPr>
            <a:endParaRPr lang="en-US" dirty="0"/>
          </a:p>
          <a:p>
            <a:pPr marL="228600" indent="-228600" fontAlgn="auto">
              <a:spcBef>
                <a:spcPts val="0"/>
              </a:spcBef>
              <a:spcAft>
                <a:spcPts val="0"/>
              </a:spcAft>
              <a:buFontTx/>
              <a:buAutoNum type="arabicParenR"/>
              <a:defRPr/>
            </a:pPr>
            <a:r>
              <a:rPr lang="en-US" dirty="0"/>
              <a:t>Cytotoxic T-lymphocyte priming in mice is reduced by 90% in those treated with allopurinol and uricase.</a:t>
            </a:r>
          </a:p>
          <a:p>
            <a:pPr marL="228600" indent="-228600" fontAlgn="auto">
              <a:spcBef>
                <a:spcPts val="0"/>
              </a:spcBef>
              <a:spcAft>
                <a:spcPts val="0"/>
              </a:spcAft>
              <a:buFontTx/>
              <a:buAutoNum type="arabicParenR"/>
              <a:defRPr/>
            </a:pPr>
            <a:r>
              <a:rPr lang="en-US" dirty="0"/>
              <a:t>Addition of uric acid in vitro stimulated bone marrow derived DCs to express CD86 and CD80, the effect of which was shown to be stronger than LPS.</a:t>
            </a:r>
          </a:p>
          <a:p>
            <a:pPr marL="228600" indent="-228600" fontAlgn="auto">
              <a:spcBef>
                <a:spcPts val="0"/>
              </a:spcBef>
              <a:spcAft>
                <a:spcPts val="0"/>
              </a:spcAft>
              <a:buFontTx/>
              <a:buAutoNum type="arabicParenR"/>
              <a:defRPr/>
            </a:pPr>
            <a:r>
              <a:rPr lang="en-US" dirty="0"/>
              <a:t>In a later study, it was shown that tumor implants in mice undergoing immune rejection harbored increase uric acid levels, and that suppression of uric acid by allopurinol or uricase inhibited tumor immune rejection.</a:t>
            </a:r>
          </a:p>
          <a:p>
            <a:pPr marL="228600" indent="-228600" fontAlgn="auto">
              <a:spcBef>
                <a:spcPts val="0"/>
              </a:spcBef>
              <a:spcAft>
                <a:spcPts val="0"/>
              </a:spcAft>
              <a:buFontTx/>
              <a:buAutoNum type="arabicParenR"/>
              <a:defRPr/>
            </a:pPr>
            <a:r>
              <a:rPr lang="en-US" dirty="0"/>
              <a:t>Another study demonstrated that depletion of uric acid reduced proliferation of autoreactive T-cells in a transgenic diabetes model where beta-cells in the islets of Langerhans expressed a specific self-antigen.</a:t>
            </a:r>
          </a:p>
          <a:p>
            <a:pPr marL="228600" indent="-228600" fontAlgn="auto">
              <a:spcBef>
                <a:spcPts val="0"/>
              </a:spcBef>
              <a:spcAft>
                <a:spcPts val="0"/>
              </a:spcAft>
              <a:buFontTx/>
              <a:buAutoNum type="arabicParenR"/>
              <a:defRPr/>
            </a:pPr>
            <a:endParaRPr lang="en-US" dirty="0"/>
          </a:p>
          <a:p>
            <a:pPr fontAlgn="auto">
              <a:spcBef>
                <a:spcPts val="0"/>
              </a:spcBef>
              <a:spcAft>
                <a:spcPts val="0"/>
              </a:spcAft>
              <a:defRPr/>
            </a:pPr>
            <a:r>
              <a:rPr lang="en-US" dirty="0"/>
              <a:t>Combined with our current understanding of acute GVHD, this new insight into a central mechanism behind cell-death mediated inflammation and activation of APCs led us to hypothesize whether depletion of uric acid could inhibit to some degree the onset of acute GVHD.</a:t>
            </a:r>
          </a:p>
          <a:p>
            <a:endParaRPr lang="en-US" dirty="0"/>
          </a:p>
        </p:txBody>
      </p:sp>
      <p:sp>
        <p:nvSpPr>
          <p:cNvPr id="4" name="Slide Number Placeholder 3"/>
          <p:cNvSpPr>
            <a:spLocks noGrp="1"/>
          </p:cNvSpPr>
          <p:nvPr>
            <p:ph type="sldNum" sz="quarter" idx="5"/>
          </p:nvPr>
        </p:nvSpPr>
        <p:spPr/>
        <p:txBody>
          <a:bodyPr/>
          <a:lstStyle/>
          <a:p>
            <a:fld id="{CE63590C-A057-4BB8-9AE7-B8D1457EC8DD}" type="slidenum">
              <a:rPr lang="en-US" smtClean="0"/>
              <a:t>10</a:t>
            </a:fld>
            <a:endParaRPr lang="en-US"/>
          </a:p>
        </p:txBody>
      </p:sp>
    </p:spTree>
    <p:extLst>
      <p:ext uri="{BB962C8B-B14F-4D97-AF65-F5344CB8AC3E}">
        <p14:creationId xmlns:p14="http://schemas.microsoft.com/office/powerpoint/2010/main" val="524556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Nobel Prize in Physiology or Medicine 1990 was awarded jointly to Joseph E. Murray and E. </a:t>
            </a:r>
            <a:r>
              <a:rPr lang="en-US" sz="1200" b="0" i="0" kern="1200" dirty="0" err="1">
                <a:solidFill>
                  <a:schemeClr val="tx1"/>
                </a:solidFill>
                <a:effectLst/>
                <a:latin typeface="+mn-lt"/>
                <a:ea typeface="+mn-ea"/>
                <a:cs typeface="+mn-cs"/>
              </a:rPr>
              <a:t>Donnall</a:t>
            </a:r>
            <a:r>
              <a:rPr lang="en-US" sz="1200" b="0" i="0" kern="1200" dirty="0">
                <a:solidFill>
                  <a:schemeClr val="tx1"/>
                </a:solidFill>
                <a:effectLst/>
                <a:latin typeface="+mn-lt"/>
                <a:ea typeface="+mn-ea"/>
                <a:cs typeface="+mn-cs"/>
              </a:rPr>
              <a:t> Thomas "for their discoveries concerning organ and cell transplantation in the treatment of human disease.“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Joseph Murry – first kidney transplant in 1954</a:t>
            </a:r>
            <a:endParaRPr lang="en-US" dirty="0"/>
          </a:p>
        </p:txBody>
      </p:sp>
      <p:sp>
        <p:nvSpPr>
          <p:cNvPr id="4" name="Slide Number Placeholder 3"/>
          <p:cNvSpPr>
            <a:spLocks noGrp="1"/>
          </p:cNvSpPr>
          <p:nvPr>
            <p:ph type="sldNum" sz="quarter" idx="5"/>
          </p:nvPr>
        </p:nvSpPr>
        <p:spPr/>
        <p:txBody>
          <a:bodyPr/>
          <a:lstStyle/>
          <a:p>
            <a:fld id="{C20A3F2E-5CA9-4B02-9EFB-F27E67D008CB}" type="slidenum">
              <a:rPr lang="en-US" smtClean="0"/>
              <a:t>28</a:t>
            </a:fld>
            <a:endParaRPr lang="en-US"/>
          </a:p>
        </p:txBody>
      </p:sp>
    </p:spTree>
    <p:extLst>
      <p:ext uri="{BB962C8B-B14F-4D97-AF65-F5344CB8AC3E}">
        <p14:creationId xmlns:p14="http://schemas.microsoft.com/office/powerpoint/2010/main" val="916855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a:t>
            </a:r>
            <a:r>
              <a:rPr lang="en-US" b="0" dirty="0"/>
              <a:t>The</a:t>
            </a:r>
            <a:r>
              <a:rPr lang="en-US" b="0" baseline="0" dirty="0"/>
              <a:t> e</a:t>
            </a:r>
            <a:r>
              <a:rPr lang="en-US" dirty="0"/>
              <a:t>stimated annual numbers of transplant recipients in the U.S. were compiled according to the number of first transplants registered with the CIBMTR. Estimates of how closely the numbers reported are representative of actual transplant activity vary according to the type of transplant and number of centers reporting data per year. Prior to 2007, all transplants, except unrelated donor allogeneic transplants facilitated by the NMDP, were reported voluntarily. It was estimated that the CIBMTR captured 90% of all unrelated donor transplants performed in the US, 60-90% of related donor allogeneic transplants and 65 to 75% of autologous transplants. These estimates were extrapolated from other databases that capture transplant center activity, accreditation or hospital discharges. After 2007, the Stem Cell Transplant Outcomes Database (SCTOD) was initiated which changed reporting requirements and data capture to an electronic format. The SCTOD requires that all allogeneic transplants performed in the US be registered with CIBMTR. The numbers of allogeneic transplants from</a:t>
            </a:r>
            <a:r>
              <a:rPr lang="en-US" baseline="0" dirty="0"/>
              <a:t> the US </a:t>
            </a:r>
            <a:r>
              <a:rPr lang="en-US" dirty="0"/>
              <a:t>in the CIBMTR are representative of the total US transplant activity. Data reporting of autologous transplants remains voluntary and the numbers in the CIBMTR database are estimated to be</a:t>
            </a:r>
            <a:r>
              <a:rPr lang="en-US" dirty="0">
                <a:highlight>
                  <a:srgbClr val="FFFF00"/>
                </a:highlight>
              </a:rPr>
              <a:t> 80% in</a:t>
            </a:r>
            <a:r>
              <a:rPr lang="en-US" baseline="0" dirty="0">
                <a:highlight>
                  <a:srgbClr val="FFFF00"/>
                </a:highlight>
              </a:rPr>
              <a:t> 2016</a:t>
            </a:r>
            <a:r>
              <a:rPr lang="en-US" dirty="0">
                <a:highlight>
                  <a:srgbClr val="FFFF00"/>
                </a:highlight>
              </a:rPr>
              <a:t>. </a:t>
            </a:r>
          </a:p>
          <a:p>
            <a:endParaRPr lang="en-US" dirty="0">
              <a:highlight>
                <a:srgbClr val="FFFF00"/>
              </a:highlight>
            </a:endParaRPr>
          </a:p>
          <a:p>
            <a:r>
              <a:rPr lang="en-US" dirty="0"/>
              <a:t>The estimated annual number of allogeneic transplants recipients surpasses</a:t>
            </a:r>
            <a:r>
              <a:rPr lang="en-US" baseline="0" dirty="0"/>
              <a:t> 8,000 a year in the US in 2013 with 8631 transplants estimated in 2017, up from 8556 in 2016. </a:t>
            </a:r>
            <a:r>
              <a:rPr lang="en-US" b="0" dirty="0"/>
              <a:t>The number of autologous transplants recipients in the US continues to increase</a:t>
            </a:r>
            <a:r>
              <a:rPr lang="en-US" b="0" baseline="0" dirty="0"/>
              <a:t>, most prominently since 2010</a:t>
            </a:r>
            <a:r>
              <a:rPr lang="en-US" b="0" dirty="0"/>
              <a:t>, mainly</a:t>
            </a:r>
            <a:r>
              <a:rPr lang="en-US" b="0" baseline="0" dirty="0"/>
              <a:t> from transplants performed for plasma cell and lymphoproliferative disorders extending to older patients</a:t>
            </a:r>
            <a:r>
              <a:rPr lang="en-US" b="0" dirty="0"/>
              <a:t>.  </a:t>
            </a:r>
          </a:p>
          <a:p>
            <a:endParaRPr lang="en-US" dirty="0"/>
          </a:p>
          <a:p>
            <a:endParaRPr lang="en-US" dirty="0"/>
          </a:p>
        </p:txBody>
      </p:sp>
      <p:sp>
        <p:nvSpPr>
          <p:cNvPr id="4" name="Slide Number Placeholder 3"/>
          <p:cNvSpPr>
            <a:spLocks noGrp="1"/>
          </p:cNvSpPr>
          <p:nvPr>
            <p:ph type="sldNum" sz="quarter" idx="5"/>
          </p:nvPr>
        </p:nvSpPr>
        <p:spPr/>
        <p:txBody>
          <a:bodyPr/>
          <a:lstStyle/>
          <a:p>
            <a:fld id="{F370F43C-F6BE-4048-A3A8-692912512C07}" type="slidenum">
              <a:rPr lang="en-US" smtClean="0"/>
              <a:t>29</a:t>
            </a:fld>
            <a:endParaRPr lang="en-US"/>
          </a:p>
        </p:txBody>
      </p:sp>
    </p:spTree>
    <p:extLst>
      <p:ext uri="{BB962C8B-B14F-4D97-AF65-F5344CB8AC3E}">
        <p14:creationId xmlns:p14="http://schemas.microsoft.com/office/powerpoint/2010/main" val="3360097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4:</a:t>
            </a:r>
            <a:r>
              <a:rPr lang="en-US" b="1" baseline="0" dirty="0"/>
              <a:t> </a:t>
            </a:r>
            <a:r>
              <a:rPr lang="en-US" b="0" baseline="0" dirty="0"/>
              <a:t>Upon further stratifying the number of allogeneic transplants recipients in the US by donor type, recipients of unrelated donor transplants represent the largest group. The number of unrelated donor (URD) transplants has </a:t>
            </a:r>
            <a:r>
              <a:rPr lang="en-US" dirty="0"/>
              <a:t>surpassed the number of allogeneic transplants from related donors after 2006 and the</a:t>
            </a:r>
            <a:r>
              <a:rPr lang="en-US" baseline="0" dirty="0"/>
              <a:t> gap between these two types of approaches peaked in 2012. </a:t>
            </a:r>
            <a:r>
              <a:rPr lang="en-US" b="0" baseline="0" dirty="0">
                <a:solidFill>
                  <a:srgbClr val="FF0000"/>
                </a:solidFill>
              </a:rPr>
              <a:t>After 2012, the numbers of URD and HLA-identical siblings transplants has shown a downward trend in absolute numbers.</a:t>
            </a:r>
            <a:r>
              <a:rPr lang="en-US" b="0" dirty="0"/>
              <a:t> </a:t>
            </a:r>
            <a:r>
              <a:rPr lang="en-US" dirty="0"/>
              <a:t>T</a:t>
            </a:r>
            <a:r>
              <a:rPr lang="en-US" baseline="0" dirty="0"/>
              <a:t>ransplants performed with alternative donors is increasing. From 2003 to 2011, there were a steady increase in the numbers of transplants using umbilical cord blood as a result of several published studies demonstrating its benefit in both children and adults. From 2012 onward, there was an increase in the numbers of transplants from ‘Other Relatives’, likely due to the use of haploidentical donors with post-transplant cyclophosphamide strategy. In 2014, the numbers of transplants using ‘Other Relatives’ surpassed the total numbers of umbilical cord transplant performed in the US, accounting for 11% of all allogeneic transplants performed in the US. </a:t>
            </a:r>
            <a:r>
              <a:rPr lang="en-US" b="0" baseline="0" dirty="0"/>
              <a:t>In 2017, this is the only group of donor type that is increasing with all other donor types showing decline or stability in use.   </a:t>
            </a:r>
            <a:endParaRPr lang="en-US" b="0" dirty="0"/>
          </a:p>
          <a:p>
            <a:endParaRPr lang="en-US" dirty="0"/>
          </a:p>
        </p:txBody>
      </p:sp>
      <p:sp>
        <p:nvSpPr>
          <p:cNvPr id="4" name="Slide Number Placeholder 3"/>
          <p:cNvSpPr>
            <a:spLocks noGrp="1"/>
          </p:cNvSpPr>
          <p:nvPr>
            <p:ph type="sldNum" sz="quarter" idx="5"/>
          </p:nvPr>
        </p:nvSpPr>
        <p:spPr/>
        <p:txBody>
          <a:bodyPr/>
          <a:lstStyle/>
          <a:p>
            <a:fld id="{F370F43C-F6BE-4048-A3A8-692912512C07}" type="slidenum">
              <a:rPr lang="en-US" smtClean="0"/>
              <a:t>30</a:t>
            </a:fld>
            <a:endParaRPr lang="en-US"/>
          </a:p>
        </p:txBody>
      </p:sp>
    </p:spTree>
    <p:extLst>
      <p:ext uri="{BB962C8B-B14F-4D97-AF65-F5344CB8AC3E}">
        <p14:creationId xmlns:p14="http://schemas.microsoft.com/office/powerpoint/2010/main" val="2855498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13</a:t>
            </a:r>
            <a:r>
              <a:rPr lang="en-US" dirty="0"/>
              <a:t>: The most common indications for HCT in the US in 2017</a:t>
            </a:r>
            <a:r>
              <a:rPr lang="en-US" baseline="0" dirty="0"/>
              <a:t> </a:t>
            </a:r>
            <a:r>
              <a:rPr lang="en-US" dirty="0"/>
              <a:t>were multiple myeloma and lymphomas (NHL and HD) accounting for 63% of all HCTs.</a:t>
            </a:r>
            <a:r>
              <a:rPr lang="en-US" baseline="0" dirty="0"/>
              <a:t> Acute leukemias (AML, ALL) and MDS (combined with MPNs) are the most common indications for allogeneic transplants accounting for 72% of allogeneic HCTs. MDS/MPN transplants have increased after the availability of Centers for Medicare and Medicaid Services (CMS)-approved Coverage with Evidence Development studies allowing allogeneic HCT in Medicare-insured patients for MDS (since 2010) and will continue to increase with the approval for myelofibrosis in 2017. </a:t>
            </a:r>
            <a:endParaRPr lang="en-US" dirty="0"/>
          </a:p>
          <a:p>
            <a:endParaRPr lang="en-US" dirty="0"/>
          </a:p>
        </p:txBody>
      </p:sp>
      <p:sp>
        <p:nvSpPr>
          <p:cNvPr id="4" name="Slide Number Placeholder 3"/>
          <p:cNvSpPr>
            <a:spLocks noGrp="1"/>
          </p:cNvSpPr>
          <p:nvPr>
            <p:ph type="sldNum" sz="quarter" idx="5"/>
          </p:nvPr>
        </p:nvSpPr>
        <p:spPr/>
        <p:txBody>
          <a:bodyPr/>
          <a:lstStyle/>
          <a:p>
            <a:fld id="{F370F43C-F6BE-4048-A3A8-692912512C07}" type="slidenum">
              <a:rPr lang="en-US" smtClean="0"/>
              <a:t>31</a:t>
            </a:fld>
            <a:endParaRPr lang="en-US"/>
          </a:p>
        </p:txBody>
      </p:sp>
    </p:spTree>
    <p:extLst>
      <p:ext uri="{BB962C8B-B14F-4D97-AF65-F5344CB8AC3E}">
        <p14:creationId xmlns:p14="http://schemas.microsoft.com/office/powerpoint/2010/main" val="2443048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p:cNvSpPr>
          <p:nvPr>
            <p:ph type="sldImg"/>
          </p:nvPr>
        </p:nvSpPr>
        <p:spPr bwMode="auto">
          <a:noFill/>
          <a:ln>
            <a:solidFill>
              <a:srgbClr val="000000"/>
            </a:solidFill>
            <a:miter lim="800000"/>
            <a:headEnd/>
            <a:tailEnd/>
          </a:ln>
        </p:spPr>
      </p:sp>
      <p:sp>
        <p:nvSpPr>
          <p:cNvPr id="2560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Add conditioning</a:t>
            </a:r>
            <a:r>
              <a:rPr lang="en-US" baseline="0" dirty="0"/>
              <a:t> regimens.</a:t>
            </a:r>
            <a:endParaRPr lang="en-US" dirty="0"/>
          </a:p>
        </p:txBody>
      </p:sp>
      <p:sp>
        <p:nvSpPr>
          <p:cNvPr id="2560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CD05CA4-2752-4B38-9E2F-A4F2305AFDCF}" type="slidenum">
              <a:rPr lang="en-US"/>
              <a:pPr fontAlgn="base">
                <a:spcBef>
                  <a:spcPct val="0"/>
                </a:spcBef>
                <a:spcAft>
                  <a:spcPct val="0"/>
                </a:spcAft>
              </a:pPr>
              <a:t>33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a:t>
            </a:r>
            <a:r>
              <a:rPr lang="en-US" baseline="0" dirty="0"/>
              <a:t> type of adverse events was </a:t>
            </a:r>
            <a:r>
              <a:rPr lang="en-US" baseline="0" dirty="0" err="1"/>
              <a:t>mucositis</a:t>
            </a:r>
            <a:r>
              <a:rPr lang="en-US" baseline="0" dirty="0"/>
              <a:t>, nausea, diarrhea, and vomiting, which were no different compared to control.  The only grade III or IV adverse event attributable to rasburicase was 1 case of intravascular hemolysis in G6PD patient.  One case of thrombocytopenia thought secondary to antibiotics (grade III), and one case of tongue swelling that resolved with no interference in oral intake (grade II).</a:t>
            </a:r>
            <a:endParaRPr lang="en-US" dirty="0"/>
          </a:p>
        </p:txBody>
      </p:sp>
      <p:sp>
        <p:nvSpPr>
          <p:cNvPr id="4" name="Slide Number Placeholder 3"/>
          <p:cNvSpPr>
            <a:spLocks noGrp="1"/>
          </p:cNvSpPr>
          <p:nvPr>
            <p:ph type="sldNum" sz="quarter" idx="10"/>
          </p:nvPr>
        </p:nvSpPr>
        <p:spPr/>
        <p:txBody>
          <a:bodyPr/>
          <a:lstStyle/>
          <a:p>
            <a:pPr>
              <a:defRPr/>
            </a:pPr>
            <a:fld id="{A587AE6D-C748-4D13-ACE7-64E9DE91A67B}" type="slidenum">
              <a:rPr lang="en-US" smtClean="0"/>
              <a:pPr>
                <a:defRPr/>
              </a:pPr>
              <a:t>34</a:t>
            </a:fld>
            <a:endParaRPr lang="en-US"/>
          </a:p>
        </p:txBody>
      </p:sp>
    </p:spTree>
    <p:extLst>
      <p:ext uri="{BB962C8B-B14F-4D97-AF65-F5344CB8AC3E}">
        <p14:creationId xmlns:p14="http://schemas.microsoft.com/office/powerpoint/2010/main" val="308009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 difference in incidence of</a:t>
            </a:r>
            <a:r>
              <a:rPr lang="en-US" baseline="0" dirty="0"/>
              <a:t> </a:t>
            </a:r>
            <a:r>
              <a:rPr lang="en-US" baseline="0" dirty="0" err="1"/>
              <a:t>cGVHD</a:t>
            </a:r>
            <a:endParaRPr lang="en-US" baseline="0" dirty="0"/>
          </a:p>
          <a:p>
            <a:r>
              <a:rPr lang="en-US" dirty="0"/>
              <a:t>- No difference in severity</a:t>
            </a:r>
            <a:r>
              <a:rPr lang="en-US" baseline="0" dirty="0"/>
              <a:t> of </a:t>
            </a:r>
            <a:r>
              <a:rPr lang="en-US" baseline="0" dirty="0" err="1"/>
              <a:t>cGVHD</a:t>
            </a:r>
            <a:r>
              <a:rPr lang="en-US" baseline="0" dirty="0"/>
              <a:t> but trend towards milder disease in rasburicase group.</a:t>
            </a:r>
            <a:endParaRPr lang="en-US" dirty="0"/>
          </a:p>
        </p:txBody>
      </p:sp>
      <p:sp>
        <p:nvSpPr>
          <p:cNvPr id="4" name="Slide Number Placeholder 3"/>
          <p:cNvSpPr>
            <a:spLocks noGrp="1"/>
          </p:cNvSpPr>
          <p:nvPr>
            <p:ph type="sldNum" sz="quarter" idx="10"/>
          </p:nvPr>
        </p:nvSpPr>
        <p:spPr/>
        <p:txBody>
          <a:bodyPr/>
          <a:lstStyle/>
          <a:p>
            <a:pPr>
              <a:defRPr/>
            </a:pPr>
            <a:fld id="{A587AE6D-C748-4D13-ACE7-64E9DE91A67B}" type="slidenum">
              <a:rPr lang="en-US" smtClean="0"/>
              <a:pPr>
                <a:defRPr/>
              </a:pPr>
              <a:t>35</a:t>
            </a:fld>
            <a:endParaRPr lang="en-US"/>
          </a:p>
        </p:txBody>
      </p:sp>
    </p:spTree>
    <p:extLst>
      <p:ext uri="{BB962C8B-B14F-4D97-AF65-F5344CB8AC3E}">
        <p14:creationId xmlns:p14="http://schemas.microsoft.com/office/powerpoint/2010/main" val="470826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note, our study was</a:t>
            </a:r>
            <a:r>
              <a:rPr lang="en-US" baseline="0" dirty="0"/>
              <a:t> not powered to detect differences in overall survival</a:t>
            </a:r>
            <a:endParaRPr lang="en-US" dirty="0"/>
          </a:p>
          <a:p>
            <a:endParaRPr lang="en-US" dirty="0"/>
          </a:p>
          <a:p>
            <a:r>
              <a:rPr lang="en-US" dirty="0"/>
              <a:t>9 deaths in control group</a:t>
            </a:r>
          </a:p>
          <a:p>
            <a:pPr lvl="1"/>
            <a:r>
              <a:rPr lang="en-US" dirty="0"/>
              <a:t>7 cases of relapsed disease</a:t>
            </a:r>
          </a:p>
          <a:p>
            <a:pPr lvl="1"/>
            <a:r>
              <a:rPr lang="en-US" dirty="0"/>
              <a:t>1 case of infection associated with increased </a:t>
            </a:r>
            <a:r>
              <a:rPr lang="en-US" dirty="0" err="1"/>
              <a:t>immunosuppresion</a:t>
            </a:r>
            <a:r>
              <a:rPr lang="en-US" dirty="0"/>
              <a:t> from </a:t>
            </a:r>
            <a:r>
              <a:rPr lang="en-US" dirty="0" err="1"/>
              <a:t>aGVHD</a:t>
            </a:r>
            <a:r>
              <a:rPr lang="en-US" dirty="0"/>
              <a:t> at day 177</a:t>
            </a:r>
          </a:p>
          <a:p>
            <a:pPr lvl="1"/>
            <a:r>
              <a:rPr lang="en-US" dirty="0"/>
              <a:t>1 case of respiratory failure from fibrotic lung disease / pneumonia at day 60.</a:t>
            </a:r>
          </a:p>
          <a:p>
            <a:r>
              <a:rPr lang="en-US" dirty="0"/>
              <a:t>9 deaths in rasburicase group</a:t>
            </a:r>
          </a:p>
          <a:p>
            <a:pPr lvl="1"/>
            <a:r>
              <a:rPr lang="en-US" dirty="0"/>
              <a:t>7 cases of relapsed disease</a:t>
            </a:r>
          </a:p>
          <a:p>
            <a:pPr lvl="1"/>
            <a:r>
              <a:rPr lang="en-US" dirty="0"/>
              <a:t>1 case of H1N1 flu at day 510</a:t>
            </a:r>
          </a:p>
          <a:p>
            <a:pPr lvl="1"/>
            <a:r>
              <a:rPr lang="en-US" dirty="0"/>
              <a:t>1 case of </a:t>
            </a:r>
            <a:r>
              <a:rPr lang="en-US" dirty="0" err="1"/>
              <a:t>metapneumovirus</a:t>
            </a:r>
            <a:r>
              <a:rPr lang="en-US" dirty="0"/>
              <a:t> pneumonia at day 55</a:t>
            </a:r>
          </a:p>
          <a:p>
            <a:endParaRPr lang="en-US" dirty="0"/>
          </a:p>
        </p:txBody>
      </p:sp>
      <p:sp>
        <p:nvSpPr>
          <p:cNvPr id="4" name="Slide Number Placeholder 3"/>
          <p:cNvSpPr>
            <a:spLocks noGrp="1"/>
          </p:cNvSpPr>
          <p:nvPr>
            <p:ph type="sldNum" sz="quarter" idx="10"/>
          </p:nvPr>
        </p:nvSpPr>
        <p:spPr/>
        <p:txBody>
          <a:bodyPr/>
          <a:lstStyle/>
          <a:p>
            <a:pPr>
              <a:defRPr/>
            </a:pPr>
            <a:fld id="{A587AE6D-C748-4D13-ACE7-64E9DE91A67B}" type="slidenum">
              <a:rPr lang="en-US" smtClean="0"/>
              <a:pPr>
                <a:defRPr/>
              </a:pPr>
              <a:t>36</a:t>
            </a:fld>
            <a:endParaRPr lang="en-US"/>
          </a:p>
        </p:txBody>
      </p:sp>
    </p:spTree>
    <p:extLst>
      <p:ext uri="{BB962C8B-B14F-4D97-AF65-F5344CB8AC3E}">
        <p14:creationId xmlns:p14="http://schemas.microsoft.com/office/powerpoint/2010/main" val="4708266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5" descr="FredHutch_v_tag_4col_rgb.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19300" y="1277938"/>
            <a:ext cx="5113338" cy="411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883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16474"/>
          </a:xfrm>
          <a:prstGeom prst="rect">
            <a:avLst/>
          </a:prstGeom>
        </p:spPr>
        <p:txBody>
          <a:bodyPr anchor="ctr">
            <a:normAutofit/>
          </a:bodyPr>
          <a:lstStyle>
            <a:lvl1pPr>
              <a:defRPr sz="4000" b="1">
                <a:solidFill>
                  <a:srgbClr val="154067"/>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628650" y="1404000"/>
            <a:ext cx="7886700" cy="4772963"/>
          </a:xfrm>
          <a:prstGeom prst="rect">
            <a:avLst/>
          </a:prstGeom>
        </p:spPr>
        <p:txBody>
          <a:bodyPr/>
          <a:lstStyle>
            <a:lvl1pPr marL="0" indent="0">
              <a:buNone/>
              <a:defRPr>
                <a:solidFill>
                  <a:srgbClr val="154067"/>
                </a:solidFill>
              </a:defRPr>
            </a:lvl1pPr>
            <a:lvl2pPr>
              <a:buClr>
                <a:srgbClr val="99CB5A"/>
              </a:buClr>
              <a:defRPr>
                <a:solidFill>
                  <a:srgbClr val="154067"/>
                </a:solidFill>
              </a:defRPr>
            </a:lvl2pPr>
            <a:lvl3pPr>
              <a:buClr>
                <a:srgbClr val="99CB5A"/>
              </a:buClr>
              <a:defRPr>
                <a:solidFill>
                  <a:srgbClr val="154067"/>
                </a:solidFill>
              </a:defRPr>
            </a:lvl3pPr>
            <a:lvl4pPr>
              <a:buClr>
                <a:srgbClr val="99CB5A"/>
              </a:buClr>
              <a:defRPr>
                <a:solidFill>
                  <a:srgbClr val="154067"/>
                </a:solidFill>
              </a:defRPr>
            </a:lvl4pPr>
            <a:lvl5pPr>
              <a:buClr>
                <a:srgbClr val="99CB5A"/>
              </a:buClr>
              <a:defRPr>
                <a:solidFill>
                  <a:srgbClr val="154067"/>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1"/>
          <p:cNvSpPr>
            <a:spLocks noGrp="1" noChangeArrowheads="1"/>
          </p:cNvSpPr>
          <p:nvPr>
            <p:ph type="ftr" sz="quarter" idx="3"/>
          </p:nvPr>
        </p:nvSpPr>
        <p:spPr bwMode="auto">
          <a:xfrm>
            <a:off x="6081588" y="6492875"/>
            <a:ext cx="2557462"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lvl1pPr algn="r">
              <a:defRPr sz="600">
                <a:latin typeface="Arial" pitchFamily="34" charset="0"/>
              </a:defRPr>
            </a:lvl1pPr>
          </a:lstStyle>
          <a:p>
            <a:pPr>
              <a:defRPr/>
            </a:pPr>
            <a:r>
              <a:rPr lang="en-US" altLang="en-US" dirty="0"/>
              <a:t>© Fred Hutchinson Cancer Research Center </a:t>
            </a:r>
          </a:p>
        </p:txBody>
      </p:sp>
      <p:sp>
        <p:nvSpPr>
          <p:cNvPr id="8" name="Rectangle 12"/>
          <p:cNvSpPr>
            <a:spLocks noGrp="1" noChangeArrowheads="1"/>
          </p:cNvSpPr>
          <p:nvPr>
            <p:ph type="sldNum" sz="quarter" idx="4"/>
          </p:nvPr>
        </p:nvSpPr>
        <p:spPr bwMode="auto">
          <a:xfrm>
            <a:off x="8588250" y="6492875"/>
            <a:ext cx="3746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600">
                <a:latin typeface="Arial" charset="0"/>
              </a:defRPr>
            </a:lvl1pPr>
          </a:lstStyle>
          <a:p>
            <a:fld id="{224ACA9D-2A64-9A4B-A9DD-0B8C6176E9AA}" type="slidenum">
              <a:rPr lang="en-US" altLang="en-US"/>
              <a:pPr/>
              <a:t>‹#›</a:t>
            </a:fld>
            <a:endParaRPr lang="en-US" altLang="en-US"/>
          </a:p>
        </p:txBody>
      </p:sp>
      <p:pic>
        <p:nvPicPr>
          <p:cNvPr id="9" name="Picture 8" descr="fh-hor-ny-no-cs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8456" y="6464300"/>
            <a:ext cx="96678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4055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5" descr="FH-hor-W.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4663" y="5954713"/>
            <a:ext cx="207486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7200" y="578533"/>
            <a:ext cx="8229600" cy="1325563"/>
          </a:xfrm>
          <a:prstGeom prst="rect">
            <a:avLst/>
          </a:prstGeom>
        </p:spPr>
        <p:txBody>
          <a:bodyPr>
            <a:noAutofit/>
          </a:bodyPr>
          <a:lstStyle>
            <a:lvl1pPr>
              <a:defRPr sz="4400" b="1">
                <a:solidFill>
                  <a:schemeClr val="bg1"/>
                </a:solidFill>
                <a:latin typeface="+mn-lt"/>
              </a:defRPr>
            </a:lvl1pPr>
          </a:lstStyle>
          <a:p>
            <a:r>
              <a:rPr lang="en-US"/>
              <a:t>Click to edit Master title style</a:t>
            </a:r>
            <a:endParaRPr lang="en-US" dirty="0"/>
          </a:p>
        </p:txBody>
      </p:sp>
      <p:sp>
        <p:nvSpPr>
          <p:cNvPr id="7" name="Content Placeholder 2"/>
          <p:cNvSpPr>
            <a:spLocks noGrp="1"/>
          </p:cNvSpPr>
          <p:nvPr>
            <p:ph idx="1"/>
          </p:nvPr>
        </p:nvSpPr>
        <p:spPr>
          <a:xfrm>
            <a:off x="457200" y="2039032"/>
            <a:ext cx="8229600" cy="3346568"/>
          </a:xfrm>
          <a:prstGeom prst="rect">
            <a:avLst/>
          </a:prstGeo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20949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18243D"/>
        </a:solidFill>
        <a:effectLst/>
      </p:bgPr>
    </p:bg>
    <p:spTree>
      <p:nvGrpSpPr>
        <p:cNvPr id="1" name=""/>
        <p:cNvGrpSpPr/>
        <p:nvPr/>
      </p:nvGrpSpPr>
      <p:grpSpPr>
        <a:xfrm>
          <a:off x="0" y="0"/>
          <a:ext cx="0" cy="0"/>
          <a:chOff x="0" y="0"/>
          <a:chExt cx="0" cy="0"/>
        </a:xfrm>
      </p:grpSpPr>
      <p:sp>
        <p:nvSpPr>
          <p:cNvPr id="5" name="TextBox 4"/>
          <p:cNvSpPr txBox="1"/>
          <p:nvPr userDrawn="1"/>
        </p:nvSpPr>
        <p:spPr>
          <a:xfrm>
            <a:off x="1699200" y="2383200"/>
            <a:ext cx="184731" cy="369332"/>
          </a:xfrm>
          <a:prstGeom prst="rect">
            <a:avLst/>
          </a:prstGeom>
          <a:noFill/>
        </p:spPr>
        <p:txBody>
          <a:bodyPr wrap="none" rtlCol="0">
            <a:spAutoFit/>
          </a:bodyPr>
          <a:lstStyle/>
          <a:p>
            <a:endParaRPr lang="en-US" dirty="0"/>
          </a:p>
        </p:txBody>
      </p:sp>
      <p:sp>
        <p:nvSpPr>
          <p:cNvPr id="6" name="Title 11"/>
          <p:cNvSpPr>
            <a:spLocks noGrp="1"/>
          </p:cNvSpPr>
          <p:nvPr>
            <p:ph type="title" hasCustomPrompt="1"/>
          </p:nvPr>
        </p:nvSpPr>
        <p:spPr>
          <a:xfrm>
            <a:off x="458788" y="2995200"/>
            <a:ext cx="8224837" cy="864426"/>
          </a:xfrm>
          <a:prstGeom prst="rect">
            <a:avLst/>
          </a:prstGeom>
        </p:spPr>
        <p:txBody>
          <a:bodyPr/>
          <a:lstStyle>
            <a:lvl1pPr>
              <a:defRPr sz="6000" baseline="0">
                <a:solidFill>
                  <a:schemeClr val="bg1"/>
                </a:solidFill>
              </a:defRPr>
            </a:lvl1pPr>
          </a:lstStyle>
          <a:p>
            <a:r>
              <a:rPr lang="en-US" dirty="0"/>
              <a:t>Edit Section Break</a:t>
            </a:r>
          </a:p>
        </p:txBody>
      </p:sp>
      <p:sp>
        <p:nvSpPr>
          <p:cNvPr id="7" name="Rectangle 11"/>
          <p:cNvSpPr>
            <a:spLocks noGrp="1" noChangeArrowheads="1"/>
          </p:cNvSpPr>
          <p:nvPr>
            <p:ph type="ftr" sz="quarter" idx="3"/>
          </p:nvPr>
        </p:nvSpPr>
        <p:spPr bwMode="auto">
          <a:xfrm>
            <a:off x="6081588" y="6492875"/>
            <a:ext cx="2557462"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lvl1pPr algn="r">
              <a:defRPr sz="600">
                <a:solidFill>
                  <a:srgbClr val="FFFFFF"/>
                </a:solidFill>
                <a:latin typeface="Arial" pitchFamily="34" charset="0"/>
              </a:defRPr>
            </a:lvl1pPr>
          </a:lstStyle>
          <a:p>
            <a:pPr>
              <a:defRPr/>
            </a:pPr>
            <a:r>
              <a:rPr lang="en-US" altLang="en-US"/>
              <a:t>© Fred Hutchinson Cancer Research Center </a:t>
            </a:r>
          </a:p>
        </p:txBody>
      </p:sp>
      <p:sp>
        <p:nvSpPr>
          <p:cNvPr id="8" name="Rectangle 12"/>
          <p:cNvSpPr>
            <a:spLocks noGrp="1" noChangeArrowheads="1"/>
          </p:cNvSpPr>
          <p:nvPr>
            <p:ph type="sldNum" sz="quarter" idx="4"/>
          </p:nvPr>
        </p:nvSpPr>
        <p:spPr bwMode="auto">
          <a:xfrm>
            <a:off x="8588250" y="6492875"/>
            <a:ext cx="3746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600">
                <a:solidFill>
                  <a:srgbClr val="FFFFFF"/>
                </a:solidFill>
                <a:latin typeface="Arial" charset="0"/>
              </a:defRPr>
            </a:lvl1pPr>
          </a:lstStyle>
          <a:p>
            <a:fld id="{E789DC04-A3C6-BA4E-A81A-454E211483E7}" type="slidenum">
              <a:rPr lang="en-US" altLang="en-US"/>
              <a:pPr/>
              <a:t>‹#›</a:t>
            </a:fld>
            <a:endParaRPr lang="en-US" altLang="en-US"/>
          </a:p>
        </p:txBody>
      </p:sp>
      <p:pic>
        <p:nvPicPr>
          <p:cNvPr id="9" name="Picture 2" descr="fh-hor-wh-no-cas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8456" y="6470650"/>
            <a:ext cx="9636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115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rgbClr val="FFFFFF"/>
        </a:solidFill>
        <a:effectLst/>
      </p:bgPr>
    </p:bg>
    <p:spTree>
      <p:nvGrpSpPr>
        <p:cNvPr id="1" name=""/>
        <p:cNvGrpSpPr/>
        <p:nvPr/>
      </p:nvGrpSpPr>
      <p:grpSpPr>
        <a:xfrm>
          <a:off x="0" y="0"/>
          <a:ext cx="0" cy="0"/>
          <a:chOff x="0" y="0"/>
          <a:chExt cx="0" cy="0"/>
        </a:xfrm>
      </p:grpSpPr>
      <p:pic>
        <p:nvPicPr>
          <p:cNvPr id="5" name="Picture 4" descr="fh-hor-ny-no-cs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8456" y="6464300"/>
            <a:ext cx="96678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a:spLocks noGrp="1"/>
          </p:cNvSpPr>
          <p:nvPr>
            <p:ph type="title"/>
          </p:nvPr>
        </p:nvSpPr>
        <p:spPr>
          <a:xfrm>
            <a:off x="628650" y="365127"/>
            <a:ext cx="7886700" cy="916474"/>
          </a:xfrm>
          <a:prstGeom prst="rect">
            <a:avLst/>
          </a:prstGeom>
        </p:spPr>
        <p:txBody>
          <a:bodyPr anchor="ctr">
            <a:normAutofit/>
          </a:bodyPr>
          <a:lstStyle>
            <a:lvl1pPr>
              <a:defRPr sz="4000" b="1">
                <a:solidFill>
                  <a:srgbClr val="154067"/>
                </a:solidFill>
                <a:latin typeface="+mn-lt"/>
              </a:defRPr>
            </a:lvl1pPr>
          </a:lstStyle>
          <a:p>
            <a:r>
              <a:rPr lang="en-US"/>
              <a:t>Click to edit Master title style</a:t>
            </a:r>
            <a:endParaRPr lang="en-US" dirty="0"/>
          </a:p>
        </p:txBody>
      </p:sp>
      <p:sp>
        <p:nvSpPr>
          <p:cNvPr id="9" name="Content Placeholder 2"/>
          <p:cNvSpPr>
            <a:spLocks noGrp="1"/>
          </p:cNvSpPr>
          <p:nvPr>
            <p:ph idx="1"/>
          </p:nvPr>
        </p:nvSpPr>
        <p:spPr>
          <a:xfrm>
            <a:off x="628650" y="1404000"/>
            <a:ext cx="7886700" cy="4772963"/>
          </a:xfrm>
          <a:prstGeom prst="rect">
            <a:avLst/>
          </a:prstGeom>
        </p:spPr>
        <p:txBody>
          <a:bodyPr/>
          <a:lstStyle>
            <a:lvl1pPr marL="0" indent="0">
              <a:buNone/>
              <a:defRPr>
                <a:solidFill>
                  <a:srgbClr val="154067"/>
                </a:solidFill>
              </a:defRPr>
            </a:lvl1pPr>
            <a:lvl2pPr>
              <a:buClr>
                <a:srgbClr val="99CB5A"/>
              </a:buClr>
              <a:defRPr>
                <a:solidFill>
                  <a:srgbClr val="154067"/>
                </a:solidFill>
              </a:defRPr>
            </a:lvl2pPr>
            <a:lvl3pPr>
              <a:buClr>
                <a:srgbClr val="99CB5A"/>
              </a:buClr>
              <a:defRPr>
                <a:solidFill>
                  <a:srgbClr val="154067"/>
                </a:solidFill>
              </a:defRPr>
            </a:lvl3pPr>
            <a:lvl4pPr>
              <a:buClr>
                <a:srgbClr val="99CB5A"/>
              </a:buClr>
              <a:defRPr>
                <a:solidFill>
                  <a:srgbClr val="154067"/>
                </a:solidFill>
              </a:defRPr>
            </a:lvl4pPr>
            <a:lvl5pPr>
              <a:buClr>
                <a:srgbClr val="99CB5A"/>
              </a:buClr>
              <a:defRPr>
                <a:solidFill>
                  <a:srgbClr val="154067"/>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6692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595088"/>
            <a:ext cx="7886700" cy="4581875"/>
          </a:xfrm>
          <a:prstGeom prst="rect">
            <a:avLst/>
          </a:prstGeom>
        </p:spPr>
        <p:txBody>
          <a:bodyPr/>
          <a:lstStyle>
            <a:lvl1pPr marL="0" indent="0">
              <a:buNone/>
              <a:defRPr>
                <a:solidFill>
                  <a:srgbClr val="154067"/>
                </a:solidFill>
              </a:defRPr>
            </a:lvl1pPr>
            <a:lvl2pPr>
              <a:buClr>
                <a:srgbClr val="99CB5A"/>
              </a:buClr>
              <a:defRPr>
                <a:solidFill>
                  <a:srgbClr val="154067"/>
                </a:solidFill>
              </a:defRPr>
            </a:lvl2pPr>
            <a:lvl3pPr>
              <a:buClr>
                <a:srgbClr val="99CB5A"/>
              </a:buClr>
              <a:defRPr>
                <a:solidFill>
                  <a:srgbClr val="154067"/>
                </a:solidFill>
              </a:defRPr>
            </a:lvl3pPr>
            <a:lvl4pPr>
              <a:buClr>
                <a:srgbClr val="99CB5A"/>
              </a:buClr>
              <a:defRPr>
                <a:solidFill>
                  <a:srgbClr val="154067"/>
                </a:solidFill>
              </a:defRPr>
            </a:lvl4pPr>
            <a:lvl5pPr>
              <a:buClr>
                <a:srgbClr val="99CB5A"/>
              </a:buClr>
              <a:defRPr>
                <a:solidFill>
                  <a:srgbClr val="154067"/>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1"/>
          <p:cNvSpPr>
            <a:spLocks noGrp="1" noChangeArrowheads="1"/>
          </p:cNvSpPr>
          <p:nvPr>
            <p:ph type="ftr" sz="quarter" idx="3"/>
          </p:nvPr>
        </p:nvSpPr>
        <p:spPr bwMode="auto">
          <a:xfrm>
            <a:off x="6081588" y="6492875"/>
            <a:ext cx="2557462"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lvl1pPr algn="r">
              <a:defRPr sz="600">
                <a:latin typeface="Arial" pitchFamily="34" charset="0"/>
              </a:defRPr>
            </a:lvl1pPr>
          </a:lstStyle>
          <a:p>
            <a:pPr>
              <a:defRPr/>
            </a:pPr>
            <a:r>
              <a:rPr lang="en-US" altLang="en-US"/>
              <a:t>© Fred Hutchinson Cancer Research Center </a:t>
            </a:r>
          </a:p>
        </p:txBody>
      </p:sp>
      <p:sp>
        <p:nvSpPr>
          <p:cNvPr id="8" name="Rectangle 12"/>
          <p:cNvSpPr>
            <a:spLocks noGrp="1" noChangeArrowheads="1"/>
          </p:cNvSpPr>
          <p:nvPr>
            <p:ph type="sldNum" sz="quarter" idx="4"/>
          </p:nvPr>
        </p:nvSpPr>
        <p:spPr bwMode="auto">
          <a:xfrm>
            <a:off x="8588250" y="6492875"/>
            <a:ext cx="3746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600">
                <a:latin typeface="Arial" charset="0"/>
              </a:defRPr>
            </a:lvl1pPr>
          </a:lstStyle>
          <a:p>
            <a:fld id="{224ACA9D-2A64-9A4B-A9DD-0B8C6176E9AA}" type="slidenum">
              <a:rPr lang="en-US" altLang="en-US"/>
              <a:pPr/>
              <a:t>‹#›</a:t>
            </a:fld>
            <a:endParaRPr lang="en-US" altLang="en-US"/>
          </a:p>
        </p:txBody>
      </p:sp>
      <p:pic>
        <p:nvPicPr>
          <p:cNvPr id="9" name="Picture 8" descr="fh-hor-ny-no-cs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8456" y="6464300"/>
            <a:ext cx="96678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userDrawn="1"/>
        </p:nvSpPr>
        <p:spPr bwMode="auto">
          <a:xfrm>
            <a:off x="446088" y="1252188"/>
            <a:ext cx="8237537" cy="55563"/>
          </a:xfrm>
          <a:prstGeom prst="rect">
            <a:avLst/>
          </a:prstGeom>
          <a:gradFill flip="none" rotWithShape="1">
            <a:gsLst>
              <a:gs pos="0">
                <a:srgbClr val="154067"/>
              </a:gs>
              <a:gs pos="100000">
                <a:srgbClr val="99CB5A"/>
              </a:gs>
              <a:gs pos="50000">
                <a:srgbClr val="42C2C6"/>
              </a:gs>
            </a:gsLst>
            <a:lin ang="0" scaled="1"/>
            <a:tileRect/>
          </a:gradFill>
          <a:ln w="9525" cap="flat" cmpd="sng" algn="ctr">
            <a:noFill/>
            <a:prstDash val="solid"/>
            <a:round/>
            <a:headEnd type="none" w="med" len="med"/>
            <a:tailEnd type="none" w="med" len="med"/>
          </a:ln>
          <a:effectLst/>
          <a:extLst/>
        </p:spPr>
        <p:txBody>
          <a:bodyPr wrap="none"/>
          <a:lstStyle/>
          <a:p>
            <a:pPr>
              <a:defRPr/>
            </a:pPr>
            <a:endParaRPr lang="en-US">
              <a:latin typeface="Times New Roman" pitchFamily="18" charset="0"/>
              <a:ea typeface="ヒラギノ角ゴ Pro W3" charset="0"/>
              <a:cs typeface="ヒラギノ角ゴ Pro W3" charset="0"/>
            </a:endParaRPr>
          </a:p>
        </p:txBody>
      </p:sp>
      <p:sp>
        <p:nvSpPr>
          <p:cNvPr id="10" name="Title 1"/>
          <p:cNvSpPr>
            <a:spLocks noGrp="1"/>
          </p:cNvSpPr>
          <p:nvPr>
            <p:ph type="title"/>
          </p:nvPr>
        </p:nvSpPr>
        <p:spPr>
          <a:xfrm>
            <a:off x="628650" y="365127"/>
            <a:ext cx="7886700" cy="916474"/>
          </a:xfrm>
          <a:prstGeom prst="rect">
            <a:avLst/>
          </a:prstGeom>
        </p:spPr>
        <p:txBody>
          <a:bodyPr anchor="ctr">
            <a:normAutofit/>
          </a:bodyPr>
          <a:lstStyle>
            <a:lvl1pPr>
              <a:defRPr sz="4000" b="1">
                <a:solidFill>
                  <a:srgbClr val="154067"/>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1987884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598400"/>
            <a:ext cx="3886200" cy="4578563"/>
          </a:xfrm>
          <a:prstGeom prst="rect">
            <a:avLst/>
          </a:prstGeom>
        </p:spPr>
        <p:txBody>
          <a:bodyPr/>
          <a:lstStyle>
            <a:lvl1pPr marL="0" indent="0">
              <a:buClr>
                <a:srgbClr val="99CB5A"/>
              </a:buClr>
              <a:buNone/>
              <a:defRPr>
                <a:solidFill>
                  <a:srgbClr val="154067"/>
                </a:solidFill>
              </a:defRPr>
            </a:lvl1pPr>
            <a:lvl2pPr>
              <a:buClr>
                <a:srgbClr val="99CB5A"/>
              </a:buClr>
              <a:defRPr>
                <a:solidFill>
                  <a:srgbClr val="154067"/>
                </a:solidFill>
              </a:defRPr>
            </a:lvl2pPr>
            <a:lvl3pPr>
              <a:buClr>
                <a:srgbClr val="99CB5A"/>
              </a:buClr>
              <a:defRPr>
                <a:solidFill>
                  <a:srgbClr val="154067"/>
                </a:solidFill>
              </a:defRPr>
            </a:lvl3pPr>
            <a:lvl4pPr>
              <a:buClr>
                <a:srgbClr val="99CB5A"/>
              </a:buClr>
              <a:defRPr>
                <a:solidFill>
                  <a:srgbClr val="154067"/>
                </a:solidFill>
              </a:defRPr>
            </a:lvl4pPr>
            <a:lvl5pPr>
              <a:buClr>
                <a:srgbClr val="99CB5A"/>
              </a:buClr>
              <a:defRPr>
                <a:solidFill>
                  <a:srgbClr val="154067"/>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8400"/>
            <a:ext cx="3886200" cy="4578563"/>
          </a:xfrm>
          <a:prstGeom prst="rect">
            <a:avLst/>
          </a:prstGeom>
        </p:spPr>
        <p:txBody>
          <a:bodyPr/>
          <a:lstStyle>
            <a:lvl1pPr marL="0" indent="0">
              <a:buClr>
                <a:srgbClr val="99CB5A"/>
              </a:buClr>
              <a:buNone/>
              <a:defRPr>
                <a:solidFill>
                  <a:srgbClr val="154067"/>
                </a:solidFill>
              </a:defRPr>
            </a:lvl1pPr>
            <a:lvl2pPr>
              <a:buClr>
                <a:srgbClr val="99CB5A"/>
              </a:buClr>
              <a:defRPr>
                <a:solidFill>
                  <a:srgbClr val="154067"/>
                </a:solidFill>
              </a:defRPr>
            </a:lvl2pPr>
            <a:lvl3pPr>
              <a:buClr>
                <a:srgbClr val="99CB5A"/>
              </a:buClr>
              <a:defRPr>
                <a:solidFill>
                  <a:srgbClr val="154067"/>
                </a:solidFill>
              </a:defRPr>
            </a:lvl3pPr>
            <a:lvl4pPr>
              <a:buClr>
                <a:srgbClr val="99CB5A"/>
              </a:buClr>
              <a:defRPr>
                <a:solidFill>
                  <a:srgbClr val="154067"/>
                </a:solidFill>
              </a:defRPr>
            </a:lvl4pPr>
            <a:lvl5pPr>
              <a:buClr>
                <a:srgbClr val="99CB5A"/>
              </a:buClr>
              <a:defRPr>
                <a:solidFill>
                  <a:srgbClr val="154067"/>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userDrawn="1"/>
        </p:nvSpPr>
        <p:spPr bwMode="auto">
          <a:xfrm>
            <a:off x="446088" y="1252188"/>
            <a:ext cx="8237537" cy="55563"/>
          </a:xfrm>
          <a:prstGeom prst="rect">
            <a:avLst/>
          </a:prstGeom>
          <a:gradFill flip="none" rotWithShape="1">
            <a:gsLst>
              <a:gs pos="0">
                <a:srgbClr val="154067"/>
              </a:gs>
              <a:gs pos="100000">
                <a:srgbClr val="99CB5A"/>
              </a:gs>
              <a:gs pos="50000">
                <a:srgbClr val="42C2C6"/>
              </a:gs>
            </a:gsLst>
            <a:lin ang="0" scaled="1"/>
            <a:tileRect/>
          </a:gradFill>
          <a:ln w="9525" cap="flat" cmpd="sng" algn="ctr">
            <a:noFill/>
            <a:prstDash val="solid"/>
            <a:round/>
            <a:headEnd type="none" w="med" len="med"/>
            <a:tailEnd type="none" w="med" len="med"/>
          </a:ln>
          <a:effectLst/>
          <a:extLst/>
        </p:spPr>
        <p:txBody>
          <a:bodyPr wrap="none"/>
          <a:lstStyle/>
          <a:p>
            <a:pPr>
              <a:defRPr/>
            </a:pPr>
            <a:endParaRPr lang="en-US">
              <a:latin typeface="Times New Roman" pitchFamily="18" charset="0"/>
              <a:ea typeface="ヒラギノ角ゴ Pro W3" charset="0"/>
              <a:cs typeface="ヒラギノ角ゴ Pro W3" charset="0"/>
            </a:endParaRPr>
          </a:p>
        </p:txBody>
      </p:sp>
      <p:sp>
        <p:nvSpPr>
          <p:cNvPr id="10" name="Rectangle 11"/>
          <p:cNvSpPr>
            <a:spLocks noGrp="1" noChangeArrowheads="1"/>
          </p:cNvSpPr>
          <p:nvPr>
            <p:ph type="ftr" sz="quarter" idx="3"/>
          </p:nvPr>
        </p:nvSpPr>
        <p:spPr bwMode="auto">
          <a:xfrm>
            <a:off x="6081588" y="6492875"/>
            <a:ext cx="2557462"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lvl1pPr algn="r">
              <a:defRPr sz="600">
                <a:latin typeface="Arial" pitchFamily="34" charset="0"/>
              </a:defRPr>
            </a:lvl1pPr>
          </a:lstStyle>
          <a:p>
            <a:pPr>
              <a:defRPr/>
            </a:pPr>
            <a:r>
              <a:rPr lang="en-US" altLang="en-US"/>
              <a:t>© Fred Hutchinson Cancer Research Center </a:t>
            </a:r>
          </a:p>
        </p:txBody>
      </p:sp>
      <p:sp>
        <p:nvSpPr>
          <p:cNvPr id="11" name="Rectangle 12"/>
          <p:cNvSpPr>
            <a:spLocks noGrp="1" noChangeArrowheads="1"/>
          </p:cNvSpPr>
          <p:nvPr>
            <p:ph type="sldNum" sz="quarter" idx="4"/>
          </p:nvPr>
        </p:nvSpPr>
        <p:spPr bwMode="auto">
          <a:xfrm>
            <a:off x="8588250" y="6492875"/>
            <a:ext cx="3746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600">
                <a:latin typeface="Arial" charset="0"/>
              </a:defRPr>
            </a:lvl1pPr>
          </a:lstStyle>
          <a:p>
            <a:fld id="{224ACA9D-2A64-9A4B-A9DD-0B8C6176E9AA}" type="slidenum">
              <a:rPr lang="en-US" altLang="en-US"/>
              <a:pPr/>
              <a:t>‹#›</a:t>
            </a:fld>
            <a:endParaRPr lang="en-US" altLang="en-US"/>
          </a:p>
        </p:txBody>
      </p:sp>
      <p:pic>
        <p:nvPicPr>
          <p:cNvPr id="12" name="Picture 11" descr="fh-hor-ny-no-cs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8456" y="6464300"/>
            <a:ext cx="96678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p:cNvSpPr>
            <a:spLocks noGrp="1"/>
          </p:cNvSpPr>
          <p:nvPr>
            <p:ph type="title"/>
          </p:nvPr>
        </p:nvSpPr>
        <p:spPr>
          <a:xfrm>
            <a:off x="628650" y="365127"/>
            <a:ext cx="7886700" cy="916474"/>
          </a:xfrm>
          <a:prstGeom prst="rect">
            <a:avLst/>
          </a:prstGeom>
        </p:spPr>
        <p:txBody>
          <a:bodyPr anchor="ctr">
            <a:normAutofit/>
          </a:bodyPr>
          <a:lstStyle>
            <a:lvl1pPr>
              <a:defRPr sz="4000" b="1">
                <a:solidFill>
                  <a:srgbClr val="154067"/>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426446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11"/>
          <p:cNvSpPr>
            <a:spLocks noGrp="1" noChangeArrowheads="1"/>
          </p:cNvSpPr>
          <p:nvPr>
            <p:ph type="ftr" sz="quarter" idx="3"/>
          </p:nvPr>
        </p:nvSpPr>
        <p:spPr bwMode="auto">
          <a:xfrm>
            <a:off x="6081588" y="6492875"/>
            <a:ext cx="2557462"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lvl1pPr algn="r">
              <a:defRPr sz="600">
                <a:latin typeface="Arial" pitchFamily="34" charset="0"/>
              </a:defRPr>
            </a:lvl1pPr>
          </a:lstStyle>
          <a:p>
            <a:pPr>
              <a:defRPr/>
            </a:pPr>
            <a:r>
              <a:rPr lang="en-US" altLang="en-US"/>
              <a:t>© Fred Hutchinson Cancer Research Center </a:t>
            </a:r>
          </a:p>
        </p:txBody>
      </p:sp>
      <p:sp>
        <p:nvSpPr>
          <p:cNvPr id="6" name="Rectangle 12"/>
          <p:cNvSpPr>
            <a:spLocks noGrp="1" noChangeArrowheads="1"/>
          </p:cNvSpPr>
          <p:nvPr>
            <p:ph type="sldNum" sz="quarter" idx="4"/>
          </p:nvPr>
        </p:nvSpPr>
        <p:spPr bwMode="auto">
          <a:xfrm>
            <a:off x="8588250" y="6492875"/>
            <a:ext cx="3746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600">
                <a:latin typeface="Arial" charset="0"/>
              </a:defRPr>
            </a:lvl1pPr>
          </a:lstStyle>
          <a:p>
            <a:fld id="{224ACA9D-2A64-9A4B-A9DD-0B8C6176E9AA}" type="slidenum">
              <a:rPr lang="en-US" altLang="en-US"/>
              <a:pPr/>
              <a:t>‹#›</a:t>
            </a:fld>
            <a:endParaRPr lang="en-US" altLang="en-US"/>
          </a:p>
        </p:txBody>
      </p:sp>
      <p:pic>
        <p:nvPicPr>
          <p:cNvPr id="7" name="Picture 6" descr="fh-hor-ny-no-cs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8456" y="6464300"/>
            <a:ext cx="96678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0898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18243D"/>
        </a:solidFill>
        <a:effectLst/>
      </p:bgPr>
    </p:bg>
    <p:spTree>
      <p:nvGrpSpPr>
        <p:cNvPr id="1" name=""/>
        <p:cNvGrpSpPr/>
        <p:nvPr/>
      </p:nvGrpSpPr>
      <p:grpSpPr>
        <a:xfrm>
          <a:off x="0" y="0"/>
          <a:ext cx="0" cy="0"/>
          <a:chOff x="0" y="0"/>
          <a:chExt cx="0" cy="0"/>
        </a:xfrm>
      </p:grpSpPr>
      <p:pic>
        <p:nvPicPr>
          <p:cNvPr id="2" name="Picture 5" descr="cureStartsHere.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6088" y="3043238"/>
            <a:ext cx="8240712"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descr="FH-hor-W.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4663" y="5954713"/>
            <a:ext cx="207486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7174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18243D"/>
        </a:solidFill>
        <a:effectLst/>
      </p:bgPr>
    </p:bg>
    <p:spTree>
      <p:nvGrpSpPr>
        <p:cNvPr id="1" name=""/>
        <p:cNvGrpSpPr/>
        <p:nvPr/>
      </p:nvGrpSpPr>
      <p:grpSpPr>
        <a:xfrm>
          <a:off x="0" y="0"/>
          <a:ext cx="0" cy="0"/>
          <a:chOff x="0" y="0"/>
          <a:chExt cx="0" cy="0"/>
        </a:xfrm>
      </p:grpSpPr>
      <p:pic>
        <p:nvPicPr>
          <p:cNvPr id="2" name="Picture 6" descr="thank you.eps"/>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93938" y="3041650"/>
            <a:ext cx="45593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descr="fredhutch org.eps"/>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89825" y="6235700"/>
            <a:ext cx="1136650"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 descr="FH-hor-W.pn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74663" y="5954713"/>
            <a:ext cx="207486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4693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fld id="{5F8E73E2-862A-4949-ACC0-E4200C63C49A}" type="datetimeFigureOut">
              <a:rPr lang="en-US" altLang="en-US"/>
              <a:pPr/>
              <a:t>9/24/2019</a:t>
            </a:fld>
            <a:endParaRPr lang="en-US" alt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fld id="{48DF2CC0-9D89-C941-8C46-D368AE387D02}" type="slidenum">
              <a:rPr lang="en-US" altLang="en-US"/>
              <a:pPr/>
              <a:t>‹#›</a:t>
            </a:fld>
            <a:endParaRPr lang="en-US" altLang="en-US"/>
          </a:p>
        </p:txBody>
      </p:sp>
    </p:spTree>
    <p:extLst>
      <p:ext uri="{BB962C8B-B14F-4D97-AF65-F5344CB8AC3E}">
        <p14:creationId xmlns:p14="http://schemas.microsoft.com/office/powerpoint/2010/main" val="1749353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4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fld id="{62A05A11-C318-D74E-ADE9-89B2F0298175}" type="datetimeFigureOut">
              <a:rPr lang="en-US" altLang="en-US"/>
              <a:pPr/>
              <a:t>9/24/2019</a:t>
            </a:fld>
            <a:endParaRPr lang="en-US" alt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fld id="{A9ECC2F0-E204-B94E-B1E5-631B910D32B3}" type="slidenum">
              <a:rPr lang="en-US" altLang="en-US"/>
              <a:pPr/>
              <a:t>‹#›</a:t>
            </a:fld>
            <a:endParaRPr lang="en-US" altLang="en-US"/>
          </a:p>
        </p:txBody>
      </p:sp>
    </p:spTree>
    <p:extLst>
      <p:ext uri="{BB962C8B-B14F-4D97-AF65-F5344CB8AC3E}">
        <p14:creationId xmlns:p14="http://schemas.microsoft.com/office/powerpoint/2010/main" val="231388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48203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9" r:id="rId4"/>
    <p:sldLayoutId id="2147483675" r:id="rId5"/>
    <p:sldLayoutId id="2147483676" r:id="rId6"/>
    <p:sldLayoutId id="2147483664" r:id="rId7"/>
    <p:sldLayoutId id="2147483667" r:id="rId8"/>
    <p:sldLayoutId id="2147483673" r:id="rId9"/>
    <p:sldLayoutId id="2147483674" r:id="rId10"/>
    <p:sldLayoutId id="2147483681" r:id="rId11"/>
    <p:sldLayoutId id="2147483682" r:id="rId12"/>
  </p:sldLayoutIdLst>
  <p:txStyles>
    <p:titleStyle>
      <a:lvl1pPr algn="l" defTabSz="914400" rtl="0" eaLnBrk="1" latinLnBrk="0" hangingPunct="1">
        <a:lnSpc>
          <a:spcPct val="90000"/>
        </a:lnSpc>
        <a:spcBef>
          <a:spcPct val="0"/>
        </a:spcBef>
        <a:buNone/>
        <a:defRPr sz="3600" b="1" kern="1200">
          <a:solidFill>
            <a:srgbClr val="154067"/>
          </a:solidFill>
          <a:latin typeface="+mn-lt"/>
          <a:ea typeface="+mj-ea"/>
          <a:cs typeface="+mj-cs"/>
        </a:defRPr>
      </a:lvl1pPr>
    </p:titleStyle>
    <p:bodyStyle>
      <a:lvl1pPr marL="0" indent="0" algn="l" defTabSz="914400" rtl="0" eaLnBrk="1" latinLnBrk="0" hangingPunct="1">
        <a:lnSpc>
          <a:spcPct val="90000"/>
        </a:lnSpc>
        <a:spcBef>
          <a:spcPts val="1000"/>
        </a:spcBef>
        <a:buClr>
          <a:srgbClr val="99CB5A"/>
        </a:buClr>
        <a:buFont typeface="Arial" panose="020B0604020202020204" pitchFamily="34" charset="0"/>
        <a:buNone/>
        <a:defRPr sz="2800" kern="1200">
          <a:solidFill>
            <a:srgbClr val="154067"/>
          </a:solidFill>
          <a:latin typeface="+mn-lt"/>
          <a:ea typeface="+mn-ea"/>
          <a:cs typeface="+mn-cs"/>
        </a:defRPr>
      </a:lvl1pPr>
      <a:lvl2pPr marL="685800" indent="-228600" algn="l" defTabSz="914400" rtl="0" eaLnBrk="1" latinLnBrk="0" hangingPunct="1">
        <a:lnSpc>
          <a:spcPct val="90000"/>
        </a:lnSpc>
        <a:spcBef>
          <a:spcPts val="500"/>
        </a:spcBef>
        <a:buClr>
          <a:srgbClr val="99CB5A"/>
        </a:buClr>
        <a:buFont typeface="Arial" panose="020B0604020202020204" pitchFamily="34" charset="0"/>
        <a:buChar char="•"/>
        <a:defRPr sz="2400" kern="1200">
          <a:solidFill>
            <a:srgbClr val="154067"/>
          </a:solidFill>
          <a:latin typeface="+mn-lt"/>
          <a:ea typeface="+mn-ea"/>
          <a:cs typeface="+mn-cs"/>
        </a:defRPr>
      </a:lvl2pPr>
      <a:lvl3pPr marL="1143000" indent="-228600" algn="l" defTabSz="914400" rtl="0" eaLnBrk="1" latinLnBrk="0" hangingPunct="1">
        <a:lnSpc>
          <a:spcPct val="90000"/>
        </a:lnSpc>
        <a:spcBef>
          <a:spcPts val="500"/>
        </a:spcBef>
        <a:buClr>
          <a:srgbClr val="99CB5A"/>
        </a:buClr>
        <a:buFont typeface="Arial" panose="020B0604020202020204" pitchFamily="34" charset="0"/>
        <a:buChar char="•"/>
        <a:defRPr sz="2000" kern="1200">
          <a:solidFill>
            <a:srgbClr val="154067"/>
          </a:solidFill>
          <a:latin typeface="+mn-lt"/>
          <a:ea typeface="+mn-ea"/>
          <a:cs typeface="+mn-cs"/>
        </a:defRPr>
      </a:lvl3pPr>
      <a:lvl4pPr marL="1600200" indent="-228600" algn="l" defTabSz="914400" rtl="0" eaLnBrk="1" latinLnBrk="0" hangingPunct="1">
        <a:lnSpc>
          <a:spcPct val="90000"/>
        </a:lnSpc>
        <a:spcBef>
          <a:spcPts val="500"/>
        </a:spcBef>
        <a:buClr>
          <a:srgbClr val="99CB5A"/>
        </a:buClr>
        <a:buFont typeface="Arial" panose="020B0604020202020204" pitchFamily="34" charset="0"/>
        <a:buChar char="•"/>
        <a:defRPr sz="1800" kern="1200">
          <a:solidFill>
            <a:srgbClr val="154067"/>
          </a:solidFill>
          <a:latin typeface="+mn-lt"/>
          <a:ea typeface="+mn-ea"/>
          <a:cs typeface="+mn-cs"/>
        </a:defRPr>
      </a:lvl4pPr>
      <a:lvl5pPr marL="2057400" indent="-228600" algn="l" defTabSz="914400" rtl="0" eaLnBrk="1" latinLnBrk="0" hangingPunct="1">
        <a:lnSpc>
          <a:spcPct val="90000"/>
        </a:lnSpc>
        <a:spcBef>
          <a:spcPts val="500"/>
        </a:spcBef>
        <a:buClr>
          <a:srgbClr val="99CB5A"/>
        </a:buClr>
        <a:buFont typeface="Arial" panose="020B0604020202020204" pitchFamily="34" charset="0"/>
        <a:buChar char="•"/>
        <a:defRPr sz="1800" kern="1200">
          <a:solidFill>
            <a:srgbClr val="154067"/>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emf"/><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emf"/><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9133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chemeClr val="tx1">
              <a:alpha val="75000"/>
            </a:schemeClr>
          </a:solidFill>
        </p:spPr>
        <p:txBody>
          <a:bodyPr/>
          <a:lstStyle/>
          <a:p>
            <a:pPr algn="ctr"/>
            <a:br>
              <a:rPr lang="en-US" sz="2000" dirty="0"/>
            </a:br>
            <a:r>
              <a:rPr lang="en-US" dirty="0"/>
              <a:t>Study Concept</a:t>
            </a:r>
          </a:p>
        </p:txBody>
      </p:sp>
      <p:sp>
        <p:nvSpPr>
          <p:cNvPr id="5" name="Content Placeholder 4"/>
          <p:cNvSpPr>
            <a:spLocks noGrp="1"/>
          </p:cNvSpPr>
          <p:nvPr>
            <p:ph idx="1"/>
          </p:nvPr>
        </p:nvSpPr>
        <p:spPr>
          <a:solidFill>
            <a:schemeClr val="tx1">
              <a:alpha val="75000"/>
            </a:schemeClr>
          </a:solidFill>
        </p:spPr>
        <p:txBody>
          <a:bodyPr/>
          <a:lstStyle/>
          <a:p>
            <a:pPr algn="ctr"/>
            <a:endParaRPr lang="en-US" dirty="0"/>
          </a:p>
          <a:p>
            <a:pPr algn="ctr"/>
            <a:endParaRPr lang="en-US" dirty="0"/>
          </a:p>
          <a:p>
            <a:pPr algn="ctr"/>
            <a:r>
              <a:rPr lang="en-US" dirty="0"/>
              <a:t>Pegylated Urate Oxidase to Reduce Graft vs. Host Disease (GVHD) Following Myeloablative HLA-matched Allogeneic Stem Cell Transplantation (ASCT)</a:t>
            </a:r>
          </a:p>
        </p:txBody>
      </p:sp>
    </p:spTree>
    <p:extLst>
      <p:ext uri="{BB962C8B-B14F-4D97-AF65-F5344CB8AC3E}">
        <p14:creationId xmlns:p14="http://schemas.microsoft.com/office/powerpoint/2010/main" val="1764743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C806C8-CF43-4EF0-96DF-B295E08E56FE}"/>
              </a:ext>
            </a:extLst>
          </p:cNvPr>
          <p:cNvSpPr>
            <a:spLocks noGrp="1"/>
          </p:cNvSpPr>
          <p:nvPr>
            <p:ph type="title"/>
          </p:nvPr>
        </p:nvSpPr>
        <p:spPr/>
        <p:txBody>
          <a:bodyPr/>
          <a:lstStyle/>
          <a:p>
            <a:r>
              <a:rPr lang="en-US" dirty="0"/>
              <a:t>Outline</a:t>
            </a:r>
          </a:p>
        </p:txBody>
      </p:sp>
      <p:sp>
        <p:nvSpPr>
          <p:cNvPr id="6" name="TextBox 5">
            <a:extLst>
              <a:ext uri="{FF2B5EF4-FFF2-40B4-BE49-F238E27FC236}">
                <a16:creationId xmlns:a16="http://schemas.microsoft.com/office/drawing/2014/main" id="{2B7AAF52-CEC5-4643-9465-EEC77031BAC6}"/>
              </a:ext>
            </a:extLst>
          </p:cNvPr>
          <p:cNvSpPr txBox="1"/>
          <p:nvPr/>
        </p:nvSpPr>
        <p:spPr>
          <a:xfrm>
            <a:off x="0" y="1860199"/>
            <a:ext cx="760164" cy="45719"/>
          </a:xfrm>
          <a:prstGeom prst="rect">
            <a:avLst/>
          </a:prstGeom>
        </p:spPr>
        <p:txBody>
          <a:bodyPr vert="horz" wrap="square" lIns="91440" tIns="45720" rIns="91440" bIns="45720" rtlCol="0" anchor="ctr">
            <a:noAutofit/>
          </a:bodyPr>
          <a:lstStyle/>
          <a:p>
            <a:endParaRPr lang="en-US" sz="4000" dirty="0"/>
          </a:p>
        </p:txBody>
      </p:sp>
      <p:sp>
        <p:nvSpPr>
          <p:cNvPr id="7" name="TextBox 6">
            <a:extLst>
              <a:ext uri="{FF2B5EF4-FFF2-40B4-BE49-F238E27FC236}">
                <a16:creationId xmlns:a16="http://schemas.microsoft.com/office/drawing/2014/main" id="{F4651C35-302C-4F17-A2F3-74539B7DB51D}"/>
              </a:ext>
            </a:extLst>
          </p:cNvPr>
          <p:cNvSpPr txBox="1"/>
          <p:nvPr/>
        </p:nvSpPr>
        <p:spPr>
          <a:xfrm>
            <a:off x="429658" y="1509311"/>
            <a:ext cx="7886700" cy="4549966"/>
          </a:xfrm>
          <a:prstGeom prst="rect">
            <a:avLst/>
          </a:prstGeom>
        </p:spPr>
        <p:txBody>
          <a:bodyPr vert="horz" wrap="square" lIns="91440" tIns="45720" rIns="91440" bIns="45720" rtlCol="0" anchor="ctr">
            <a:noAutofit/>
          </a:bodyPr>
          <a:lstStyle/>
          <a:p>
            <a:endParaRPr lang="en-US" sz="4000" dirty="0"/>
          </a:p>
        </p:txBody>
      </p:sp>
      <p:sp>
        <p:nvSpPr>
          <p:cNvPr id="8" name="TextBox 7">
            <a:extLst>
              <a:ext uri="{FF2B5EF4-FFF2-40B4-BE49-F238E27FC236}">
                <a16:creationId xmlns:a16="http://schemas.microsoft.com/office/drawing/2014/main" id="{0F9F0674-B290-46D9-8C22-08F1D68606DA}"/>
              </a:ext>
            </a:extLst>
          </p:cNvPr>
          <p:cNvSpPr txBox="1"/>
          <p:nvPr/>
        </p:nvSpPr>
        <p:spPr>
          <a:xfrm>
            <a:off x="495071" y="1911426"/>
            <a:ext cx="8086380" cy="3745735"/>
          </a:xfrm>
          <a:prstGeom prst="rect">
            <a:avLst/>
          </a:prstGeom>
        </p:spPr>
        <p:txBody>
          <a:bodyPr vert="horz" wrap="none" lIns="91440" tIns="45720" rIns="91440" bIns="45720" rtlCol="0" anchor="t">
            <a:noAutofit/>
          </a:bodyPr>
          <a:lstStyle/>
          <a:p>
            <a:pPr marL="742950" indent="-742950">
              <a:buFont typeface="+mj-lt"/>
              <a:buAutoNum type="arabicParenR"/>
            </a:pPr>
            <a:r>
              <a:rPr lang="en-US" sz="3000" dirty="0"/>
              <a:t>Brief primer on transplant and GVHD</a:t>
            </a:r>
          </a:p>
          <a:p>
            <a:pPr marL="742950" indent="-742950">
              <a:buFont typeface="+mj-lt"/>
              <a:buAutoNum type="arabicParenR"/>
            </a:pPr>
            <a:endParaRPr lang="en-US" sz="3000" dirty="0"/>
          </a:p>
          <a:p>
            <a:pPr marL="742950" indent="-742950">
              <a:buFont typeface="+mj-lt"/>
              <a:buAutoNum type="arabicParenR"/>
            </a:pPr>
            <a:r>
              <a:rPr lang="en-US" sz="3000" dirty="0"/>
              <a:t>Phase I Clinical Data</a:t>
            </a:r>
          </a:p>
          <a:p>
            <a:pPr marL="742950" indent="-742950">
              <a:buFont typeface="+mj-lt"/>
              <a:buAutoNum type="arabicParenR"/>
            </a:pPr>
            <a:endParaRPr lang="en-US" sz="3000" dirty="0"/>
          </a:p>
          <a:p>
            <a:pPr marL="742950" indent="-742950">
              <a:buFont typeface="+mj-lt"/>
              <a:buAutoNum type="arabicParenR"/>
            </a:pPr>
            <a:r>
              <a:rPr lang="en-US" sz="3000" dirty="0"/>
              <a:t>Animal / Mechanistic Data</a:t>
            </a:r>
          </a:p>
          <a:p>
            <a:pPr marL="742950" indent="-742950">
              <a:buFont typeface="+mj-lt"/>
              <a:buAutoNum type="arabicParenR"/>
            </a:pPr>
            <a:endParaRPr lang="en-US" sz="3000" dirty="0"/>
          </a:p>
          <a:p>
            <a:pPr marL="742950" indent="-742950">
              <a:buFont typeface="+mj-lt"/>
              <a:buAutoNum type="arabicParenR"/>
            </a:pPr>
            <a:r>
              <a:rPr lang="en-US" sz="3000" dirty="0"/>
              <a:t>Study Concept</a:t>
            </a:r>
          </a:p>
        </p:txBody>
      </p:sp>
    </p:spTree>
    <p:extLst>
      <p:ext uri="{BB962C8B-B14F-4D97-AF65-F5344CB8AC3E}">
        <p14:creationId xmlns:p14="http://schemas.microsoft.com/office/powerpoint/2010/main" val="2355460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C806C8-CF43-4EF0-96DF-B295E08E56FE}"/>
              </a:ext>
            </a:extLst>
          </p:cNvPr>
          <p:cNvSpPr>
            <a:spLocks noGrp="1"/>
          </p:cNvSpPr>
          <p:nvPr>
            <p:ph type="title"/>
          </p:nvPr>
        </p:nvSpPr>
        <p:spPr/>
        <p:txBody>
          <a:bodyPr/>
          <a:lstStyle/>
          <a:p>
            <a:r>
              <a:rPr lang="en-US" dirty="0"/>
              <a:t>Outline</a:t>
            </a:r>
          </a:p>
        </p:txBody>
      </p:sp>
      <p:sp>
        <p:nvSpPr>
          <p:cNvPr id="6" name="TextBox 5">
            <a:extLst>
              <a:ext uri="{FF2B5EF4-FFF2-40B4-BE49-F238E27FC236}">
                <a16:creationId xmlns:a16="http://schemas.microsoft.com/office/drawing/2014/main" id="{2B7AAF52-CEC5-4643-9465-EEC77031BAC6}"/>
              </a:ext>
            </a:extLst>
          </p:cNvPr>
          <p:cNvSpPr txBox="1"/>
          <p:nvPr/>
        </p:nvSpPr>
        <p:spPr>
          <a:xfrm>
            <a:off x="0" y="1860199"/>
            <a:ext cx="760164" cy="45719"/>
          </a:xfrm>
          <a:prstGeom prst="rect">
            <a:avLst/>
          </a:prstGeom>
        </p:spPr>
        <p:txBody>
          <a:bodyPr vert="horz" wrap="square" lIns="91440" tIns="45720" rIns="91440" bIns="45720" rtlCol="0" anchor="ctr">
            <a:noAutofit/>
          </a:bodyPr>
          <a:lstStyle/>
          <a:p>
            <a:endParaRPr lang="en-US" sz="4000" dirty="0"/>
          </a:p>
        </p:txBody>
      </p:sp>
      <p:sp>
        <p:nvSpPr>
          <p:cNvPr id="7" name="TextBox 6">
            <a:extLst>
              <a:ext uri="{FF2B5EF4-FFF2-40B4-BE49-F238E27FC236}">
                <a16:creationId xmlns:a16="http://schemas.microsoft.com/office/drawing/2014/main" id="{F4651C35-302C-4F17-A2F3-74539B7DB51D}"/>
              </a:ext>
            </a:extLst>
          </p:cNvPr>
          <p:cNvSpPr txBox="1"/>
          <p:nvPr/>
        </p:nvSpPr>
        <p:spPr>
          <a:xfrm>
            <a:off x="429658" y="1509311"/>
            <a:ext cx="7886700" cy="4549966"/>
          </a:xfrm>
          <a:prstGeom prst="rect">
            <a:avLst/>
          </a:prstGeom>
        </p:spPr>
        <p:txBody>
          <a:bodyPr vert="horz" wrap="square" lIns="91440" tIns="45720" rIns="91440" bIns="45720" rtlCol="0" anchor="ctr">
            <a:noAutofit/>
          </a:bodyPr>
          <a:lstStyle/>
          <a:p>
            <a:endParaRPr lang="en-US" sz="4000" dirty="0"/>
          </a:p>
        </p:txBody>
      </p:sp>
      <p:sp>
        <p:nvSpPr>
          <p:cNvPr id="8" name="TextBox 7">
            <a:extLst>
              <a:ext uri="{FF2B5EF4-FFF2-40B4-BE49-F238E27FC236}">
                <a16:creationId xmlns:a16="http://schemas.microsoft.com/office/drawing/2014/main" id="{0F9F0674-B290-46D9-8C22-08F1D68606DA}"/>
              </a:ext>
            </a:extLst>
          </p:cNvPr>
          <p:cNvSpPr txBox="1"/>
          <p:nvPr/>
        </p:nvSpPr>
        <p:spPr>
          <a:xfrm>
            <a:off x="495071" y="1911426"/>
            <a:ext cx="8086380" cy="3745735"/>
          </a:xfrm>
          <a:prstGeom prst="rect">
            <a:avLst/>
          </a:prstGeom>
        </p:spPr>
        <p:txBody>
          <a:bodyPr vert="horz" wrap="none" lIns="91440" tIns="45720" rIns="91440" bIns="45720" rtlCol="0" anchor="t">
            <a:noAutofit/>
          </a:bodyPr>
          <a:lstStyle/>
          <a:p>
            <a:pPr marL="742950" indent="-742950">
              <a:buFont typeface="+mj-lt"/>
              <a:buAutoNum type="arabicParenR"/>
            </a:pPr>
            <a:r>
              <a:rPr lang="en-US" sz="3000" dirty="0">
                <a:solidFill>
                  <a:srgbClr val="FF0000"/>
                </a:solidFill>
              </a:rPr>
              <a:t>Brief primer on transplant and GVHD</a:t>
            </a:r>
          </a:p>
          <a:p>
            <a:pPr marL="742950" indent="-742950">
              <a:buFont typeface="+mj-lt"/>
              <a:buAutoNum type="arabicParenR"/>
            </a:pPr>
            <a:endParaRPr lang="en-US" sz="3000" dirty="0"/>
          </a:p>
          <a:p>
            <a:pPr marL="742950" indent="-742950">
              <a:buFont typeface="+mj-lt"/>
              <a:buAutoNum type="arabicParenR"/>
            </a:pPr>
            <a:r>
              <a:rPr lang="en-US" sz="3000" dirty="0"/>
              <a:t>Phase I Clinical Data</a:t>
            </a:r>
          </a:p>
          <a:p>
            <a:pPr marL="742950" indent="-742950">
              <a:buFont typeface="+mj-lt"/>
              <a:buAutoNum type="arabicParenR"/>
            </a:pPr>
            <a:endParaRPr lang="en-US" sz="3000" dirty="0"/>
          </a:p>
          <a:p>
            <a:pPr marL="742950" indent="-742950">
              <a:buFont typeface="+mj-lt"/>
              <a:buAutoNum type="arabicParenR"/>
            </a:pPr>
            <a:r>
              <a:rPr lang="en-US" sz="3000" dirty="0"/>
              <a:t>Animal / Mechanistic Data</a:t>
            </a:r>
          </a:p>
          <a:p>
            <a:pPr marL="742950" indent="-742950">
              <a:buFont typeface="+mj-lt"/>
              <a:buAutoNum type="arabicParenR"/>
            </a:pPr>
            <a:endParaRPr lang="en-US" sz="3000" dirty="0"/>
          </a:p>
          <a:p>
            <a:pPr marL="742950" indent="-742950">
              <a:buFont typeface="+mj-lt"/>
              <a:buAutoNum type="arabicParenR"/>
            </a:pPr>
            <a:r>
              <a:rPr lang="en-US" sz="3000" dirty="0"/>
              <a:t>Study Concept</a:t>
            </a:r>
          </a:p>
        </p:txBody>
      </p:sp>
    </p:spTree>
    <p:extLst>
      <p:ext uri="{BB962C8B-B14F-4D97-AF65-F5344CB8AC3E}">
        <p14:creationId xmlns:p14="http://schemas.microsoft.com/office/powerpoint/2010/main" val="435539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0BCB4E5E-30EF-42A3-A10F-51D206B6D77F}"/>
              </a:ext>
            </a:extLst>
          </p:cNvPr>
          <p:cNvSpPr>
            <a:spLocks noGrp="1"/>
          </p:cNvSpPr>
          <p:nvPr>
            <p:ph type="title"/>
          </p:nvPr>
        </p:nvSpPr>
        <p:spPr/>
        <p:txBody>
          <a:bodyPr/>
          <a:lstStyle/>
          <a:p>
            <a:r>
              <a:rPr lang="en-US" sz="3400"/>
              <a:t>Annual Number of </a:t>
            </a:r>
            <a:r>
              <a:rPr lang="en-US" sz="3600"/>
              <a:t>HCT</a:t>
            </a:r>
            <a:r>
              <a:rPr lang="en-US" sz="3400"/>
              <a:t> Recipients in the US by Transplant Type</a:t>
            </a:r>
            <a:endParaRPr lang="en-US" sz="3400" dirty="0"/>
          </a:p>
        </p:txBody>
      </p:sp>
      <p:pic>
        <p:nvPicPr>
          <p:cNvPr id="3" name="Picture 2">
            <a:extLst>
              <a:ext uri="{FF2B5EF4-FFF2-40B4-BE49-F238E27FC236}">
                <a16:creationId xmlns:a16="http://schemas.microsoft.com/office/drawing/2014/main" id="{893297CD-F3E4-4CAD-B141-E5AC4514C7EB}"/>
              </a:ext>
            </a:extLst>
          </p:cNvPr>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051506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971EBED1-482A-467F-BA78-AF9677379B86}"/>
              </a:ext>
            </a:extLst>
          </p:cNvPr>
          <p:cNvSpPr>
            <a:spLocks noGrp="1"/>
          </p:cNvSpPr>
          <p:nvPr>
            <p:ph type="title"/>
          </p:nvPr>
        </p:nvSpPr>
        <p:spPr/>
        <p:txBody>
          <a:bodyPr/>
          <a:lstStyle/>
          <a:p>
            <a:r>
              <a:rPr lang="en-US"/>
              <a:t>Indications for Hematopoietic Cell Transplant in the US, 2017</a:t>
            </a:r>
            <a:endParaRPr lang="en-US" dirty="0"/>
          </a:p>
        </p:txBody>
      </p:sp>
      <p:pic>
        <p:nvPicPr>
          <p:cNvPr id="3" name="Picture 2">
            <a:extLst>
              <a:ext uri="{FF2B5EF4-FFF2-40B4-BE49-F238E27FC236}">
                <a16:creationId xmlns:a16="http://schemas.microsoft.com/office/drawing/2014/main" id="{FDB3304C-17F8-4CFE-A2BC-5179782D82A8}"/>
              </a:ext>
            </a:extLst>
          </p:cNvPr>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64823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ASCT and Graft vs. Host Disease</a:t>
            </a:r>
          </a:p>
        </p:txBody>
      </p:sp>
      <p:pic>
        <p:nvPicPr>
          <p:cNvPr id="11" name="Picture 10">
            <a:extLst>
              <a:ext uri="{FF2B5EF4-FFF2-40B4-BE49-F238E27FC236}">
                <a16:creationId xmlns:a16="http://schemas.microsoft.com/office/drawing/2014/main" id="{C2E56B1F-BF29-46CC-B8DC-45007E2E292D}"/>
              </a:ext>
            </a:extLst>
          </p:cNvPr>
          <p:cNvPicPr>
            <a:picLocks noChangeAspect="1"/>
          </p:cNvPicPr>
          <p:nvPr/>
        </p:nvPicPr>
        <p:blipFill>
          <a:blip r:embed="rId2"/>
          <a:stretch>
            <a:fillRect/>
          </a:stretch>
        </p:blipFill>
        <p:spPr>
          <a:xfrm flipH="1">
            <a:off x="3501248" y="1773661"/>
            <a:ext cx="897145" cy="2277611"/>
          </a:xfrm>
          <a:prstGeom prst="rect">
            <a:avLst/>
          </a:prstGeom>
        </p:spPr>
      </p:pic>
      <p:sp>
        <p:nvSpPr>
          <p:cNvPr id="12" name="TextBox 11">
            <a:extLst>
              <a:ext uri="{FF2B5EF4-FFF2-40B4-BE49-F238E27FC236}">
                <a16:creationId xmlns:a16="http://schemas.microsoft.com/office/drawing/2014/main" id="{E63E18E6-ADCF-4D76-966B-943A9C74EA1C}"/>
              </a:ext>
            </a:extLst>
          </p:cNvPr>
          <p:cNvSpPr txBox="1"/>
          <p:nvPr/>
        </p:nvSpPr>
        <p:spPr>
          <a:xfrm>
            <a:off x="3505615" y="2240266"/>
            <a:ext cx="897145" cy="276999"/>
          </a:xfrm>
          <a:prstGeom prst="rect">
            <a:avLst/>
          </a:prstGeom>
          <a:noFill/>
        </p:spPr>
        <p:txBody>
          <a:bodyPr wrap="square" rtlCol="0">
            <a:spAutoFit/>
          </a:bodyPr>
          <a:lstStyle/>
          <a:p>
            <a:pPr algn="ctr"/>
            <a:r>
              <a:rPr lang="en-US" sz="1200" dirty="0">
                <a:solidFill>
                  <a:srgbClr val="0070C0"/>
                </a:solidFill>
              </a:rPr>
              <a:t>Recipient</a:t>
            </a:r>
          </a:p>
        </p:txBody>
      </p:sp>
      <p:pic>
        <p:nvPicPr>
          <p:cNvPr id="13" name="Picture 12">
            <a:extLst>
              <a:ext uri="{FF2B5EF4-FFF2-40B4-BE49-F238E27FC236}">
                <a16:creationId xmlns:a16="http://schemas.microsoft.com/office/drawing/2014/main" id="{8298D6A2-1FAA-43F4-9407-1057327B7D9E}"/>
              </a:ext>
            </a:extLst>
          </p:cNvPr>
          <p:cNvPicPr>
            <a:picLocks noChangeAspect="1"/>
          </p:cNvPicPr>
          <p:nvPr/>
        </p:nvPicPr>
        <p:blipFill>
          <a:blip r:embed="rId2"/>
          <a:stretch>
            <a:fillRect/>
          </a:stretch>
        </p:blipFill>
        <p:spPr>
          <a:xfrm flipH="1">
            <a:off x="1136307" y="1726409"/>
            <a:ext cx="897145" cy="2277611"/>
          </a:xfrm>
          <a:prstGeom prst="rect">
            <a:avLst/>
          </a:prstGeom>
        </p:spPr>
      </p:pic>
      <p:sp>
        <p:nvSpPr>
          <p:cNvPr id="14" name="TextBox 13">
            <a:extLst>
              <a:ext uri="{FF2B5EF4-FFF2-40B4-BE49-F238E27FC236}">
                <a16:creationId xmlns:a16="http://schemas.microsoft.com/office/drawing/2014/main" id="{4D612E64-2E16-4D73-A326-0A3B489B82CA}"/>
              </a:ext>
            </a:extLst>
          </p:cNvPr>
          <p:cNvSpPr txBox="1"/>
          <p:nvPr/>
        </p:nvSpPr>
        <p:spPr>
          <a:xfrm>
            <a:off x="1245772" y="2167320"/>
            <a:ext cx="669268" cy="276999"/>
          </a:xfrm>
          <a:prstGeom prst="rect">
            <a:avLst/>
          </a:prstGeom>
          <a:noFill/>
        </p:spPr>
        <p:txBody>
          <a:bodyPr wrap="square" rtlCol="0">
            <a:spAutoFit/>
          </a:bodyPr>
          <a:lstStyle/>
          <a:p>
            <a:pPr algn="ctr"/>
            <a:r>
              <a:rPr lang="en-US" sz="1200" dirty="0">
                <a:solidFill>
                  <a:srgbClr val="FF0000"/>
                </a:solidFill>
              </a:rPr>
              <a:t>Donor</a:t>
            </a:r>
          </a:p>
        </p:txBody>
      </p:sp>
      <p:pic>
        <p:nvPicPr>
          <p:cNvPr id="15" name="Picture 6" descr="Image result for blood bag outline">
            <a:extLst>
              <a:ext uri="{FF2B5EF4-FFF2-40B4-BE49-F238E27FC236}">
                <a16:creationId xmlns:a16="http://schemas.microsoft.com/office/drawing/2014/main" id="{9008112D-4BB0-425E-B9F2-D8BFCCC4BE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5558" y="2149069"/>
            <a:ext cx="763398" cy="76339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E4DC5BAC-E489-4ECB-92DD-26B3ECE70928}"/>
              </a:ext>
            </a:extLst>
          </p:cNvPr>
          <p:cNvCxnSpPr>
            <a:cxnSpLocks/>
          </p:cNvCxnSpPr>
          <p:nvPr/>
        </p:nvCxnSpPr>
        <p:spPr>
          <a:xfrm>
            <a:off x="2658956" y="2707931"/>
            <a:ext cx="74600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AAEEF829-EE38-4008-8590-D5DB5251D111}"/>
              </a:ext>
            </a:extLst>
          </p:cNvPr>
          <p:cNvSpPr txBox="1"/>
          <p:nvPr/>
        </p:nvSpPr>
        <p:spPr>
          <a:xfrm>
            <a:off x="2766279" y="2364285"/>
            <a:ext cx="651928" cy="369332"/>
          </a:xfrm>
          <a:prstGeom prst="rect">
            <a:avLst/>
          </a:prstGeom>
          <a:noFill/>
        </p:spPr>
        <p:txBody>
          <a:bodyPr wrap="square" rtlCol="0">
            <a:spAutoFit/>
          </a:bodyPr>
          <a:lstStyle/>
          <a:p>
            <a:r>
              <a:rPr lang="en-US" dirty="0"/>
              <a:t>SCT</a:t>
            </a:r>
          </a:p>
        </p:txBody>
      </p:sp>
      <p:cxnSp>
        <p:nvCxnSpPr>
          <p:cNvPr id="18" name="Straight Arrow Connector 17">
            <a:extLst>
              <a:ext uri="{FF2B5EF4-FFF2-40B4-BE49-F238E27FC236}">
                <a16:creationId xmlns:a16="http://schemas.microsoft.com/office/drawing/2014/main" id="{84E7B277-EE14-406E-8371-39D401E466EF}"/>
              </a:ext>
            </a:extLst>
          </p:cNvPr>
          <p:cNvCxnSpPr>
            <a:cxnSpLocks/>
          </p:cNvCxnSpPr>
          <p:nvPr/>
        </p:nvCxnSpPr>
        <p:spPr>
          <a:xfrm>
            <a:off x="4572000" y="2733617"/>
            <a:ext cx="20935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21AF4AF9-0938-4E73-8458-240FD5B5FEBF}"/>
              </a:ext>
            </a:extLst>
          </p:cNvPr>
          <p:cNvSpPr txBox="1"/>
          <p:nvPr/>
        </p:nvSpPr>
        <p:spPr>
          <a:xfrm>
            <a:off x="6882911" y="2426607"/>
            <a:ext cx="1335505" cy="646331"/>
          </a:xfrm>
          <a:prstGeom prst="rect">
            <a:avLst/>
          </a:prstGeom>
          <a:noFill/>
        </p:spPr>
        <p:txBody>
          <a:bodyPr wrap="square" rtlCol="0">
            <a:spAutoFit/>
          </a:bodyPr>
          <a:lstStyle/>
          <a:p>
            <a:r>
              <a:rPr lang="en-US" dirty="0"/>
              <a:t>+/- acute GVHD</a:t>
            </a:r>
          </a:p>
        </p:txBody>
      </p:sp>
      <p:sp>
        <p:nvSpPr>
          <p:cNvPr id="7" name="Rectangle 6">
            <a:extLst>
              <a:ext uri="{FF2B5EF4-FFF2-40B4-BE49-F238E27FC236}">
                <a16:creationId xmlns:a16="http://schemas.microsoft.com/office/drawing/2014/main" id="{E3743035-0C79-4C61-A25E-6A7104EC6EE2}"/>
              </a:ext>
            </a:extLst>
          </p:cNvPr>
          <p:cNvSpPr/>
          <p:nvPr/>
        </p:nvSpPr>
        <p:spPr>
          <a:xfrm>
            <a:off x="725628" y="4017185"/>
            <a:ext cx="7492788" cy="2126864"/>
          </a:xfrm>
          <a:prstGeom prst="rect">
            <a:avLst/>
          </a:prstGeom>
        </p:spPr>
        <p:txBody>
          <a:bodyPr wrap="square">
            <a:spAutoFit/>
          </a:bodyPr>
          <a:lstStyle/>
          <a:p>
            <a:pPr>
              <a:lnSpc>
                <a:spcPct val="150000"/>
              </a:lnSpc>
            </a:pPr>
            <a:r>
              <a:rPr lang="en-US" dirty="0"/>
              <a:t>*ASCT used to treat a variety of malignant and benign hematologic conditions</a:t>
            </a:r>
          </a:p>
          <a:p>
            <a:pPr>
              <a:lnSpc>
                <a:spcPct val="150000"/>
              </a:lnSpc>
            </a:pPr>
            <a:r>
              <a:rPr lang="en-US" dirty="0"/>
              <a:t>*GVHD: donor immune system attacks genetically disparate recipient</a:t>
            </a:r>
          </a:p>
          <a:p>
            <a:pPr>
              <a:lnSpc>
                <a:spcPct val="150000"/>
              </a:lnSpc>
            </a:pPr>
            <a:r>
              <a:rPr lang="en-US" dirty="0"/>
              <a:t>*Acute GVHD vs. Chronic GVHD</a:t>
            </a:r>
          </a:p>
          <a:p>
            <a:pPr>
              <a:lnSpc>
                <a:spcPct val="150000"/>
              </a:lnSpc>
            </a:pPr>
            <a:r>
              <a:rPr lang="en-US" dirty="0"/>
              <a:t>*20-60%: risk of acute GVHD grade 2+ (depending on type of transplant)</a:t>
            </a:r>
          </a:p>
          <a:p>
            <a:pPr>
              <a:lnSpc>
                <a:spcPct val="150000"/>
              </a:lnSpc>
            </a:pPr>
            <a:r>
              <a:rPr lang="en-US" dirty="0"/>
              <a:t>*40-50%: response rate to first-line treatment with high-dose steroids</a:t>
            </a:r>
          </a:p>
        </p:txBody>
      </p:sp>
      <p:sp>
        <p:nvSpPr>
          <p:cNvPr id="20" name="TextBox 19">
            <a:extLst>
              <a:ext uri="{FF2B5EF4-FFF2-40B4-BE49-F238E27FC236}">
                <a16:creationId xmlns:a16="http://schemas.microsoft.com/office/drawing/2014/main" id="{7D9C7C5A-17A3-4FD0-AC0F-5BA4ECC77F64}"/>
              </a:ext>
            </a:extLst>
          </p:cNvPr>
          <p:cNvSpPr txBox="1"/>
          <p:nvPr/>
        </p:nvSpPr>
        <p:spPr>
          <a:xfrm>
            <a:off x="2240023" y="3199992"/>
            <a:ext cx="1528011" cy="369332"/>
          </a:xfrm>
          <a:prstGeom prst="rect">
            <a:avLst/>
          </a:prstGeom>
          <a:noFill/>
        </p:spPr>
        <p:txBody>
          <a:bodyPr wrap="square" rtlCol="0">
            <a:spAutoFit/>
          </a:bodyPr>
          <a:lstStyle/>
          <a:p>
            <a:pPr algn="ctr"/>
            <a:r>
              <a:rPr lang="en-US" dirty="0"/>
              <a:t>Conditioning</a:t>
            </a:r>
          </a:p>
        </p:txBody>
      </p:sp>
      <p:sp>
        <p:nvSpPr>
          <p:cNvPr id="22" name="Right Brace 21">
            <a:extLst>
              <a:ext uri="{FF2B5EF4-FFF2-40B4-BE49-F238E27FC236}">
                <a16:creationId xmlns:a16="http://schemas.microsoft.com/office/drawing/2014/main" id="{62E8987E-4FFF-4A7C-BF73-2158480C476C}"/>
              </a:ext>
            </a:extLst>
          </p:cNvPr>
          <p:cNvSpPr/>
          <p:nvPr/>
        </p:nvSpPr>
        <p:spPr>
          <a:xfrm rot="5400000">
            <a:off x="2880339" y="2579863"/>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674790C3-6956-4902-A69A-AB9025E659E6}"/>
              </a:ext>
            </a:extLst>
          </p:cNvPr>
          <p:cNvSpPr txBox="1"/>
          <p:nvPr/>
        </p:nvSpPr>
        <p:spPr>
          <a:xfrm>
            <a:off x="4572000" y="3244334"/>
            <a:ext cx="1528011" cy="369332"/>
          </a:xfrm>
          <a:prstGeom prst="rect">
            <a:avLst/>
          </a:prstGeom>
          <a:noFill/>
        </p:spPr>
        <p:txBody>
          <a:bodyPr wrap="square" rtlCol="0">
            <a:spAutoFit/>
          </a:bodyPr>
          <a:lstStyle/>
          <a:p>
            <a:pPr algn="ctr"/>
            <a:r>
              <a:rPr lang="en-US" dirty="0"/>
              <a:t>Engraftment</a:t>
            </a:r>
          </a:p>
        </p:txBody>
      </p:sp>
      <p:sp>
        <p:nvSpPr>
          <p:cNvPr id="24" name="Right Brace 23">
            <a:extLst>
              <a:ext uri="{FF2B5EF4-FFF2-40B4-BE49-F238E27FC236}">
                <a16:creationId xmlns:a16="http://schemas.microsoft.com/office/drawing/2014/main" id="{AF113601-F025-45F2-9A5C-E816E4378132}"/>
              </a:ext>
            </a:extLst>
          </p:cNvPr>
          <p:cNvSpPr/>
          <p:nvPr/>
        </p:nvSpPr>
        <p:spPr>
          <a:xfrm rot="5400000">
            <a:off x="5212316" y="2624205"/>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5068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FECB11-03A3-4CB9-AF20-9DC6A7517822}"/>
              </a:ext>
            </a:extLst>
          </p:cNvPr>
          <p:cNvSpPr>
            <a:spLocks noGrp="1"/>
          </p:cNvSpPr>
          <p:nvPr>
            <p:ph type="title"/>
          </p:nvPr>
        </p:nvSpPr>
        <p:spPr/>
        <p:txBody>
          <a:bodyPr/>
          <a:lstStyle/>
          <a:p>
            <a:r>
              <a:rPr lang="en-US" dirty="0"/>
              <a:t>Pathogenesis of Acute GVHD</a:t>
            </a:r>
          </a:p>
        </p:txBody>
      </p:sp>
      <p:pic>
        <p:nvPicPr>
          <p:cNvPr id="6" name="Picture 5">
            <a:extLst>
              <a:ext uri="{FF2B5EF4-FFF2-40B4-BE49-F238E27FC236}">
                <a16:creationId xmlns:a16="http://schemas.microsoft.com/office/drawing/2014/main" id="{546F5F3E-F870-4637-9831-3FEF39E69315}"/>
              </a:ext>
            </a:extLst>
          </p:cNvPr>
          <p:cNvPicPr>
            <a:picLocks noChangeAspect="1"/>
          </p:cNvPicPr>
          <p:nvPr/>
        </p:nvPicPr>
        <p:blipFill>
          <a:blip r:embed="rId3"/>
          <a:stretch>
            <a:fillRect/>
          </a:stretch>
        </p:blipFill>
        <p:spPr>
          <a:xfrm>
            <a:off x="1281344" y="1463673"/>
            <a:ext cx="6705600" cy="5029200"/>
          </a:xfrm>
          <a:prstGeom prst="rect">
            <a:avLst/>
          </a:prstGeom>
        </p:spPr>
      </p:pic>
    </p:spTree>
    <p:extLst>
      <p:ext uri="{BB962C8B-B14F-4D97-AF65-F5344CB8AC3E}">
        <p14:creationId xmlns:p14="http://schemas.microsoft.com/office/powerpoint/2010/main" val="1954200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C806C8-CF43-4EF0-96DF-B295E08E56FE}"/>
              </a:ext>
            </a:extLst>
          </p:cNvPr>
          <p:cNvSpPr>
            <a:spLocks noGrp="1"/>
          </p:cNvSpPr>
          <p:nvPr>
            <p:ph type="title"/>
          </p:nvPr>
        </p:nvSpPr>
        <p:spPr/>
        <p:txBody>
          <a:bodyPr/>
          <a:lstStyle/>
          <a:p>
            <a:r>
              <a:rPr lang="en-US" dirty="0"/>
              <a:t>Outline</a:t>
            </a:r>
          </a:p>
        </p:txBody>
      </p:sp>
      <p:sp>
        <p:nvSpPr>
          <p:cNvPr id="6" name="TextBox 5">
            <a:extLst>
              <a:ext uri="{FF2B5EF4-FFF2-40B4-BE49-F238E27FC236}">
                <a16:creationId xmlns:a16="http://schemas.microsoft.com/office/drawing/2014/main" id="{2B7AAF52-CEC5-4643-9465-EEC77031BAC6}"/>
              </a:ext>
            </a:extLst>
          </p:cNvPr>
          <p:cNvSpPr txBox="1"/>
          <p:nvPr/>
        </p:nvSpPr>
        <p:spPr>
          <a:xfrm>
            <a:off x="0" y="1860199"/>
            <a:ext cx="760164" cy="45719"/>
          </a:xfrm>
          <a:prstGeom prst="rect">
            <a:avLst/>
          </a:prstGeom>
        </p:spPr>
        <p:txBody>
          <a:bodyPr vert="horz" wrap="square" lIns="91440" tIns="45720" rIns="91440" bIns="45720" rtlCol="0" anchor="ctr">
            <a:noAutofit/>
          </a:bodyPr>
          <a:lstStyle/>
          <a:p>
            <a:endParaRPr lang="en-US" sz="4000" dirty="0"/>
          </a:p>
        </p:txBody>
      </p:sp>
      <p:sp>
        <p:nvSpPr>
          <p:cNvPr id="7" name="TextBox 6">
            <a:extLst>
              <a:ext uri="{FF2B5EF4-FFF2-40B4-BE49-F238E27FC236}">
                <a16:creationId xmlns:a16="http://schemas.microsoft.com/office/drawing/2014/main" id="{F4651C35-302C-4F17-A2F3-74539B7DB51D}"/>
              </a:ext>
            </a:extLst>
          </p:cNvPr>
          <p:cNvSpPr txBox="1"/>
          <p:nvPr/>
        </p:nvSpPr>
        <p:spPr>
          <a:xfrm>
            <a:off x="429658" y="1509311"/>
            <a:ext cx="7886700" cy="4549966"/>
          </a:xfrm>
          <a:prstGeom prst="rect">
            <a:avLst/>
          </a:prstGeom>
        </p:spPr>
        <p:txBody>
          <a:bodyPr vert="horz" wrap="square" lIns="91440" tIns="45720" rIns="91440" bIns="45720" rtlCol="0" anchor="ctr">
            <a:noAutofit/>
          </a:bodyPr>
          <a:lstStyle/>
          <a:p>
            <a:endParaRPr lang="en-US" sz="4000" dirty="0"/>
          </a:p>
        </p:txBody>
      </p:sp>
      <p:sp>
        <p:nvSpPr>
          <p:cNvPr id="8" name="TextBox 7">
            <a:extLst>
              <a:ext uri="{FF2B5EF4-FFF2-40B4-BE49-F238E27FC236}">
                <a16:creationId xmlns:a16="http://schemas.microsoft.com/office/drawing/2014/main" id="{0F9F0674-B290-46D9-8C22-08F1D68606DA}"/>
              </a:ext>
            </a:extLst>
          </p:cNvPr>
          <p:cNvSpPr txBox="1"/>
          <p:nvPr/>
        </p:nvSpPr>
        <p:spPr>
          <a:xfrm>
            <a:off x="495071" y="1911426"/>
            <a:ext cx="8086380" cy="3745735"/>
          </a:xfrm>
          <a:prstGeom prst="rect">
            <a:avLst/>
          </a:prstGeom>
        </p:spPr>
        <p:txBody>
          <a:bodyPr vert="horz" wrap="none" lIns="91440" tIns="45720" rIns="91440" bIns="45720" rtlCol="0" anchor="t">
            <a:noAutofit/>
          </a:bodyPr>
          <a:lstStyle/>
          <a:p>
            <a:pPr marL="742950" indent="-742950">
              <a:buFont typeface="+mj-lt"/>
              <a:buAutoNum type="arabicParenR"/>
            </a:pPr>
            <a:r>
              <a:rPr lang="en-US" sz="3000" dirty="0"/>
              <a:t>Brief primer on transplant and GVHD</a:t>
            </a:r>
          </a:p>
          <a:p>
            <a:pPr marL="742950" indent="-742950">
              <a:buFont typeface="+mj-lt"/>
              <a:buAutoNum type="arabicParenR"/>
            </a:pPr>
            <a:endParaRPr lang="en-US" sz="3000" dirty="0"/>
          </a:p>
          <a:p>
            <a:pPr marL="742950" indent="-742950">
              <a:buFont typeface="+mj-lt"/>
              <a:buAutoNum type="arabicParenR"/>
            </a:pPr>
            <a:r>
              <a:rPr lang="en-US" sz="3000" dirty="0">
                <a:solidFill>
                  <a:srgbClr val="FF0000"/>
                </a:solidFill>
              </a:rPr>
              <a:t>Phase I Clinical Data</a:t>
            </a:r>
          </a:p>
          <a:p>
            <a:pPr marL="742950" indent="-742950">
              <a:buFont typeface="+mj-lt"/>
              <a:buAutoNum type="arabicParenR"/>
            </a:pPr>
            <a:endParaRPr lang="en-US" sz="3000" dirty="0"/>
          </a:p>
          <a:p>
            <a:pPr marL="742950" indent="-742950">
              <a:buFont typeface="+mj-lt"/>
              <a:buAutoNum type="arabicParenR"/>
            </a:pPr>
            <a:r>
              <a:rPr lang="en-US" sz="3000" dirty="0"/>
              <a:t>Animal / Mechanistic Data</a:t>
            </a:r>
          </a:p>
          <a:p>
            <a:pPr marL="742950" indent="-742950">
              <a:buFont typeface="+mj-lt"/>
              <a:buAutoNum type="arabicParenR"/>
            </a:pPr>
            <a:endParaRPr lang="en-US" sz="3000" dirty="0"/>
          </a:p>
          <a:p>
            <a:pPr marL="742950" indent="-742950">
              <a:buFont typeface="+mj-lt"/>
              <a:buAutoNum type="arabicParenR"/>
            </a:pPr>
            <a:r>
              <a:rPr lang="en-US" sz="3000" dirty="0"/>
              <a:t>Study Concept</a:t>
            </a:r>
          </a:p>
        </p:txBody>
      </p:sp>
    </p:spTree>
    <p:extLst>
      <p:ext uri="{BB962C8B-B14F-4D97-AF65-F5344CB8AC3E}">
        <p14:creationId xmlns:p14="http://schemas.microsoft.com/office/powerpoint/2010/main" val="3721849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FECB11-03A3-4CB9-AF20-9DC6A7517822}"/>
              </a:ext>
            </a:extLst>
          </p:cNvPr>
          <p:cNvSpPr>
            <a:spLocks noGrp="1"/>
          </p:cNvSpPr>
          <p:nvPr>
            <p:ph type="title"/>
          </p:nvPr>
        </p:nvSpPr>
        <p:spPr>
          <a:xfrm>
            <a:off x="573565" y="354110"/>
            <a:ext cx="8221662" cy="916474"/>
          </a:xfrm>
        </p:spPr>
        <p:txBody>
          <a:bodyPr>
            <a:normAutofit/>
          </a:bodyPr>
          <a:lstStyle/>
          <a:p>
            <a:r>
              <a:rPr lang="en-US" sz="3000" dirty="0"/>
              <a:t>Identification of Uric Acid as Endogenous Adjuvant</a:t>
            </a:r>
          </a:p>
        </p:txBody>
      </p:sp>
      <p:pic>
        <p:nvPicPr>
          <p:cNvPr id="5" name="Picture 2" descr="http://www.sigmaaldrich.com/medium/structureimages/12/mfcd00005712.png">
            <a:extLst>
              <a:ext uri="{FF2B5EF4-FFF2-40B4-BE49-F238E27FC236}">
                <a16:creationId xmlns:a16="http://schemas.microsoft.com/office/drawing/2014/main" id="{48A51E73-BE0E-4149-8459-339170FADEB3}"/>
              </a:ext>
            </a:extLst>
          </p:cNvPr>
          <p:cNvPicPr>
            <a:picLocks noChangeAspect="1" noChangeArrowheads="1"/>
          </p:cNvPicPr>
          <p:nvPr/>
        </p:nvPicPr>
        <p:blipFill>
          <a:blip r:embed="rId3"/>
          <a:srcRect/>
          <a:stretch>
            <a:fillRect/>
          </a:stretch>
        </p:blipFill>
        <p:spPr bwMode="auto">
          <a:xfrm>
            <a:off x="1069975" y="3836988"/>
            <a:ext cx="2093912" cy="1557337"/>
          </a:xfrm>
          <a:prstGeom prst="rect">
            <a:avLst/>
          </a:prstGeom>
          <a:noFill/>
          <a:ln w="9525">
            <a:noFill/>
            <a:miter lim="800000"/>
            <a:headEnd/>
            <a:tailEnd/>
          </a:ln>
        </p:spPr>
      </p:pic>
      <p:pic>
        <p:nvPicPr>
          <p:cNvPr id="7" name="Picture 7">
            <a:extLst>
              <a:ext uri="{FF2B5EF4-FFF2-40B4-BE49-F238E27FC236}">
                <a16:creationId xmlns:a16="http://schemas.microsoft.com/office/drawing/2014/main" id="{742AB816-5B6C-4E44-B7D0-33F544668D80}"/>
              </a:ext>
            </a:extLst>
          </p:cNvPr>
          <p:cNvPicPr>
            <a:picLocks noChangeAspect="1" noChangeArrowheads="1"/>
          </p:cNvPicPr>
          <p:nvPr/>
        </p:nvPicPr>
        <p:blipFill>
          <a:blip r:embed="rId4"/>
          <a:srcRect/>
          <a:stretch>
            <a:fillRect/>
          </a:stretch>
        </p:blipFill>
        <p:spPr bwMode="auto">
          <a:xfrm>
            <a:off x="214312" y="2249488"/>
            <a:ext cx="4202113" cy="1400175"/>
          </a:xfrm>
          <a:prstGeom prst="rect">
            <a:avLst/>
          </a:prstGeom>
          <a:noFill/>
          <a:ln w="9525">
            <a:noFill/>
            <a:miter lim="800000"/>
            <a:headEnd/>
            <a:tailEnd/>
          </a:ln>
        </p:spPr>
      </p:pic>
      <p:pic>
        <p:nvPicPr>
          <p:cNvPr id="8" name="Picture 8">
            <a:extLst>
              <a:ext uri="{FF2B5EF4-FFF2-40B4-BE49-F238E27FC236}">
                <a16:creationId xmlns:a16="http://schemas.microsoft.com/office/drawing/2014/main" id="{DE838F64-88A6-4BBA-BB2D-997B72796B3C}"/>
              </a:ext>
            </a:extLst>
          </p:cNvPr>
          <p:cNvPicPr>
            <a:picLocks noChangeAspect="1" noChangeArrowheads="1"/>
          </p:cNvPicPr>
          <p:nvPr/>
        </p:nvPicPr>
        <p:blipFill>
          <a:blip r:embed="rId5"/>
          <a:srcRect/>
          <a:stretch>
            <a:fillRect/>
          </a:stretch>
        </p:blipFill>
        <p:spPr bwMode="auto">
          <a:xfrm>
            <a:off x="268287" y="1789113"/>
            <a:ext cx="2181225" cy="441325"/>
          </a:xfrm>
          <a:prstGeom prst="rect">
            <a:avLst/>
          </a:prstGeom>
          <a:noFill/>
          <a:ln w="9525">
            <a:noFill/>
            <a:miter lim="800000"/>
            <a:headEnd/>
            <a:tailEnd/>
          </a:ln>
        </p:spPr>
      </p:pic>
      <p:cxnSp>
        <p:nvCxnSpPr>
          <p:cNvPr id="9" name="Straight Connector 8">
            <a:extLst>
              <a:ext uri="{FF2B5EF4-FFF2-40B4-BE49-F238E27FC236}">
                <a16:creationId xmlns:a16="http://schemas.microsoft.com/office/drawing/2014/main" id="{B3B680B8-EB21-414F-8B07-8EBB3FDA4FB9}"/>
              </a:ext>
            </a:extLst>
          </p:cNvPr>
          <p:cNvCxnSpPr/>
          <p:nvPr/>
        </p:nvCxnSpPr>
        <p:spPr>
          <a:xfrm>
            <a:off x="4529137" y="1384300"/>
            <a:ext cx="33338" cy="51101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28">
            <a:extLst>
              <a:ext uri="{FF2B5EF4-FFF2-40B4-BE49-F238E27FC236}">
                <a16:creationId xmlns:a16="http://schemas.microsoft.com/office/drawing/2014/main" id="{DD646F72-B61B-4E58-AEC1-BB09AFE4A639}"/>
              </a:ext>
            </a:extLst>
          </p:cNvPr>
          <p:cNvSpPr txBox="1">
            <a:spLocks noChangeArrowheads="1"/>
          </p:cNvSpPr>
          <p:nvPr/>
        </p:nvSpPr>
        <p:spPr bwMode="auto">
          <a:xfrm>
            <a:off x="150812" y="6065838"/>
            <a:ext cx="2851150" cy="276225"/>
          </a:xfrm>
          <a:prstGeom prst="rect">
            <a:avLst/>
          </a:prstGeom>
          <a:noFill/>
          <a:ln w="9525">
            <a:noFill/>
            <a:miter lim="800000"/>
            <a:headEnd/>
            <a:tailEnd/>
          </a:ln>
        </p:spPr>
        <p:txBody>
          <a:bodyPr>
            <a:spAutoFit/>
          </a:bodyPr>
          <a:lstStyle/>
          <a:p>
            <a:r>
              <a:rPr lang="en-US" sz="1200" dirty="0">
                <a:latin typeface="Corbel" pitchFamily="34" charset="0"/>
              </a:rPr>
              <a:t>[1] Shi Y, </a:t>
            </a:r>
            <a:r>
              <a:rPr lang="en-US" sz="1200" i="1" dirty="0">
                <a:latin typeface="Corbel" pitchFamily="34" charset="0"/>
              </a:rPr>
              <a:t>et al</a:t>
            </a:r>
            <a:r>
              <a:rPr lang="en-US" sz="1200" dirty="0">
                <a:latin typeface="Corbel" pitchFamily="34" charset="0"/>
              </a:rPr>
              <a:t>. </a:t>
            </a:r>
            <a:r>
              <a:rPr lang="en-US" sz="1200" i="1" dirty="0">
                <a:latin typeface="Corbel" pitchFamily="34" charset="0"/>
              </a:rPr>
              <a:t>Nature.</a:t>
            </a:r>
            <a:r>
              <a:rPr lang="en-US" sz="1200" dirty="0">
                <a:latin typeface="Corbel" pitchFamily="34" charset="0"/>
              </a:rPr>
              <a:t> 2003;425:516-521.</a:t>
            </a:r>
          </a:p>
        </p:txBody>
      </p:sp>
      <p:sp>
        <p:nvSpPr>
          <p:cNvPr id="11" name="TextBox 20">
            <a:extLst>
              <a:ext uri="{FF2B5EF4-FFF2-40B4-BE49-F238E27FC236}">
                <a16:creationId xmlns:a16="http://schemas.microsoft.com/office/drawing/2014/main" id="{EDE257F9-0F9E-43DF-A3CF-C5FF95533705}"/>
              </a:ext>
            </a:extLst>
          </p:cNvPr>
          <p:cNvSpPr txBox="1">
            <a:spLocks noChangeArrowheads="1"/>
          </p:cNvSpPr>
          <p:nvPr/>
        </p:nvSpPr>
        <p:spPr bwMode="auto">
          <a:xfrm>
            <a:off x="1500187" y="5440363"/>
            <a:ext cx="1052513" cy="369887"/>
          </a:xfrm>
          <a:prstGeom prst="rect">
            <a:avLst/>
          </a:prstGeom>
          <a:noFill/>
          <a:ln w="9525">
            <a:noFill/>
            <a:miter lim="800000"/>
            <a:headEnd/>
            <a:tailEnd/>
          </a:ln>
        </p:spPr>
        <p:txBody>
          <a:bodyPr>
            <a:spAutoFit/>
          </a:bodyPr>
          <a:lstStyle/>
          <a:p>
            <a:r>
              <a:rPr lang="en-US">
                <a:latin typeface="Corbel" pitchFamily="34" charset="0"/>
              </a:rPr>
              <a:t>Uric Acid</a:t>
            </a:r>
          </a:p>
        </p:txBody>
      </p:sp>
      <p:sp>
        <p:nvSpPr>
          <p:cNvPr id="12" name="Rectangle 11">
            <a:extLst>
              <a:ext uri="{FF2B5EF4-FFF2-40B4-BE49-F238E27FC236}">
                <a16:creationId xmlns:a16="http://schemas.microsoft.com/office/drawing/2014/main" id="{61D160B1-BAEA-49FA-93AD-E7DE7595878C}"/>
              </a:ext>
            </a:extLst>
          </p:cNvPr>
          <p:cNvSpPr>
            <a:spLocks noChangeArrowheads="1"/>
          </p:cNvSpPr>
          <p:nvPr/>
        </p:nvSpPr>
        <p:spPr bwMode="auto">
          <a:xfrm>
            <a:off x="4683125" y="1647825"/>
            <a:ext cx="4124325" cy="585788"/>
          </a:xfrm>
          <a:prstGeom prst="rect">
            <a:avLst/>
          </a:prstGeom>
          <a:noFill/>
          <a:ln w="9525">
            <a:noFill/>
            <a:miter lim="800000"/>
            <a:headEnd/>
            <a:tailEnd/>
          </a:ln>
        </p:spPr>
        <p:txBody>
          <a:bodyPr>
            <a:spAutoFit/>
          </a:bodyPr>
          <a:lstStyle/>
          <a:p>
            <a:r>
              <a:rPr lang="en-US" sz="1600" dirty="0">
                <a:latin typeface="Corbel" pitchFamily="34" charset="0"/>
              </a:rPr>
              <a:t>CTL priming in mice reduced by 90% in those treated with allopurinol and </a:t>
            </a:r>
            <a:r>
              <a:rPr lang="en-US" sz="1600" dirty="0" err="1">
                <a:latin typeface="Corbel" pitchFamily="34" charset="0"/>
              </a:rPr>
              <a:t>uricase</a:t>
            </a:r>
            <a:r>
              <a:rPr lang="en-US" sz="1600" dirty="0">
                <a:latin typeface="Corbel" pitchFamily="34" charset="0"/>
              </a:rPr>
              <a:t> [1].</a:t>
            </a:r>
          </a:p>
        </p:txBody>
      </p:sp>
      <p:sp>
        <p:nvSpPr>
          <p:cNvPr id="13" name="Rectangle 12">
            <a:extLst>
              <a:ext uri="{FF2B5EF4-FFF2-40B4-BE49-F238E27FC236}">
                <a16:creationId xmlns:a16="http://schemas.microsoft.com/office/drawing/2014/main" id="{C14D4AB3-6E1D-476A-8A82-9020AF352C5F}"/>
              </a:ext>
            </a:extLst>
          </p:cNvPr>
          <p:cNvSpPr>
            <a:spLocks noChangeArrowheads="1"/>
          </p:cNvSpPr>
          <p:nvPr/>
        </p:nvSpPr>
        <p:spPr bwMode="auto">
          <a:xfrm>
            <a:off x="4683125" y="2408238"/>
            <a:ext cx="4167187" cy="1077912"/>
          </a:xfrm>
          <a:prstGeom prst="rect">
            <a:avLst/>
          </a:prstGeom>
          <a:noFill/>
          <a:ln w="9525">
            <a:noFill/>
            <a:miter lim="800000"/>
            <a:headEnd/>
            <a:tailEnd/>
          </a:ln>
        </p:spPr>
        <p:txBody>
          <a:bodyPr>
            <a:spAutoFit/>
          </a:bodyPr>
          <a:lstStyle/>
          <a:p>
            <a:r>
              <a:rPr lang="en-US" sz="1600">
                <a:latin typeface="Corbel" pitchFamily="34" charset="0"/>
              </a:rPr>
              <a:t>Addition of uric acid </a:t>
            </a:r>
            <a:r>
              <a:rPr lang="en-US" sz="1600" i="1">
                <a:latin typeface="Corbel" pitchFamily="34" charset="0"/>
              </a:rPr>
              <a:t>in vitro </a:t>
            </a:r>
            <a:r>
              <a:rPr lang="en-US" sz="1600">
                <a:latin typeface="Corbel" pitchFamily="34" charset="0"/>
              </a:rPr>
              <a:t>stimulated bone-marrow derived DCs to express CD86 (B7-2) and CD80 (B7-1), the effect of which was stronger than LPS [1].</a:t>
            </a:r>
          </a:p>
        </p:txBody>
      </p:sp>
      <p:sp>
        <p:nvSpPr>
          <p:cNvPr id="14" name="Rectangle 13">
            <a:extLst>
              <a:ext uri="{FF2B5EF4-FFF2-40B4-BE49-F238E27FC236}">
                <a16:creationId xmlns:a16="http://schemas.microsoft.com/office/drawing/2014/main" id="{E119F52B-2A49-4118-81F1-E76018E13023}"/>
              </a:ext>
            </a:extLst>
          </p:cNvPr>
          <p:cNvSpPr>
            <a:spLocks noChangeArrowheads="1"/>
          </p:cNvSpPr>
          <p:nvPr/>
        </p:nvSpPr>
        <p:spPr bwMode="auto">
          <a:xfrm>
            <a:off x="4683125" y="3679825"/>
            <a:ext cx="4287837" cy="1077913"/>
          </a:xfrm>
          <a:prstGeom prst="rect">
            <a:avLst/>
          </a:prstGeom>
          <a:noFill/>
          <a:ln w="9525">
            <a:noFill/>
            <a:miter lim="800000"/>
            <a:headEnd/>
            <a:tailEnd/>
          </a:ln>
        </p:spPr>
        <p:txBody>
          <a:bodyPr>
            <a:spAutoFit/>
          </a:bodyPr>
          <a:lstStyle/>
          <a:p>
            <a:r>
              <a:rPr lang="en-US" sz="1600">
                <a:latin typeface="Corbel" pitchFamily="34" charset="0"/>
              </a:rPr>
              <a:t>Tumor implants in mice undergoing immune rejection harbored increase uric acid levels, and suppression of uric acid by allopurinol or uricase inhibited tumor immune rejection [2].</a:t>
            </a:r>
          </a:p>
        </p:txBody>
      </p:sp>
      <p:sp>
        <p:nvSpPr>
          <p:cNvPr id="15" name="TextBox 33">
            <a:extLst>
              <a:ext uri="{FF2B5EF4-FFF2-40B4-BE49-F238E27FC236}">
                <a16:creationId xmlns:a16="http://schemas.microsoft.com/office/drawing/2014/main" id="{B658C284-BD22-48D8-AAB2-EA868054B788}"/>
              </a:ext>
            </a:extLst>
          </p:cNvPr>
          <p:cNvSpPr txBox="1">
            <a:spLocks noChangeArrowheads="1"/>
          </p:cNvSpPr>
          <p:nvPr/>
        </p:nvSpPr>
        <p:spPr bwMode="auto">
          <a:xfrm>
            <a:off x="4683125" y="6065838"/>
            <a:ext cx="3943350" cy="276225"/>
          </a:xfrm>
          <a:prstGeom prst="rect">
            <a:avLst/>
          </a:prstGeom>
          <a:noFill/>
          <a:ln w="9525">
            <a:noFill/>
            <a:miter lim="800000"/>
            <a:headEnd/>
            <a:tailEnd/>
          </a:ln>
        </p:spPr>
        <p:txBody>
          <a:bodyPr>
            <a:spAutoFit/>
          </a:bodyPr>
          <a:lstStyle/>
          <a:p>
            <a:r>
              <a:rPr lang="en-US" sz="1200">
                <a:latin typeface="Corbel" pitchFamily="34" charset="0"/>
              </a:rPr>
              <a:t>[2] Hu DE, </a:t>
            </a:r>
            <a:r>
              <a:rPr lang="en-US" sz="1200" i="1">
                <a:latin typeface="Corbel" pitchFamily="34" charset="0"/>
              </a:rPr>
              <a:t>et al</a:t>
            </a:r>
            <a:r>
              <a:rPr lang="en-US" sz="1200">
                <a:latin typeface="Corbel" pitchFamily="34" charset="0"/>
              </a:rPr>
              <a:t>. </a:t>
            </a:r>
            <a:r>
              <a:rPr lang="en-US" sz="1200" i="1">
                <a:latin typeface="Corbel" pitchFamily="34" charset="0"/>
              </a:rPr>
              <a:t>Cancer Res.</a:t>
            </a:r>
            <a:r>
              <a:rPr lang="en-US" sz="1200">
                <a:latin typeface="Corbel" pitchFamily="34" charset="0"/>
              </a:rPr>
              <a:t> 2004;64:5059-5062.</a:t>
            </a:r>
          </a:p>
        </p:txBody>
      </p:sp>
      <p:sp>
        <p:nvSpPr>
          <p:cNvPr id="16" name="Rectangle 15">
            <a:extLst>
              <a:ext uri="{FF2B5EF4-FFF2-40B4-BE49-F238E27FC236}">
                <a16:creationId xmlns:a16="http://schemas.microsoft.com/office/drawing/2014/main" id="{FC45E200-4767-4FCD-9127-41FF651A4775}"/>
              </a:ext>
            </a:extLst>
          </p:cNvPr>
          <p:cNvSpPr>
            <a:spLocks noChangeArrowheads="1"/>
          </p:cNvSpPr>
          <p:nvPr/>
        </p:nvSpPr>
        <p:spPr bwMode="auto">
          <a:xfrm>
            <a:off x="4689475" y="4956175"/>
            <a:ext cx="4287837" cy="831850"/>
          </a:xfrm>
          <a:prstGeom prst="rect">
            <a:avLst/>
          </a:prstGeom>
          <a:noFill/>
          <a:ln w="9525">
            <a:noFill/>
            <a:miter lim="800000"/>
            <a:headEnd/>
            <a:tailEnd/>
          </a:ln>
        </p:spPr>
        <p:txBody>
          <a:bodyPr>
            <a:spAutoFit/>
          </a:bodyPr>
          <a:lstStyle/>
          <a:p>
            <a:r>
              <a:rPr lang="en-US" sz="1600">
                <a:latin typeface="Corbel" pitchFamily="34" charset="0"/>
              </a:rPr>
              <a:t>Depletion of uric acid reduces the proliferation of autoreactive T-cells in a transgenic diabetes model [3].</a:t>
            </a:r>
          </a:p>
        </p:txBody>
      </p:sp>
      <p:sp>
        <p:nvSpPr>
          <p:cNvPr id="17" name="TextBox 35">
            <a:extLst>
              <a:ext uri="{FF2B5EF4-FFF2-40B4-BE49-F238E27FC236}">
                <a16:creationId xmlns:a16="http://schemas.microsoft.com/office/drawing/2014/main" id="{631DF658-61D7-4FC3-8002-B83D8A07D7CD}"/>
              </a:ext>
            </a:extLst>
          </p:cNvPr>
          <p:cNvSpPr txBox="1">
            <a:spLocks noChangeArrowheads="1"/>
          </p:cNvSpPr>
          <p:nvPr/>
        </p:nvSpPr>
        <p:spPr bwMode="auto">
          <a:xfrm>
            <a:off x="4683125" y="6218238"/>
            <a:ext cx="3943350" cy="276225"/>
          </a:xfrm>
          <a:prstGeom prst="rect">
            <a:avLst/>
          </a:prstGeom>
          <a:noFill/>
          <a:ln w="9525">
            <a:noFill/>
            <a:miter lim="800000"/>
            <a:headEnd/>
            <a:tailEnd/>
          </a:ln>
        </p:spPr>
        <p:txBody>
          <a:bodyPr>
            <a:spAutoFit/>
          </a:bodyPr>
          <a:lstStyle/>
          <a:p>
            <a:r>
              <a:rPr lang="en-US" sz="1200">
                <a:latin typeface="Corbel" pitchFamily="34" charset="0"/>
              </a:rPr>
              <a:t>[3] Shi Y, </a:t>
            </a:r>
            <a:r>
              <a:rPr lang="en-US" sz="1200" i="1">
                <a:latin typeface="Corbel" pitchFamily="34" charset="0"/>
              </a:rPr>
              <a:t>et al</a:t>
            </a:r>
            <a:r>
              <a:rPr lang="en-US" sz="1200">
                <a:latin typeface="Corbel" pitchFamily="34" charset="0"/>
              </a:rPr>
              <a:t>. </a:t>
            </a:r>
            <a:r>
              <a:rPr lang="en-US" sz="1200" i="1">
                <a:latin typeface="Corbel" pitchFamily="34" charset="0"/>
              </a:rPr>
              <a:t>J Immunol.</a:t>
            </a:r>
            <a:r>
              <a:rPr lang="en-US" sz="1200">
                <a:latin typeface="Corbel" pitchFamily="34" charset="0"/>
              </a:rPr>
              <a:t> 2006;176:3905-3908.</a:t>
            </a:r>
          </a:p>
        </p:txBody>
      </p:sp>
    </p:spTree>
    <p:extLst>
      <p:ext uri="{BB962C8B-B14F-4D97-AF65-F5344CB8AC3E}">
        <p14:creationId xmlns:p14="http://schemas.microsoft.com/office/powerpoint/2010/main" val="3793102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2CB8A-E0A1-438D-A82E-AEB3E7ED3343}"/>
              </a:ext>
            </a:extLst>
          </p:cNvPr>
          <p:cNvSpPr>
            <a:spLocks noGrp="1"/>
          </p:cNvSpPr>
          <p:nvPr>
            <p:ph type="title"/>
          </p:nvPr>
        </p:nvSpPr>
        <p:spPr/>
        <p:txBody>
          <a:bodyPr/>
          <a:lstStyle/>
          <a:p>
            <a:r>
              <a:rPr lang="en-US" dirty="0"/>
              <a:t>Phase I Study Design</a:t>
            </a:r>
          </a:p>
        </p:txBody>
      </p:sp>
      <p:pic>
        <p:nvPicPr>
          <p:cNvPr id="5" name="Picture 4">
            <a:extLst>
              <a:ext uri="{FF2B5EF4-FFF2-40B4-BE49-F238E27FC236}">
                <a16:creationId xmlns:a16="http://schemas.microsoft.com/office/drawing/2014/main" id="{16CAFB93-9341-43A2-B112-1C2872D6D244}"/>
              </a:ext>
            </a:extLst>
          </p:cNvPr>
          <p:cNvPicPr>
            <a:picLocks noChangeAspect="1"/>
          </p:cNvPicPr>
          <p:nvPr/>
        </p:nvPicPr>
        <p:blipFill>
          <a:blip r:embed="rId2"/>
          <a:stretch>
            <a:fillRect/>
          </a:stretch>
        </p:blipFill>
        <p:spPr>
          <a:xfrm flipH="1">
            <a:off x="3327641" y="3544947"/>
            <a:ext cx="897145" cy="2277611"/>
          </a:xfrm>
          <a:prstGeom prst="rect">
            <a:avLst/>
          </a:prstGeom>
        </p:spPr>
      </p:pic>
      <p:sp>
        <p:nvSpPr>
          <p:cNvPr id="6" name="TextBox 5">
            <a:extLst>
              <a:ext uri="{FF2B5EF4-FFF2-40B4-BE49-F238E27FC236}">
                <a16:creationId xmlns:a16="http://schemas.microsoft.com/office/drawing/2014/main" id="{C6A59A23-D179-47B1-83AE-74D006024DDD}"/>
              </a:ext>
            </a:extLst>
          </p:cNvPr>
          <p:cNvSpPr txBox="1"/>
          <p:nvPr/>
        </p:nvSpPr>
        <p:spPr>
          <a:xfrm>
            <a:off x="3332008" y="4011552"/>
            <a:ext cx="897145" cy="276999"/>
          </a:xfrm>
          <a:prstGeom prst="rect">
            <a:avLst/>
          </a:prstGeom>
          <a:noFill/>
        </p:spPr>
        <p:txBody>
          <a:bodyPr wrap="square" rtlCol="0">
            <a:spAutoFit/>
          </a:bodyPr>
          <a:lstStyle/>
          <a:p>
            <a:pPr algn="ctr"/>
            <a:r>
              <a:rPr lang="en-US" sz="1200" dirty="0">
                <a:solidFill>
                  <a:srgbClr val="0070C0"/>
                </a:solidFill>
              </a:rPr>
              <a:t>Recipient</a:t>
            </a:r>
          </a:p>
        </p:txBody>
      </p:sp>
      <p:pic>
        <p:nvPicPr>
          <p:cNvPr id="7" name="Picture 6">
            <a:extLst>
              <a:ext uri="{FF2B5EF4-FFF2-40B4-BE49-F238E27FC236}">
                <a16:creationId xmlns:a16="http://schemas.microsoft.com/office/drawing/2014/main" id="{F952DEAB-6A24-401B-95F6-722F3768A405}"/>
              </a:ext>
            </a:extLst>
          </p:cNvPr>
          <p:cNvPicPr>
            <a:picLocks noChangeAspect="1"/>
          </p:cNvPicPr>
          <p:nvPr/>
        </p:nvPicPr>
        <p:blipFill>
          <a:blip r:embed="rId2"/>
          <a:stretch>
            <a:fillRect/>
          </a:stretch>
        </p:blipFill>
        <p:spPr>
          <a:xfrm flipH="1">
            <a:off x="962700" y="3497695"/>
            <a:ext cx="897145" cy="2277611"/>
          </a:xfrm>
          <a:prstGeom prst="rect">
            <a:avLst/>
          </a:prstGeom>
        </p:spPr>
      </p:pic>
      <p:sp>
        <p:nvSpPr>
          <p:cNvPr id="8" name="TextBox 7">
            <a:extLst>
              <a:ext uri="{FF2B5EF4-FFF2-40B4-BE49-F238E27FC236}">
                <a16:creationId xmlns:a16="http://schemas.microsoft.com/office/drawing/2014/main" id="{F97169FD-26FD-48D9-8F07-09AE3A2CD53D}"/>
              </a:ext>
            </a:extLst>
          </p:cNvPr>
          <p:cNvSpPr txBox="1"/>
          <p:nvPr/>
        </p:nvSpPr>
        <p:spPr>
          <a:xfrm>
            <a:off x="1072165" y="3938606"/>
            <a:ext cx="669268" cy="276999"/>
          </a:xfrm>
          <a:prstGeom prst="rect">
            <a:avLst/>
          </a:prstGeom>
          <a:noFill/>
        </p:spPr>
        <p:txBody>
          <a:bodyPr wrap="square" rtlCol="0">
            <a:spAutoFit/>
          </a:bodyPr>
          <a:lstStyle/>
          <a:p>
            <a:pPr algn="ctr"/>
            <a:r>
              <a:rPr lang="en-US" sz="1200" dirty="0">
                <a:solidFill>
                  <a:srgbClr val="FF0000"/>
                </a:solidFill>
              </a:rPr>
              <a:t>Donor</a:t>
            </a:r>
          </a:p>
        </p:txBody>
      </p:sp>
      <p:pic>
        <p:nvPicPr>
          <p:cNvPr id="9" name="Picture 6" descr="Image result for blood bag outline">
            <a:extLst>
              <a:ext uri="{FF2B5EF4-FFF2-40B4-BE49-F238E27FC236}">
                <a16:creationId xmlns:a16="http://schemas.microsoft.com/office/drawing/2014/main" id="{BD2936A5-09EC-4C1B-B704-EEC5CCC98D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1951" y="3920355"/>
            <a:ext cx="763398" cy="763398"/>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B57333AB-9E23-4025-9723-12C38B1A136B}"/>
              </a:ext>
            </a:extLst>
          </p:cNvPr>
          <p:cNvCxnSpPr>
            <a:cxnSpLocks/>
          </p:cNvCxnSpPr>
          <p:nvPr/>
        </p:nvCxnSpPr>
        <p:spPr>
          <a:xfrm>
            <a:off x="2485349" y="4479217"/>
            <a:ext cx="74600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6F99BECA-6664-473A-941E-A4618D909FDC}"/>
              </a:ext>
            </a:extLst>
          </p:cNvPr>
          <p:cNvSpPr txBox="1"/>
          <p:nvPr/>
        </p:nvSpPr>
        <p:spPr>
          <a:xfrm>
            <a:off x="2592672" y="4135571"/>
            <a:ext cx="651928" cy="369332"/>
          </a:xfrm>
          <a:prstGeom prst="rect">
            <a:avLst/>
          </a:prstGeom>
          <a:noFill/>
        </p:spPr>
        <p:txBody>
          <a:bodyPr wrap="square" rtlCol="0">
            <a:spAutoFit/>
          </a:bodyPr>
          <a:lstStyle/>
          <a:p>
            <a:r>
              <a:rPr lang="en-US" dirty="0"/>
              <a:t>SCT</a:t>
            </a:r>
          </a:p>
        </p:txBody>
      </p:sp>
      <p:cxnSp>
        <p:nvCxnSpPr>
          <p:cNvPr id="12" name="Straight Arrow Connector 11">
            <a:extLst>
              <a:ext uri="{FF2B5EF4-FFF2-40B4-BE49-F238E27FC236}">
                <a16:creationId xmlns:a16="http://schemas.microsoft.com/office/drawing/2014/main" id="{01B17CA7-B6BE-404F-9A5C-244E67AE9EDC}"/>
              </a:ext>
            </a:extLst>
          </p:cNvPr>
          <p:cNvCxnSpPr>
            <a:cxnSpLocks/>
          </p:cNvCxnSpPr>
          <p:nvPr/>
        </p:nvCxnSpPr>
        <p:spPr>
          <a:xfrm>
            <a:off x="4398393" y="4504903"/>
            <a:ext cx="20935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713C82B5-5A2B-43B0-88F0-61426724A44E}"/>
              </a:ext>
            </a:extLst>
          </p:cNvPr>
          <p:cNvSpPr txBox="1"/>
          <p:nvPr/>
        </p:nvSpPr>
        <p:spPr>
          <a:xfrm>
            <a:off x="6709304" y="4197893"/>
            <a:ext cx="1335505" cy="646331"/>
          </a:xfrm>
          <a:prstGeom prst="rect">
            <a:avLst/>
          </a:prstGeom>
          <a:noFill/>
        </p:spPr>
        <p:txBody>
          <a:bodyPr wrap="square" rtlCol="0">
            <a:spAutoFit/>
          </a:bodyPr>
          <a:lstStyle/>
          <a:p>
            <a:r>
              <a:rPr lang="en-US" dirty="0"/>
              <a:t>+/- acute GVHD</a:t>
            </a:r>
          </a:p>
        </p:txBody>
      </p:sp>
      <p:sp>
        <p:nvSpPr>
          <p:cNvPr id="14" name="TextBox 13">
            <a:extLst>
              <a:ext uri="{FF2B5EF4-FFF2-40B4-BE49-F238E27FC236}">
                <a16:creationId xmlns:a16="http://schemas.microsoft.com/office/drawing/2014/main" id="{012C3AE1-17E7-4575-BDB4-4C36860AE427}"/>
              </a:ext>
            </a:extLst>
          </p:cNvPr>
          <p:cNvSpPr txBox="1"/>
          <p:nvPr/>
        </p:nvSpPr>
        <p:spPr>
          <a:xfrm>
            <a:off x="2066416" y="4971278"/>
            <a:ext cx="1528011" cy="369332"/>
          </a:xfrm>
          <a:prstGeom prst="rect">
            <a:avLst/>
          </a:prstGeom>
          <a:noFill/>
        </p:spPr>
        <p:txBody>
          <a:bodyPr wrap="square" rtlCol="0">
            <a:spAutoFit/>
          </a:bodyPr>
          <a:lstStyle/>
          <a:p>
            <a:pPr algn="ctr"/>
            <a:r>
              <a:rPr lang="en-US" dirty="0"/>
              <a:t>Conditioning</a:t>
            </a:r>
          </a:p>
        </p:txBody>
      </p:sp>
      <p:sp>
        <p:nvSpPr>
          <p:cNvPr id="15" name="Right Brace 14">
            <a:extLst>
              <a:ext uri="{FF2B5EF4-FFF2-40B4-BE49-F238E27FC236}">
                <a16:creationId xmlns:a16="http://schemas.microsoft.com/office/drawing/2014/main" id="{6F3748AE-B239-406A-91EF-4FD4917BCF1C}"/>
              </a:ext>
            </a:extLst>
          </p:cNvPr>
          <p:cNvSpPr/>
          <p:nvPr/>
        </p:nvSpPr>
        <p:spPr>
          <a:xfrm rot="5400000">
            <a:off x="2706732" y="4351149"/>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546352BE-8208-405A-8B20-878F11CD9772}"/>
              </a:ext>
            </a:extLst>
          </p:cNvPr>
          <p:cNvSpPr txBox="1"/>
          <p:nvPr/>
        </p:nvSpPr>
        <p:spPr>
          <a:xfrm>
            <a:off x="4398393" y="5015620"/>
            <a:ext cx="1528011" cy="369332"/>
          </a:xfrm>
          <a:prstGeom prst="rect">
            <a:avLst/>
          </a:prstGeom>
          <a:noFill/>
        </p:spPr>
        <p:txBody>
          <a:bodyPr wrap="square" rtlCol="0">
            <a:spAutoFit/>
          </a:bodyPr>
          <a:lstStyle/>
          <a:p>
            <a:pPr algn="ctr"/>
            <a:r>
              <a:rPr lang="en-US" dirty="0"/>
              <a:t>Engraftment</a:t>
            </a:r>
          </a:p>
        </p:txBody>
      </p:sp>
      <p:sp>
        <p:nvSpPr>
          <p:cNvPr id="17" name="Right Brace 16">
            <a:extLst>
              <a:ext uri="{FF2B5EF4-FFF2-40B4-BE49-F238E27FC236}">
                <a16:creationId xmlns:a16="http://schemas.microsoft.com/office/drawing/2014/main" id="{DF117BB0-29C2-4124-831D-3433706F6609}"/>
              </a:ext>
            </a:extLst>
          </p:cNvPr>
          <p:cNvSpPr/>
          <p:nvPr/>
        </p:nvSpPr>
        <p:spPr>
          <a:xfrm rot="5400000">
            <a:off x="5038709" y="4395491"/>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ADD8C703-D18E-47F2-8D23-50E7BAA6FBAA}"/>
              </a:ext>
            </a:extLst>
          </p:cNvPr>
          <p:cNvCxnSpPr>
            <a:cxnSpLocks/>
          </p:cNvCxnSpPr>
          <p:nvPr/>
        </p:nvCxnSpPr>
        <p:spPr>
          <a:xfrm>
            <a:off x="2886420" y="3497695"/>
            <a:ext cx="0" cy="578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A0A13AE-9C74-436C-A1C9-49E355D8F8A7}"/>
              </a:ext>
            </a:extLst>
          </p:cNvPr>
          <p:cNvSpPr txBox="1"/>
          <p:nvPr/>
        </p:nvSpPr>
        <p:spPr>
          <a:xfrm>
            <a:off x="1931955" y="3079768"/>
            <a:ext cx="1973361" cy="276992"/>
          </a:xfrm>
          <a:prstGeom prst="rect">
            <a:avLst/>
          </a:prstGeom>
        </p:spPr>
        <p:txBody>
          <a:bodyPr vert="horz" wrap="square" lIns="91440" tIns="45720" rIns="91440" bIns="45720" rtlCol="0" anchor="ctr">
            <a:noAutofit/>
          </a:bodyPr>
          <a:lstStyle/>
          <a:p>
            <a:r>
              <a:rPr lang="en-US" sz="1400" dirty="0">
                <a:solidFill>
                  <a:srgbClr val="FF0000"/>
                </a:solidFill>
              </a:rPr>
              <a:t>Uricase given d-7 to d-2</a:t>
            </a:r>
          </a:p>
        </p:txBody>
      </p:sp>
      <p:sp>
        <p:nvSpPr>
          <p:cNvPr id="22" name="Rectangle 21">
            <a:extLst>
              <a:ext uri="{FF2B5EF4-FFF2-40B4-BE49-F238E27FC236}">
                <a16:creationId xmlns:a16="http://schemas.microsoft.com/office/drawing/2014/main" id="{FF8EFF21-8567-4B49-BC5C-D0E46D4014BA}"/>
              </a:ext>
            </a:extLst>
          </p:cNvPr>
          <p:cNvSpPr/>
          <p:nvPr/>
        </p:nvSpPr>
        <p:spPr>
          <a:xfrm>
            <a:off x="457036" y="1567922"/>
            <a:ext cx="7882713" cy="923330"/>
          </a:xfrm>
          <a:prstGeom prst="rect">
            <a:avLst/>
          </a:prstGeom>
        </p:spPr>
        <p:txBody>
          <a:bodyPr wrap="square">
            <a:spAutoFit/>
          </a:bodyPr>
          <a:lstStyle/>
          <a:p>
            <a:r>
              <a:rPr lang="en-US" b="1" dirty="0">
                <a:latin typeface="Corbel" pitchFamily="34" charset="0"/>
              </a:rPr>
              <a:t>Hypothesis: </a:t>
            </a:r>
          </a:p>
          <a:p>
            <a:r>
              <a:rPr lang="en-US" dirty="0">
                <a:latin typeface="Corbel" pitchFamily="34" charset="0"/>
              </a:rPr>
              <a:t>Suppression of uric acid at time of transplantation may modulate the immune activation of host APCs and alter the incidence of acute GVHD.</a:t>
            </a:r>
          </a:p>
        </p:txBody>
      </p:sp>
      <p:pic>
        <p:nvPicPr>
          <p:cNvPr id="23" name="Picture 22">
            <a:extLst>
              <a:ext uri="{FF2B5EF4-FFF2-40B4-BE49-F238E27FC236}">
                <a16:creationId xmlns:a16="http://schemas.microsoft.com/office/drawing/2014/main" id="{DEB9BA84-EC91-4600-BE82-C84424C7CB38}"/>
              </a:ext>
            </a:extLst>
          </p:cNvPr>
          <p:cNvPicPr>
            <a:picLocks noChangeAspect="1"/>
          </p:cNvPicPr>
          <p:nvPr/>
        </p:nvPicPr>
        <p:blipFill>
          <a:blip r:embed="rId4"/>
          <a:stretch>
            <a:fillRect/>
          </a:stretch>
        </p:blipFill>
        <p:spPr>
          <a:xfrm>
            <a:off x="4953524" y="6492873"/>
            <a:ext cx="4190476" cy="333333"/>
          </a:xfrm>
          <a:prstGeom prst="rect">
            <a:avLst/>
          </a:prstGeom>
        </p:spPr>
      </p:pic>
    </p:spTree>
    <p:extLst>
      <p:ext uri="{BB962C8B-B14F-4D97-AF65-F5344CB8AC3E}">
        <p14:creationId xmlns:p14="http://schemas.microsoft.com/office/powerpoint/2010/main" val="376313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2CB8A-E0A1-438D-A82E-AEB3E7ED3343}"/>
              </a:ext>
            </a:extLst>
          </p:cNvPr>
          <p:cNvSpPr>
            <a:spLocks noGrp="1"/>
          </p:cNvSpPr>
          <p:nvPr>
            <p:ph type="title"/>
          </p:nvPr>
        </p:nvSpPr>
        <p:spPr/>
        <p:txBody>
          <a:bodyPr/>
          <a:lstStyle/>
          <a:p>
            <a:r>
              <a:rPr lang="en-US" dirty="0"/>
              <a:t>Phase I Study Design</a:t>
            </a:r>
          </a:p>
        </p:txBody>
      </p:sp>
      <p:sp>
        <p:nvSpPr>
          <p:cNvPr id="3" name="TextBox 2">
            <a:extLst>
              <a:ext uri="{FF2B5EF4-FFF2-40B4-BE49-F238E27FC236}">
                <a16:creationId xmlns:a16="http://schemas.microsoft.com/office/drawing/2014/main" id="{7DFAE66A-9C0E-4C3C-84F6-5D72D709E38C}"/>
              </a:ext>
            </a:extLst>
          </p:cNvPr>
          <p:cNvSpPr txBox="1"/>
          <p:nvPr/>
        </p:nvSpPr>
        <p:spPr>
          <a:xfrm>
            <a:off x="4279206" y="2389890"/>
            <a:ext cx="2038350" cy="307777"/>
          </a:xfrm>
          <a:prstGeom prst="rect">
            <a:avLst/>
          </a:prstGeom>
          <a:solidFill>
            <a:schemeClr val="accent6">
              <a:lumMod val="20000"/>
              <a:lumOff val="80000"/>
            </a:schemeClr>
          </a:solidFill>
          <a:ln>
            <a:solidFill>
              <a:schemeClr val="tx1"/>
            </a:solidFill>
          </a:ln>
        </p:spPr>
        <p:txBody>
          <a:bodyPr>
            <a:spAutoFit/>
          </a:bodyPr>
          <a:lstStyle/>
          <a:p>
            <a:pPr algn="ctr" fontAlgn="auto">
              <a:spcBef>
                <a:spcPts val="0"/>
              </a:spcBef>
              <a:spcAft>
                <a:spcPts val="0"/>
              </a:spcAft>
              <a:defRPr/>
            </a:pPr>
            <a:r>
              <a:rPr lang="en-US" sz="1400" dirty="0">
                <a:latin typeface="+mn-lt"/>
              </a:rPr>
              <a:t>21 patients </a:t>
            </a:r>
          </a:p>
        </p:txBody>
      </p:sp>
      <p:sp>
        <p:nvSpPr>
          <p:cNvPr id="5" name="TextBox 5">
            <a:extLst>
              <a:ext uri="{FF2B5EF4-FFF2-40B4-BE49-F238E27FC236}">
                <a16:creationId xmlns:a16="http://schemas.microsoft.com/office/drawing/2014/main" id="{6327AA7E-8231-4775-9C69-E87B6D9306AF}"/>
              </a:ext>
            </a:extLst>
          </p:cNvPr>
          <p:cNvSpPr txBox="1">
            <a:spLocks noChangeArrowheads="1"/>
          </p:cNvSpPr>
          <p:nvPr/>
        </p:nvSpPr>
        <p:spPr bwMode="auto">
          <a:xfrm>
            <a:off x="3883918" y="1856490"/>
            <a:ext cx="2828925" cy="369888"/>
          </a:xfrm>
          <a:prstGeom prst="rect">
            <a:avLst/>
          </a:prstGeom>
          <a:noFill/>
          <a:ln w="9525">
            <a:noFill/>
            <a:miter lim="800000"/>
            <a:headEnd/>
            <a:tailEnd/>
          </a:ln>
        </p:spPr>
        <p:txBody>
          <a:bodyPr>
            <a:spAutoFit/>
          </a:bodyPr>
          <a:lstStyle/>
          <a:p>
            <a:pPr algn="ctr"/>
            <a:r>
              <a:rPr lang="en-US">
                <a:latin typeface="Corbel" pitchFamily="34" charset="0"/>
              </a:rPr>
              <a:t>Rasburicase Group</a:t>
            </a:r>
          </a:p>
        </p:txBody>
      </p:sp>
      <p:grpSp>
        <p:nvGrpSpPr>
          <p:cNvPr id="6" name="Group 5">
            <a:extLst>
              <a:ext uri="{FF2B5EF4-FFF2-40B4-BE49-F238E27FC236}">
                <a16:creationId xmlns:a16="http://schemas.microsoft.com/office/drawing/2014/main" id="{3E32F5D9-417C-4AB8-B7D5-BDC66D2DAE66}"/>
              </a:ext>
            </a:extLst>
          </p:cNvPr>
          <p:cNvGrpSpPr/>
          <p:nvPr/>
        </p:nvGrpSpPr>
        <p:grpSpPr>
          <a:xfrm>
            <a:off x="3723716" y="2833920"/>
            <a:ext cx="2997941" cy="1757186"/>
            <a:chOff x="3723716" y="2833920"/>
            <a:chExt cx="2997941" cy="1757186"/>
          </a:xfrm>
        </p:grpSpPr>
        <p:sp>
          <p:nvSpPr>
            <p:cNvPr id="7" name="TextBox 6">
              <a:extLst>
                <a:ext uri="{FF2B5EF4-FFF2-40B4-BE49-F238E27FC236}">
                  <a16:creationId xmlns:a16="http://schemas.microsoft.com/office/drawing/2014/main" id="{3E3573F4-9E9B-4436-816C-09D3D754E2D9}"/>
                </a:ext>
              </a:extLst>
            </p:cNvPr>
            <p:cNvSpPr txBox="1"/>
            <p:nvPr/>
          </p:nvSpPr>
          <p:spPr>
            <a:xfrm>
              <a:off x="4279206" y="3313350"/>
              <a:ext cx="2038350" cy="523220"/>
            </a:xfrm>
            <a:prstGeom prst="rect">
              <a:avLst/>
            </a:prstGeom>
            <a:solidFill>
              <a:schemeClr val="accent2">
                <a:lumMod val="20000"/>
                <a:lumOff val="80000"/>
              </a:schemeClr>
            </a:solidFill>
            <a:ln>
              <a:solidFill>
                <a:schemeClr val="tx1"/>
              </a:solidFill>
            </a:ln>
          </p:spPr>
          <p:txBody>
            <a:bodyPr>
              <a:spAutoFit/>
            </a:bodyPr>
            <a:lstStyle/>
            <a:p>
              <a:pPr algn="ctr" fontAlgn="auto">
                <a:spcBef>
                  <a:spcPts val="0"/>
                </a:spcBef>
                <a:spcAft>
                  <a:spcPts val="0"/>
                </a:spcAft>
                <a:defRPr/>
              </a:pPr>
              <a:r>
                <a:rPr lang="en-US" sz="1400" dirty="0">
                  <a:latin typeface="+mn-lt"/>
                </a:rPr>
                <a:t>IV </a:t>
              </a:r>
              <a:r>
                <a:rPr lang="en-US" sz="1400" dirty="0" err="1">
                  <a:latin typeface="+mn-lt"/>
                </a:rPr>
                <a:t>Rasburicase</a:t>
              </a:r>
              <a:r>
                <a:rPr lang="en-US" sz="1400" dirty="0">
                  <a:latin typeface="+mn-lt"/>
                </a:rPr>
                <a:t> 0.20 mg/kg (d-7 to -2)</a:t>
              </a:r>
            </a:p>
          </p:txBody>
        </p:sp>
        <p:sp>
          <p:nvSpPr>
            <p:cNvPr id="8" name="TextBox 7">
              <a:extLst>
                <a:ext uri="{FF2B5EF4-FFF2-40B4-BE49-F238E27FC236}">
                  <a16:creationId xmlns:a16="http://schemas.microsoft.com/office/drawing/2014/main" id="{A6DFDA00-47F0-4DED-9939-23EA6A8EA87D}"/>
                </a:ext>
              </a:extLst>
            </p:cNvPr>
            <p:cNvSpPr txBox="1"/>
            <p:nvPr/>
          </p:nvSpPr>
          <p:spPr>
            <a:xfrm>
              <a:off x="3723716" y="3944775"/>
              <a:ext cx="2997941" cy="646331"/>
            </a:xfrm>
            <a:prstGeom prst="rect">
              <a:avLst/>
            </a:prstGeom>
            <a:solidFill>
              <a:schemeClr val="accent6">
                <a:lumMod val="20000"/>
                <a:lumOff val="80000"/>
              </a:schemeClr>
            </a:solidFill>
            <a:ln>
              <a:solidFill>
                <a:schemeClr val="tx1"/>
              </a:solidFill>
            </a:ln>
          </p:spPr>
          <p:txBody>
            <a:bodyPr wrap="square">
              <a:spAutoFit/>
            </a:bodyPr>
            <a:lstStyle/>
            <a:p>
              <a:pPr algn="ctr" fontAlgn="auto">
                <a:spcBef>
                  <a:spcPts val="0"/>
                </a:spcBef>
                <a:spcAft>
                  <a:spcPts val="0"/>
                </a:spcAft>
                <a:defRPr/>
              </a:pPr>
              <a:r>
                <a:rPr lang="en-US" sz="1200" dirty="0">
                  <a:latin typeface="+mn-lt"/>
                </a:rPr>
                <a:t>Standard GVHD prophylaxis </a:t>
              </a:r>
            </a:p>
            <a:p>
              <a:pPr algn="ctr" fontAlgn="auto">
                <a:spcBef>
                  <a:spcPts val="0"/>
                </a:spcBef>
                <a:spcAft>
                  <a:spcPts val="0"/>
                </a:spcAft>
                <a:defRPr/>
              </a:pPr>
              <a:r>
                <a:rPr lang="en-US" sz="1200" dirty="0">
                  <a:latin typeface="+mn-lt"/>
                </a:rPr>
                <a:t>MRD: Cyclosporine or </a:t>
              </a:r>
              <a:r>
                <a:rPr lang="en-US" sz="1200" dirty="0" err="1">
                  <a:latin typeface="+mn-lt"/>
                </a:rPr>
                <a:t>tacrolimus</a:t>
              </a:r>
              <a:r>
                <a:rPr lang="en-US" sz="1200" dirty="0">
                  <a:latin typeface="+mn-lt"/>
                </a:rPr>
                <a:t> + MTX </a:t>
              </a:r>
            </a:p>
            <a:p>
              <a:pPr algn="ctr" fontAlgn="auto">
                <a:spcBef>
                  <a:spcPts val="0"/>
                </a:spcBef>
                <a:spcAft>
                  <a:spcPts val="0"/>
                </a:spcAft>
                <a:defRPr/>
              </a:pPr>
              <a:r>
                <a:rPr lang="en-US" sz="1200" dirty="0">
                  <a:latin typeface="+mn-lt"/>
                </a:rPr>
                <a:t>MUD: </a:t>
              </a:r>
              <a:r>
                <a:rPr lang="en-US" sz="1200" dirty="0" err="1">
                  <a:latin typeface="+mn-lt"/>
                </a:rPr>
                <a:t>Tacrolimus</a:t>
              </a:r>
              <a:r>
                <a:rPr lang="en-US" sz="1200" dirty="0">
                  <a:latin typeface="+mn-lt"/>
                </a:rPr>
                <a:t> and MTX + Thymoglobulin</a:t>
              </a:r>
            </a:p>
          </p:txBody>
        </p:sp>
        <p:cxnSp>
          <p:nvCxnSpPr>
            <p:cNvPr id="9" name="Straight Arrow Connector 8">
              <a:extLst>
                <a:ext uri="{FF2B5EF4-FFF2-40B4-BE49-F238E27FC236}">
                  <a16:creationId xmlns:a16="http://schemas.microsoft.com/office/drawing/2014/main" id="{9E290111-66E1-4C06-94A5-DF9E58B65598}"/>
                </a:ext>
              </a:extLst>
            </p:cNvPr>
            <p:cNvCxnSpPr/>
            <p:nvPr/>
          </p:nvCxnSpPr>
          <p:spPr>
            <a:xfrm flipH="1">
              <a:off x="5244274" y="2833920"/>
              <a:ext cx="20" cy="3974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8D9A9EBA-DA62-4823-989B-7D596D0335EB}"/>
              </a:ext>
            </a:extLst>
          </p:cNvPr>
          <p:cNvSpPr txBox="1"/>
          <p:nvPr/>
        </p:nvSpPr>
        <p:spPr>
          <a:xfrm>
            <a:off x="186043" y="1902108"/>
            <a:ext cx="2619375" cy="1384995"/>
          </a:xfrm>
          <a:prstGeom prst="rect">
            <a:avLst/>
          </a:prstGeom>
          <a:noFill/>
          <a:ln>
            <a:solidFill>
              <a:schemeClr val="tx1"/>
            </a:solidFill>
          </a:ln>
        </p:spPr>
        <p:txBody>
          <a:bodyPr>
            <a:spAutoFit/>
          </a:bodyPr>
          <a:lstStyle/>
          <a:p>
            <a:pPr algn="ctr" fontAlgn="auto">
              <a:spcBef>
                <a:spcPts val="0"/>
              </a:spcBef>
              <a:spcAft>
                <a:spcPts val="0"/>
              </a:spcAft>
              <a:defRPr/>
            </a:pPr>
            <a:r>
              <a:rPr lang="en-US" sz="1200" b="1" dirty="0">
                <a:latin typeface="+mn-lt"/>
              </a:rPr>
              <a:t>Inclusion Criteria:</a:t>
            </a:r>
          </a:p>
          <a:p>
            <a:pPr marL="285750" indent="-285750" fontAlgn="auto">
              <a:spcBef>
                <a:spcPts val="0"/>
              </a:spcBef>
              <a:spcAft>
                <a:spcPts val="0"/>
              </a:spcAft>
              <a:buFontTx/>
              <a:buChar char="-"/>
              <a:defRPr/>
            </a:pPr>
            <a:r>
              <a:rPr lang="en-US" sz="1200" dirty="0">
                <a:latin typeface="+mn-lt"/>
              </a:rPr>
              <a:t>Indication for conventional </a:t>
            </a:r>
            <a:r>
              <a:rPr lang="en-US" sz="1200" dirty="0" err="1">
                <a:latin typeface="+mn-lt"/>
              </a:rPr>
              <a:t>myeloablative</a:t>
            </a:r>
            <a:r>
              <a:rPr lang="en-US" sz="1200" dirty="0">
                <a:latin typeface="+mn-lt"/>
              </a:rPr>
              <a:t> allogeneic SCT</a:t>
            </a:r>
          </a:p>
          <a:p>
            <a:pPr marL="285750" indent="-285750" fontAlgn="auto">
              <a:spcBef>
                <a:spcPts val="0"/>
              </a:spcBef>
              <a:spcAft>
                <a:spcPts val="0"/>
              </a:spcAft>
              <a:buFontTx/>
              <a:buChar char="-"/>
              <a:defRPr/>
            </a:pPr>
            <a:r>
              <a:rPr lang="en-US" sz="1200" dirty="0">
                <a:latin typeface="+mn-lt"/>
              </a:rPr>
              <a:t>18&lt; Age &lt;65</a:t>
            </a:r>
          </a:p>
          <a:p>
            <a:pPr marL="285750" indent="-285750" fontAlgn="auto">
              <a:spcBef>
                <a:spcPts val="0"/>
              </a:spcBef>
              <a:spcAft>
                <a:spcPts val="0"/>
              </a:spcAft>
              <a:buFontTx/>
              <a:buChar char="-"/>
              <a:defRPr/>
            </a:pPr>
            <a:r>
              <a:rPr lang="en-US" sz="1200" dirty="0">
                <a:latin typeface="+mn-lt"/>
              </a:rPr>
              <a:t>GCSF-mobilized PSCs</a:t>
            </a:r>
          </a:p>
          <a:p>
            <a:pPr marL="285750" indent="-285750" fontAlgn="auto">
              <a:spcBef>
                <a:spcPts val="0"/>
              </a:spcBef>
              <a:spcAft>
                <a:spcPts val="0"/>
              </a:spcAft>
              <a:buFontTx/>
              <a:buChar char="-"/>
              <a:defRPr/>
            </a:pPr>
            <a:r>
              <a:rPr lang="en-US" sz="1200" dirty="0">
                <a:latin typeface="+mn-lt"/>
              </a:rPr>
              <a:t>HLA 6 of 6 antigen matched (A, B, DR) related or unrelated donors</a:t>
            </a:r>
          </a:p>
        </p:txBody>
      </p:sp>
      <p:sp>
        <p:nvSpPr>
          <p:cNvPr id="11" name="TextBox 10">
            <a:extLst>
              <a:ext uri="{FF2B5EF4-FFF2-40B4-BE49-F238E27FC236}">
                <a16:creationId xmlns:a16="http://schemas.microsoft.com/office/drawing/2014/main" id="{ECD4F46B-052D-404A-9509-44CC93DC2F97}"/>
              </a:ext>
            </a:extLst>
          </p:cNvPr>
          <p:cNvSpPr txBox="1"/>
          <p:nvPr/>
        </p:nvSpPr>
        <p:spPr>
          <a:xfrm>
            <a:off x="182930" y="3678828"/>
            <a:ext cx="2619375" cy="1569660"/>
          </a:xfrm>
          <a:prstGeom prst="rect">
            <a:avLst/>
          </a:prstGeom>
          <a:noFill/>
          <a:ln>
            <a:solidFill>
              <a:schemeClr val="tx1"/>
            </a:solidFill>
          </a:ln>
        </p:spPr>
        <p:txBody>
          <a:bodyPr>
            <a:spAutoFit/>
          </a:bodyPr>
          <a:lstStyle/>
          <a:p>
            <a:pPr algn="ctr" fontAlgn="auto">
              <a:spcBef>
                <a:spcPts val="0"/>
              </a:spcBef>
              <a:spcAft>
                <a:spcPts val="0"/>
              </a:spcAft>
              <a:defRPr/>
            </a:pPr>
            <a:r>
              <a:rPr lang="en-US" sz="1200" b="1" dirty="0">
                <a:latin typeface="+mn-lt"/>
              </a:rPr>
              <a:t>Exclusion Criteria:</a:t>
            </a:r>
          </a:p>
          <a:p>
            <a:pPr marL="285750" indent="-285750" fontAlgn="auto">
              <a:spcBef>
                <a:spcPts val="0"/>
              </a:spcBef>
              <a:spcAft>
                <a:spcPts val="0"/>
              </a:spcAft>
              <a:buFontTx/>
              <a:buChar char="-"/>
              <a:defRPr/>
            </a:pPr>
            <a:r>
              <a:rPr lang="en-US" sz="1200" dirty="0">
                <a:latin typeface="+mn-lt"/>
              </a:rPr>
              <a:t>Active HIV infection</a:t>
            </a:r>
          </a:p>
          <a:p>
            <a:pPr marL="285750" indent="-285750" fontAlgn="auto">
              <a:spcBef>
                <a:spcPts val="0"/>
              </a:spcBef>
              <a:spcAft>
                <a:spcPts val="0"/>
              </a:spcAft>
              <a:buFontTx/>
              <a:buChar char="-"/>
              <a:defRPr/>
            </a:pPr>
            <a:r>
              <a:rPr lang="en-US" sz="1200" dirty="0">
                <a:latin typeface="+mn-lt"/>
              </a:rPr>
              <a:t>Uncontrolled DM2</a:t>
            </a:r>
          </a:p>
          <a:p>
            <a:pPr marL="285750" indent="-285750" fontAlgn="auto">
              <a:spcBef>
                <a:spcPts val="0"/>
              </a:spcBef>
              <a:spcAft>
                <a:spcPts val="0"/>
              </a:spcAft>
              <a:buFontTx/>
              <a:buChar char="-"/>
              <a:defRPr/>
            </a:pPr>
            <a:r>
              <a:rPr lang="en-US" sz="1200" dirty="0">
                <a:latin typeface="+mn-lt"/>
              </a:rPr>
              <a:t>Active CHF</a:t>
            </a:r>
          </a:p>
          <a:p>
            <a:pPr marL="285750" indent="-285750" fontAlgn="auto">
              <a:spcBef>
                <a:spcPts val="0"/>
              </a:spcBef>
              <a:spcAft>
                <a:spcPts val="0"/>
              </a:spcAft>
              <a:buFontTx/>
              <a:buChar char="-"/>
              <a:defRPr/>
            </a:pPr>
            <a:r>
              <a:rPr lang="en-US" sz="1200" dirty="0">
                <a:latin typeface="+mn-lt"/>
              </a:rPr>
              <a:t>Active angina pectoris</a:t>
            </a:r>
          </a:p>
          <a:p>
            <a:pPr marL="285750" indent="-285750" fontAlgn="auto">
              <a:spcBef>
                <a:spcPts val="0"/>
              </a:spcBef>
              <a:spcAft>
                <a:spcPts val="0"/>
              </a:spcAft>
              <a:buFontTx/>
              <a:buChar char="-"/>
              <a:defRPr/>
            </a:pPr>
            <a:r>
              <a:rPr lang="en-US" sz="1200" dirty="0">
                <a:latin typeface="+mn-lt"/>
              </a:rPr>
              <a:t>O2 dependent COPD</a:t>
            </a:r>
          </a:p>
          <a:p>
            <a:pPr marL="285750" indent="-285750" fontAlgn="auto">
              <a:spcBef>
                <a:spcPts val="0"/>
              </a:spcBef>
              <a:spcAft>
                <a:spcPts val="0"/>
              </a:spcAft>
              <a:buFontTx/>
              <a:buChar char="-"/>
              <a:defRPr/>
            </a:pPr>
            <a:r>
              <a:rPr lang="en-US" sz="1200" dirty="0">
                <a:latin typeface="+mn-lt"/>
              </a:rPr>
              <a:t>Failure to give full informed consent</a:t>
            </a:r>
          </a:p>
        </p:txBody>
      </p:sp>
      <p:sp>
        <p:nvSpPr>
          <p:cNvPr id="12" name="Right Bracket 11">
            <a:extLst>
              <a:ext uri="{FF2B5EF4-FFF2-40B4-BE49-F238E27FC236}">
                <a16:creationId xmlns:a16="http://schemas.microsoft.com/office/drawing/2014/main" id="{61536E1E-B6B7-4386-833A-87471946A727}"/>
              </a:ext>
            </a:extLst>
          </p:cNvPr>
          <p:cNvSpPr/>
          <p:nvPr/>
        </p:nvSpPr>
        <p:spPr>
          <a:xfrm>
            <a:off x="2907659" y="2548800"/>
            <a:ext cx="304800" cy="1909440"/>
          </a:xfrm>
          <a:prstGeom prst="rightBracket">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txBody>
          <a:bodyPr/>
          <a:lstStyle/>
          <a:p>
            <a:endParaRPr lang="en-US"/>
          </a:p>
        </p:txBody>
      </p:sp>
      <p:cxnSp>
        <p:nvCxnSpPr>
          <p:cNvPr id="13" name="Elbow Connector 25">
            <a:extLst>
              <a:ext uri="{FF2B5EF4-FFF2-40B4-BE49-F238E27FC236}">
                <a16:creationId xmlns:a16="http://schemas.microsoft.com/office/drawing/2014/main" id="{B69263B5-B5C5-4B67-83CF-D8E2C6AAB9D5}"/>
              </a:ext>
            </a:extLst>
          </p:cNvPr>
          <p:cNvCxnSpPr/>
          <p:nvPr/>
        </p:nvCxnSpPr>
        <p:spPr>
          <a:xfrm flipV="1">
            <a:off x="3231233" y="2574834"/>
            <a:ext cx="961573" cy="941646"/>
          </a:xfrm>
          <a:prstGeom prst="bentConnector3">
            <a:avLst>
              <a:gd name="adj1" fmla="val 50000"/>
            </a:avLst>
          </a:prstGeom>
          <a:ln w="12700">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grpSp>
        <p:nvGrpSpPr>
          <p:cNvPr id="14" name="Group 13">
            <a:extLst>
              <a:ext uri="{FF2B5EF4-FFF2-40B4-BE49-F238E27FC236}">
                <a16:creationId xmlns:a16="http://schemas.microsoft.com/office/drawing/2014/main" id="{2B082757-903F-437C-B628-2A51C1136F3A}"/>
              </a:ext>
            </a:extLst>
          </p:cNvPr>
          <p:cNvGrpSpPr/>
          <p:nvPr/>
        </p:nvGrpSpPr>
        <p:grpSpPr>
          <a:xfrm>
            <a:off x="3413205" y="4726080"/>
            <a:ext cx="5036382" cy="1651856"/>
            <a:chOff x="3413205" y="4726080"/>
            <a:chExt cx="5036382" cy="1651856"/>
          </a:xfrm>
        </p:grpSpPr>
        <p:sp>
          <p:nvSpPr>
            <p:cNvPr id="15" name="TextBox 14">
              <a:extLst>
                <a:ext uri="{FF2B5EF4-FFF2-40B4-BE49-F238E27FC236}">
                  <a16:creationId xmlns:a16="http://schemas.microsoft.com/office/drawing/2014/main" id="{DCE00638-7476-472D-8EE8-7A95D1135723}"/>
                </a:ext>
              </a:extLst>
            </p:cNvPr>
            <p:cNvSpPr txBox="1"/>
            <p:nvPr/>
          </p:nvSpPr>
          <p:spPr>
            <a:xfrm>
              <a:off x="3413205" y="5731605"/>
              <a:ext cx="3723174" cy="646331"/>
            </a:xfrm>
            <a:prstGeom prst="rect">
              <a:avLst/>
            </a:prstGeom>
            <a:solidFill>
              <a:schemeClr val="accent2">
                <a:lumMod val="20000"/>
                <a:lumOff val="80000"/>
              </a:schemeClr>
            </a:solidFill>
            <a:ln>
              <a:solidFill>
                <a:schemeClr val="tx1"/>
              </a:solidFill>
            </a:ln>
          </p:spPr>
          <p:txBody>
            <a:bodyPr wrap="square">
              <a:spAutoFit/>
            </a:bodyPr>
            <a:lstStyle/>
            <a:p>
              <a:pPr algn="ctr" fontAlgn="auto">
                <a:spcBef>
                  <a:spcPts val="0"/>
                </a:spcBef>
                <a:spcAft>
                  <a:spcPts val="0"/>
                </a:spcAft>
                <a:defRPr/>
              </a:pPr>
              <a:r>
                <a:rPr lang="en-US" sz="1200" dirty="0">
                  <a:latin typeface="+mn-lt"/>
                </a:rPr>
                <a:t>20 patients</a:t>
              </a:r>
            </a:p>
            <a:p>
              <a:pPr algn="ctr" fontAlgn="auto">
                <a:spcBef>
                  <a:spcPts val="0"/>
                </a:spcBef>
                <a:spcAft>
                  <a:spcPts val="0"/>
                </a:spcAft>
                <a:defRPr/>
              </a:pPr>
              <a:r>
                <a:rPr lang="en-US" sz="1200" dirty="0">
                  <a:latin typeface="+mn-lt"/>
                </a:rPr>
                <a:t>Primary outcome: incidence of acute </a:t>
              </a:r>
              <a:r>
                <a:rPr lang="en-US" sz="1200" dirty="0" err="1">
                  <a:latin typeface="+mn-lt"/>
                </a:rPr>
                <a:t>aGVHD</a:t>
              </a:r>
              <a:r>
                <a:rPr lang="en-US" sz="1200" dirty="0">
                  <a:latin typeface="+mn-lt"/>
                </a:rPr>
                <a:t> grade 2+</a:t>
              </a:r>
            </a:p>
            <a:p>
              <a:pPr algn="ctr" fontAlgn="auto">
                <a:spcBef>
                  <a:spcPts val="0"/>
                </a:spcBef>
                <a:spcAft>
                  <a:spcPts val="0"/>
                </a:spcAft>
                <a:defRPr/>
              </a:pPr>
              <a:r>
                <a:rPr lang="en-US" sz="1200" dirty="0">
                  <a:latin typeface="+mn-lt"/>
                </a:rPr>
                <a:t>Secondary outcome: PFS, OS, MRD/MUD comparison</a:t>
              </a:r>
            </a:p>
          </p:txBody>
        </p:sp>
        <p:cxnSp>
          <p:nvCxnSpPr>
            <p:cNvPr id="16" name="Straight Arrow Connector 15">
              <a:extLst>
                <a:ext uri="{FF2B5EF4-FFF2-40B4-BE49-F238E27FC236}">
                  <a16:creationId xmlns:a16="http://schemas.microsoft.com/office/drawing/2014/main" id="{5C287DE9-A747-400E-B39E-F0AD6FF5F8DB}"/>
                </a:ext>
              </a:extLst>
            </p:cNvPr>
            <p:cNvCxnSpPr/>
            <p:nvPr/>
          </p:nvCxnSpPr>
          <p:spPr>
            <a:xfrm>
              <a:off x="5209715" y="4726080"/>
              <a:ext cx="0" cy="8294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02B0E21-3E82-4222-9A5F-7206F74D1E62}"/>
                </a:ext>
              </a:extLst>
            </p:cNvPr>
            <p:cNvCxnSpPr/>
            <p:nvPr/>
          </p:nvCxnSpPr>
          <p:spPr>
            <a:xfrm>
              <a:off x="5218354" y="5088960"/>
              <a:ext cx="123547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031EDBE-E1DB-4F04-8B32-F0D782817F09}"/>
                </a:ext>
              </a:extLst>
            </p:cNvPr>
            <p:cNvSpPr txBox="1"/>
            <p:nvPr/>
          </p:nvSpPr>
          <p:spPr>
            <a:xfrm>
              <a:off x="6556963" y="4840530"/>
              <a:ext cx="1892624" cy="523220"/>
            </a:xfrm>
            <a:prstGeom prst="rect">
              <a:avLst/>
            </a:prstGeom>
            <a:solidFill>
              <a:schemeClr val="accent6">
                <a:lumMod val="20000"/>
                <a:lumOff val="80000"/>
              </a:schemeClr>
            </a:solidFill>
            <a:ln>
              <a:solidFill>
                <a:schemeClr val="tx1"/>
              </a:solidFill>
            </a:ln>
          </p:spPr>
          <p:txBody>
            <a:bodyPr wrap="square">
              <a:spAutoFit/>
            </a:bodyPr>
            <a:lstStyle/>
            <a:p>
              <a:pPr algn="ctr" fontAlgn="auto">
                <a:spcBef>
                  <a:spcPts val="0"/>
                </a:spcBef>
                <a:spcAft>
                  <a:spcPts val="0"/>
                </a:spcAft>
                <a:defRPr/>
              </a:pPr>
              <a:r>
                <a:rPr lang="en-US" sz="1400" dirty="0">
                  <a:latin typeface="+mn-lt"/>
                </a:rPr>
                <a:t>1 case of hemolytic anemia (G6PD)</a:t>
              </a:r>
            </a:p>
          </p:txBody>
        </p:sp>
      </p:grpSp>
      <p:sp>
        <p:nvSpPr>
          <p:cNvPr id="19" name="TextBox 18">
            <a:extLst>
              <a:ext uri="{FF2B5EF4-FFF2-40B4-BE49-F238E27FC236}">
                <a16:creationId xmlns:a16="http://schemas.microsoft.com/office/drawing/2014/main" id="{956BE62A-2D40-4284-B53F-8886D1587D4A}"/>
              </a:ext>
            </a:extLst>
          </p:cNvPr>
          <p:cNvSpPr txBox="1"/>
          <p:nvPr/>
        </p:nvSpPr>
        <p:spPr>
          <a:xfrm>
            <a:off x="6888753" y="2385310"/>
            <a:ext cx="2038350" cy="307777"/>
          </a:xfrm>
          <a:prstGeom prst="rect">
            <a:avLst/>
          </a:prstGeom>
          <a:solidFill>
            <a:schemeClr val="accent1">
              <a:lumMod val="20000"/>
              <a:lumOff val="80000"/>
            </a:schemeClr>
          </a:solidFill>
          <a:ln>
            <a:solidFill>
              <a:schemeClr val="tx1"/>
            </a:solidFill>
          </a:ln>
        </p:spPr>
        <p:txBody>
          <a:bodyPr>
            <a:spAutoFit/>
          </a:bodyPr>
          <a:lstStyle/>
          <a:p>
            <a:pPr algn="ctr" fontAlgn="auto">
              <a:spcBef>
                <a:spcPts val="0"/>
              </a:spcBef>
              <a:spcAft>
                <a:spcPts val="0"/>
              </a:spcAft>
              <a:defRPr/>
            </a:pPr>
            <a:r>
              <a:rPr lang="en-US" sz="1400" dirty="0">
                <a:latin typeface="+mn-lt"/>
              </a:rPr>
              <a:t>21 patients</a:t>
            </a:r>
          </a:p>
        </p:txBody>
      </p:sp>
      <p:sp>
        <p:nvSpPr>
          <p:cNvPr id="20" name="TextBox 7">
            <a:extLst>
              <a:ext uri="{FF2B5EF4-FFF2-40B4-BE49-F238E27FC236}">
                <a16:creationId xmlns:a16="http://schemas.microsoft.com/office/drawing/2014/main" id="{C61CE02B-C4B0-4F33-A9FD-6D9260A3C13B}"/>
              </a:ext>
            </a:extLst>
          </p:cNvPr>
          <p:cNvSpPr txBox="1">
            <a:spLocks noChangeArrowheads="1"/>
          </p:cNvSpPr>
          <p:nvPr/>
        </p:nvSpPr>
        <p:spPr bwMode="auto">
          <a:xfrm>
            <a:off x="6816702" y="1860550"/>
            <a:ext cx="2177195" cy="369888"/>
          </a:xfrm>
          <a:prstGeom prst="rect">
            <a:avLst/>
          </a:prstGeom>
          <a:noFill/>
          <a:ln w="9525">
            <a:noFill/>
            <a:miter lim="800000"/>
            <a:headEnd/>
            <a:tailEnd/>
          </a:ln>
        </p:spPr>
        <p:txBody>
          <a:bodyPr wrap="square">
            <a:spAutoFit/>
          </a:bodyPr>
          <a:lstStyle/>
          <a:p>
            <a:pPr algn="ctr"/>
            <a:r>
              <a:rPr lang="en-US" dirty="0">
                <a:latin typeface="Corbel" pitchFamily="34" charset="0"/>
              </a:rPr>
              <a:t>Matched Controls</a:t>
            </a:r>
          </a:p>
        </p:txBody>
      </p:sp>
      <p:sp>
        <p:nvSpPr>
          <p:cNvPr id="21" name="TextBox 20">
            <a:extLst>
              <a:ext uri="{FF2B5EF4-FFF2-40B4-BE49-F238E27FC236}">
                <a16:creationId xmlns:a16="http://schemas.microsoft.com/office/drawing/2014/main" id="{B9B66E22-58F3-42BB-B303-D050C8398393}"/>
              </a:ext>
            </a:extLst>
          </p:cNvPr>
          <p:cNvSpPr txBox="1"/>
          <p:nvPr/>
        </p:nvSpPr>
        <p:spPr>
          <a:xfrm>
            <a:off x="6888754" y="3313350"/>
            <a:ext cx="2038350" cy="527050"/>
          </a:xfrm>
          <a:prstGeom prst="rect">
            <a:avLst/>
          </a:prstGeom>
          <a:solidFill>
            <a:schemeClr val="accent2">
              <a:lumMod val="20000"/>
              <a:lumOff val="80000"/>
            </a:schemeClr>
          </a:solidFill>
          <a:ln>
            <a:solidFill>
              <a:schemeClr val="tx1"/>
            </a:solidFill>
          </a:ln>
        </p:spPr>
        <p:txBody>
          <a:bodyPr>
            <a:spAutoFit/>
          </a:bodyPr>
          <a:lstStyle/>
          <a:p>
            <a:pPr algn="ctr"/>
            <a:r>
              <a:rPr lang="en-US" sz="1400" dirty="0">
                <a:latin typeface="Corbel" pitchFamily="34" charset="0"/>
              </a:rPr>
              <a:t>Allopurinol per protocol 300mg QD  (d-7 to d-1)</a:t>
            </a:r>
          </a:p>
        </p:txBody>
      </p:sp>
      <p:cxnSp>
        <p:nvCxnSpPr>
          <p:cNvPr id="22" name="Straight Arrow Connector 21">
            <a:extLst>
              <a:ext uri="{FF2B5EF4-FFF2-40B4-BE49-F238E27FC236}">
                <a16:creationId xmlns:a16="http://schemas.microsoft.com/office/drawing/2014/main" id="{8CAAC2B0-4245-452C-AB6E-FFB7C6676471}"/>
              </a:ext>
            </a:extLst>
          </p:cNvPr>
          <p:cNvCxnSpPr/>
          <p:nvPr/>
        </p:nvCxnSpPr>
        <p:spPr>
          <a:xfrm>
            <a:off x="7905288" y="2833920"/>
            <a:ext cx="0" cy="3974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478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2CB8A-E0A1-438D-A82E-AEB3E7ED3343}"/>
              </a:ext>
            </a:extLst>
          </p:cNvPr>
          <p:cNvSpPr>
            <a:spLocks noGrp="1"/>
          </p:cNvSpPr>
          <p:nvPr>
            <p:ph type="title"/>
          </p:nvPr>
        </p:nvSpPr>
        <p:spPr/>
        <p:txBody>
          <a:bodyPr/>
          <a:lstStyle/>
          <a:p>
            <a:r>
              <a:rPr lang="en-US" dirty="0"/>
              <a:t>Phase I Study Results</a:t>
            </a:r>
          </a:p>
        </p:txBody>
      </p:sp>
      <p:pic>
        <p:nvPicPr>
          <p:cNvPr id="23" name="Picture 1" descr="results.png">
            <a:extLst>
              <a:ext uri="{FF2B5EF4-FFF2-40B4-BE49-F238E27FC236}">
                <a16:creationId xmlns:a16="http://schemas.microsoft.com/office/drawing/2014/main" id="{2D757C29-4D86-49F7-8198-3495B0D57658}"/>
              </a:ext>
            </a:extLst>
          </p:cNvPr>
          <p:cNvPicPr>
            <a:picLocks noChangeAspect="1"/>
          </p:cNvPicPr>
          <p:nvPr/>
        </p:nvPicPr>
        <p:blipFill>
          <a:blip r:embed="rId2"/>
          <a:srcRect/>
          <a:stretch>
            <a:fillRect/>
          </a:stretch>
        </p:blipFill>
        <p:spPr bwMode="auto">
          <a:xfrm>
            <a:off x="495300" y="1443038"/>
            <a:ext cx="4787900" cy="4787900"/>
          </a:xfrm>
          <a:prstGeom prst="rect">
            <a:avLst/>
          </a:prstGeom>
          <a:noFill/>
          <a:ln w="9525">
            <a:noFill/>
            <a:miter lim="800000"/>
            <a:headEnd/>
            <a:tailEnd/>
          </a:ln>
        </p:spPr>
      </p:pic>
      <p:sp>
        <p:nvSpPr>
          <p:cNvPr id="24" name="TextBox 5">
            <a:extLst>
              <a:ext uri="{FF2B5EF4-FFF2-40B4-BE49-F238E27FC236}">
                <a16:creationId xmlns:a16="http://schemas.microsoft.com/office/drawing/2014/main" id="{79322EA1-2026-4C49-8D26-288080957261}"/>
              </a:ext>
            </a:extLst>
          </p:cNvPr>
          <p:cNvSpPr txBox="1">
            <a:spLocks noChangeArrowheads="1"/>
          </p:cNvSpPr>
          <p:nvPr/>
        </p:nvSpPr>
        <p:spPr bwMode="auto">
          <a:xfrm>
            <a:off x="1914525" y="5934076"/>
            <a:ext cx="1926613" cy="400110"/>
          </a:xfrm>
          <a:prstGeom prst="rect">
            <a:avLst/>
          </a:prstGeom>
          <a:solidFill>
            <a:schemeClr val="bg1"/>
          </a:solidFill>
          <a:ln w="9525">
            <a:noFill/>
            <a:miter lim="800000"/>
            <a:headEnd/>
            <a:tailEnd/>
          </a:ln>
        </p:spPr>
        <p:txBody>
          <a:bodyPr wrap="square">
            <a:spAutoFit/>
          </a:bodyPr>
          <a:lstStyle/>
          <a:p>
            <a:pPr algn="ctr"/>
            <a:r>
              <a:rPr lang="en-US" sz="2000" dirty="0"/>
              <a:t>Transplant Day</a:t>
            </a:r>
          </a:p>
        </p:txBody>
      </p:sp>
      <p:sp>
        <p:nvSpPr>
          <p:cNvPr id="25" name="TextBox 6">
            <a:extLst>
              <a:ext uri="{FF2B5EF4-FFF2-40B4-BE49-F238E27FC236}">
                <a16:creationId xmlns:a16="http://schemas.microsoft.com/office/drawing/2014/main" id="{C8C99188-D9E4-4A37-A48E-1E8AF8AD6023}"/>
              </a:ext>
            </a:extLst>
          </p:cNvPr>
          <p:cNvSpPr txBox="1">
            <a:spLocks noChangeArrowheads="1"/>
          </p:cNvSpPr>
          <p:nvPr/>
        </p:nvSpPr>
        <p:spPr bwMode="auto">
          <a:xfrm>
            <a:off x="1225550" y="2525713"/>
            <a:ext cx="1171114" cy="307777"/>
          </a:xfrm>
          <a:prstGeom prst="rect">
            <a:avLst/>
          </a:prstGeom>
          <a:noFill/>
          <a:ln w="9525">
            <a:noFill/>
            <a:miter lim="800000"/>
            <a:headEnd/>
            <a:tailEnd/>
          </a:ln>
        </p:spPr>
        <p:txBody>
          <a:bodyPr wrap="square">
            <a:spAutoFit/>
          </a:bodyPr>
          <a:lstStyle/>
          <a:p>
            <a:r>
              <a:rPr lang="en-US" sz="1400" dirty="0"/>
              <a:t>Control</a:t>
            </a:r>
          </a:p>
        </p:txBody>
      </p:sp>
      <p:sp>
        <p:nvSpPr>
          <p:cNvPr id="26" name="TextBox 7">
            <a:extLst>
              <a:ext uri="{FF2B5EF4-FFF2-40B4-BE49-F238E27FC236}">
                <a16:creationId xmlns:a16="http://schemas.microsoft.com/office/drawing/2014/main" id="{F2A812C6-EFF2-40E3-88D0-DAEC0E35B9F7}"/>
              </a:ext>
            </a:extLst>
          </p:cNvPr>
          <p:cNvSpPr txBox="1">
            <a:spLocks noChangeArrowheads="1"/>
          </p:cNvSpPr>
          <p:nvPr/>
        </p:nvSpPr>
        <p:spPr bwMode="auto">
          <a:xfrm>
            <a:off x="1104899" y="5091113"/>
            <a:ext cx="1196975" cy="307777"/>
          </a:xfrm>
          <a:prstGeom prst="rect">
            <a:avLst/>
          </a:prstGeom>
          <a:noFill/>
          <a:ln w="9525">
            <a:noFill/>
            <a:miter lim="800000"/>
            <a:headEnd/>
            <a:tailEnd/>
          </a:ln>
        </p:spPr>
        <p:txBody>
          <a:bodyPr wrap="square">
            <a:spAutoFit/>
          </a:bodyPr>
          <a:lstStyle/>
          <a:p>
            <a:r>
              <a:rPr lang="en-US" sz="1400" dirty="0"/>
              <a:t>Rasburicase</a:t>
            </a:r>
          </a:p>
        </p:txBody>
      </p:sp>
      <p:sp>
        <p:nvSpPr>
          <p:cNvPr id="27" name="TextBox 10">
            <a:extLst>
              <a:ext uri="{FF2B5EF4-FFF2-40B4-BE49-F238E27FC236}">
                <a16:creationId xmlns:a16="http://schemas.microsoft.com/office/drawing/2014/main" id="{19018B55-D89E-40CC-B206-09E946337832}"/>
              </a:ext>
            </a:extLst>
          </p:cNvPr>
          <p:cNvSpPr txBox="1">
            <a:spLocks noChangeArrowheads="1"/>
          </p:cNvSpPr>
          <p:nvPr/>
        </p:nvSpPr>
        <p:spPr bwMode="auto">
          <a:xfrm rot="16200000">
            <a:off x="-1212181" y="3499613"/>
            <a:ext cx="3132138" cy="400110"/>
          </a:xfrm>
          <a:prstGeom prst="rect">
            <a:avLst/>
          </a:prstGeom>
          <a:solidFill>
            <a:schemeClr val="bg1"/>
          </a:solidFill>
          <a:ln w="9525">
            <a:noFill/>
            <a:miter lim="800000"/>
            <a:headEnd/>
            <a:tailEnd/>
          </a:ln>
        </p:spPr>
        <p:txBody>
          <a:bodyPr wrap="square">
            <a:spAutoFit/>
          </a:bodyPr>
          <a:lstStyle/>
          <a:p>
            <a:pPr algn="ctr"/>
            <a:r>
              <a:rPr lang="en-US" sz="2000" dirty="0"/>
              <a:t>Serum Uric Acid (mg/</a:t>
            </a:r>
            <a:r>
              <a:rPr lang="en-US" sz="2000" dirty="0" err="1"/>
              <a:t>dL</a:t>
            </a:r>
            <a:r>
              <a:rPr lang="en-US" sz="2000" dirty="0"/>
              <a:t>)</a:t>
            </a:r>
          </a:p>
        </p:txBody>
      </p:sp>
      <p:sp>
        <p:nvSpPr>
          <p:cNvPr id="28" name="TextBox 27">
            <a:extLst>
              <a:ext uri="{FF2B5EF4-FFF2-40B4-BE49-F238E27FC236}">
                <a16:creationId xmlns:a16="http://schemas.microsoft.com/office/drawing/2014/main" id="{C57EFE06-DD51-445B-A91F-5A9D759B095F}"/>
              </a:ext>
            </a:extLst>
          </p:cNvPr>
          <p:cNvSpPr txBox="1"/>
          <p:nvPr/>
        </p:nvSpPr>
        <p:spPr>
          <a:xfrm>
            <a:off x="3771900" y="5240338"/>
            <a:ext cx="1219200" cy="369332"/>
          </a:xfrm>
          <a:prstGeom prst="rect">
            <a:avLst/>
          </a:prstGeom>
          <a:noFill/>
        </p:spPr>
        <p:txBody>
          <a:bodyPr wrap="square" rtlCol="0">
            <a:spAutoFit/>
          </a:bodyPr>
          <a:lstStyle/>
          <a:p>
            <a:pPr algn="r"/>
            <a:r>
              <a:rPr lang="en-US" dirty="0"/>
              <a:t>p&lt;0.0001</a:t>
            </a:r>
          </a:p>
        </p:txBody>
      </p:sp>
      <p:pic>
        <p:nvPicPr>
          <p:cNvPr id="29" name="Picture 28" descr="results.png">
            <a:extLst>
              <a:ext uri="{FF2B5EF4-FFF2-40B4-BE49-F238E27FC236}">
                <a16:creationId xmlns:a16="http://schemas.microsoft.com/office/drawing/2014/main" id="{D308CA5D-128C-415A-AD0F-CAB13D72E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9900" y="2128838"/>
            <a:ext cx="3187700" cy="3187700"/>
          </a:xfrm>
          <a:prstGeom prst="rect">
            <a:avLst/>
          </a:prstGeom>
        </p:spPr>
      </p:pic>
      <p:sp>
        <p:nvSpPr>
          <p:cNvPr id="30" name="TextBox 5">
            <a:extLst>
              <a:ext uri="{FF2B5EF4-FFF2-40B4-BE49-F238E27FC236}">
                <a16:creationId xmlns:a16="http://schemas.microsoft.com/office/drawing/2014/main" id="{1A977BA3-84C0-4B6E-8C32-811C9E380312}"/>
              </a:ext>
            </a:extLst>
          </p:cNvPr>
          <p:cNvSpPr txBox="1">
            <a:spLocks noChangeArrowheads="1"/>
          </p:cNvSpPr>
          <p:nvPr/>
        </p:nvSpPr>
        <p:spPr bwMode="auto">
          <a:xfrm>
            <a:off x="6245225" y="5176838"/>
            <a:ext cx="2111375" cy="338554"/>
          </a:xfrm>
          <a:prstGeom prst="rect">
            <a:avLst/>
          </a:prstGeom>
          <a:solidFill>
            <a:schemeClr val="bg1"/>
          </a:solidFill>
          <a:ln w="9525">
            <a:noFill/>
            <a:miter lim="800000"/>
            <a:headEnd/>
            <a:tailEnd/>
          </a:ln>
        </p:spPr>
        <p:txBody>
          <a:bodyPr wrap="square">
            <a:spAutoFit/>
          </a:bodyPr>
          <a:lstStyle/>
          <a:p>
            <a:pPr algn="ctr"/>
            <a:r>
              <a:rPr lang="en-US" sz="1600" dirty="0"/>
              <a:t>Transplant Day</a:t>
            </a:r>
          </a:p>
        </p:txBody>
      </p:sp>
      <p:sp>
        <p:nvSpPr>
          <p:cNvPr id="31" name="TextBox 5">
            <a:extLst>
              <a:ext uri="{FF2B5EF4-FFF2-40B4-BE49-F238E27FC236}">
                <a16:creationId xmlns:a16="http://schemas.microsoft.com/office/drawing/2014/main" id="{FCF18F4E-A809-43E1-97A3-EFE82342463B}"/>
              </a:ext>
            </a:extLst>
          </p:cNvPr>
          <p:cNvSpPr txBox="1">
            <a:spLocks noChangeArrowheads="1"/>
          </p:cNvSpPr>
          <p:nvPr/>
        </p:nvSpPr>
        <p:spPr bwMode="auto">
          <a:xfrm>
            <a:off x="6143625" y="1976438"/>
            <a:ext cx="2111375" cy="338554"/>
          </a:xfrm>
          <a:prstGeom prst="rect">
            <a:avLst/>
          </a:prstGeom>
          <a:solidFill>
            <a:schemeClr val="bg1"/>
          </a:solidFill>
          <a:ln w="9525">
            <a:noFill/>
            <a:miter lim="800000"/>
            <a:headEnd/>
            <a:tailEnd/>
          </a:ln>
        </p:spPr>
        <p:txBody>
          <a:bodyPr wrap="square">
            <a:spAutoFit/>
          </a:bodyPr>
          <a:lstStyle/>
          <a:p>
            <a:pPr algn="ctr"/>
            <a:r>
              <a:rPr lang="en-US" sz="1600" dirty="0"/>
              <a:t>Rasburicase Group</a:t>
            </a:r>
          </a:p>
        </p:txBody>
      </p:sp>
    </p:spTree>
    <p:extLst>
      <p:ext uri="{BB962C8B-B14F-4D97-AF65-F5344CB8AC3E}">
        <p14:creationId xmlns:p14="http://schemas.microsoft.com/office/powerpoint/2010/main" val="302268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2CB8A-E0A1-438D-A82E-AEB3E7ED3343}"/>
              </a:ext>
            </a:extLst>
          </p:cNvPr>
          <p:cNvSpPr>
            <a:spLocks noGrp="1"/>
          </p:cNvSpPr>
          <p:nvPr>
            <p:ph type="title"/>
          </p:nvPr>
        </p:nvSpPr>
        <p:spPr/>
        <p:txBody>
          <a:bodyPr/>
          <a:lstStyle/>
          <a:p>
            <a:r>
              <a:rPr lang="en-US" dirty="0"/>
              <a:t>Phase I Study Results</a:t>
            </a:r>
          </a:p>
        </p:txBody>
      </p:sp>
      <p:pic>
        <p:nvPicPr>
          <p:cNvPr id="3" name="Picture 2">
            <a:extLst>
              <a:ext uri="{FF2B5EF4-FFF2-40B4-BE49-F238E27FC236}">
                <a16:creationId xmlns:a16="http://schemas.microsoft.com/office/drawing/2014/main" id="{61DBB0E1-89D0-467B-A899-24CB00EB1B9C}"/>
              </a:ext>
            </a:extLst>
          </p:cNvPr>
          <p:cNvPicPr>
            <a:picLocks noChangeAspect="1"/>
          </p:cNvPicPr>
          <p:nvPr/>
        </p:nvPicPr>
        <p:blipFill>
          <a:blip r:embed="rId2"/>
          <a:stretch>
            <a:fillRect/>
          </a:stretch>
        </p:blipFill>
        <p:spPr>
          <a:xfrm>
            <a:off x="1652530" y="1438518"/>
            <a:ext cx="5761965" cy="5054355"/>
          </a:xfrm>
          <a:prstGeom prst="rect">
            <a:avLst/>
          </a:prstGeom>
        </p:spPr>
      </p:pic>
    </p:spTree>
    <p:extLst>
      <p:ext uri="{BB962C8B-B14F-4D97-AF65-F5344CB8AC3E}">
        <p14:creationId xmlns:p14="http://schemas.microsoft.com/office/powerpoint/2010/main" val="2403234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2CB8A-E0A1-438D-A82E-AEB3E7ED3343}"/>
              </a:ext>
            </a:extLst>
          </p:cNvPr>
          <p:cNvSpPr>
            <a:spLocks noGrp="1"/>
          </p:cNvSpPr>
          <p:nvPr>
            <p:ph type="title"/>
          </p:nvPr>
        </p:nvSpPr>
        <p:spPr/>
        <p:txBody>
          <a:bodyPr>
            <a:normAutofit fontScale="90000"/>
          </a:bodyPr>
          <a:lstStyle/>
          <a:p>
            <a:r>
              <a:rPr lang="en-US" dirty="0"/>
              <a:t>Cumulative proportion of Acute GVHD Grade II-IV</a:t>
            </a:r>
          </a:p>
        </p:txBody>
      </p:sp>
      <p:pic>
        <p:nvPicPr>
          <p:cNvPr id="5" name="Picture 1" descr="results_aGVHDsurvival.png">
            <a:extLst>
              <a:ext uri="{FF2B5EF4-FFF2-40B4-BE49-F238E27FC236}">
                <a16:creationId xmlns:a16="http://schemas.microsoft.com/office/drawing/2014/main" id="{2C192A8E-9F56-4884-A374-797ACCF254FF}"/>
              </a:ext>
            </a:extLst>
          </p:cNvPr>
          <p:cNvPicPr>
            <a:picLocks noChangeAspect="1"/>
          </p:cNvPicPr>
          <p:nvPr/>
        </p:nvPicPr>
        <p:blipFill>
          <a:blip r:embed="rId2"/>
          <a:srcRect/>
          <a:stretch>
            <a:fillRect/>
          </a:stretch>
        </p:blipFill>
        <p:spPr bwMode="auto">
          <a:xfrm>
            <a:off x="1590675" y="1855730"/>
            <a:ext cx="5962650" cy="3975100"/>
          </a:xfrm>
          <a:prstGeom prst="rect">
            <a:avLst/>
          </a:prstGeom>
          <a:noFill/>
          <a:ln w="9525">
            <a:noFill/>
            <a:miter lim="800000"/>
            <a:headEnd/>
            <a:tailEnd/>
          </a:ln>
        </p:spPr>
      </p:pic>
      <p:sp>
        <p:nvSpPr>
          <p:cNvPr id="6" name="TextBox 12">
            <a:extLst>
              <a:ext uri="{FF2B5EF4-FFF2-40B4-BE49-F238E27FC236}">
                <a16:creationId xmlns:a16="http://schemas.microsoft.com/office/drawing/2014/main" id="{4BDD9D61-845C-4E61-B3D1-5E4EE2DBA4E7}"/>
              </a:ext>
            </a:extLst>
          </p:cNvPr>
          <p:cNvSpPr txBox="1">
            <a:spLocks noChangeArrowheads="1"/>
          </p:cNvSpPr>
          <p:nvPr/>
        </p:nvSpPr>
        <p:spPr bwMode="auto">
          <a:xfrm>
            <a:off x="6162675" y="4979930"/>
            <a:ext cx="1143000" cy="338554"/>
          </a:xfrm>
          <a:prstGeom prst="rect">
            <a:avLst/>
          </a:prstGeom>
          <a:noFill/>
          <a:ln w="9525">
            <a:noFill/>
            <a:miter lim="800000"/>
            <a:headEnd/>
            <a:tailEnd/>
          </a:ln>
        </p:spPr>
        <p:txBody>
          <a:bodyPr wrap="square">
            <a:spAutoFit/>
          </a:bodyPr>
          <a:lstStyle/>
          <a:p>
            <a:r>
              <a:rPr lang="en-US" sz="1600" dirty="0"/>
              <a:t>p=0.036</a:t>
            </a:r>
          </a:p>
        </p:txBody>
      </p:sp>
      <p:sp>
        <p:nvSpPr>
          <p:cNvPr id="7" name="TextBox 16">
            <a:extLst>
              <a:ext uri="{FF2B5EF4-FFF2-40B4-BE49-F238E27FC236}">
                <a16:creationId xmlns:a16="http://schemas.microsoft.com/office/drawing/2014/main" id="{E09C4B38-84AD-4500-BF93-728FC83499C7}"/>
              </a:ext>
            </a:extLst>
          </p:cNvPr>
          <p:cNvSpPr txBox="1">
            <a:spLocks noChangeArrowheads="1"/>
          </p:cNvSpPr>
          <p:nvPr/>
        </p:nvSpPr>
        <p:spPr bwMode="auto">
          <a:xfrm rot="16200000">
            <a:off x="160339" y="3561650"/>
            <a:ext cx="2451102" cy="461665"/>
          </a:xfrm>
          <a:prstGeom prst="rect">
            <a:avLst/>
          </a:prstGeom>
          <a:noFill/>
          <a:ln w="9525">
            <a:noFill/>
            <a:miter lim="800000"/>
            <a:headEnd/>
            <a:tailEnd/>
          </a:ln>
        </p:spPr>
        <p:txBody>
          <a:bodyPr wrap="square">
            <a:spAutoFit/>
          </a:bodyPr>
          <a:lstStyle/>
          <a:p>
            <a:pPr algn="ctr"/>
            <a:r>
              <a:rPr lang="en-US" sz="2400" dirty="0"/>
              <a:t>Intention-to-treat</a:t>
            </a:r>
          </a:p>
        </p:txBody>
      </p:sp>
      <p:sp>
        <p:nvSpPr>
          <p:cNvPr id="8" name="TextBox 17">
            <a:extLst>
              <a:ext uri="{FF2B5EF4-FFF2-40B4-BE49-F238E27FC236}">
                <a16:creationId xmlns:a16="http://schemas.microsoft.com/office/drawing/2014/main" id="{088031B2-3019-4B0D-AC82-7A2B9037D402}"/>
              </a:ext>
            </a:extLst>
          </p:cNvPr>
          <p:cNvSpPr txBox="1">
            <a:spLocks noChangeArrowheads="1"/>
          </p:cNvSpPr>
          <p:nvPr/>
        </p:nvSpPr>
        <p:spPr bwMode="auto">
          <a:xfrm>
            <a:off x="5661025" y="2623022"/>
            <a:ext cx="996950" cy="338554"/>
          </a:xfrm>
          <a:prstGeom prst="rect">
            <a:avLst/>
          </a:prstGeom>
          <a:noFill/>
          <a:ln w="9525">
            <a:noFill/>
            <a:miter lim="800000"/>
            <a:headEnd/>
            <a:tailEnd/>
          </a:ln>
        </p:spPr>
        <p:txBody>
          <a:bodyPr wrap="square">
            <a:spAutoFit/>
          </a:bodyPr>
          <a:lstStyle/>
          <a:p>
            <a:r>
              <a:rPr lang="en-US" sz="1600" dirty="0"/>
              <a:t>Control</a:t>
            </a:r>
          </a:p>
        </p:txBody>
      </p:sp>
      <p:sp>
        <p:nvSpPr>
          <p:cNvPr id="9" name="TextBox 19">
            <a:extLst>
              <a:ext uri="{FF2B5EF4-FFF2-40B4-BE49-F238E27FC236}">
                <a16:creationId xmlns:a16="http://schemas.microsoft.com/office/drawing/2014/main" id="{0CAB63AC-E42A-435F-93D4-E2D680EECF20}"/>
              </a:ext>
            </a:extLst>
          </p:cNvPr>
          <p:cNvSpPr txBox="1">
            <a:spLocks noChangeArrowheads="1"/>
          </p:cNvSpPr>
          <p:nvPr/>
        </p:nvSpPr>
        <p:spPr bwMode="auto">
          <a:xfrm>
            <a:off x="5495925" y="3891434"/>
            <a:ext cx="1352550" cy="338554"/>
          </a:xfrm>
          <a:prstGeom prst="rect">
            <a:avLst/>
          </a:prstGeom>
          <a:noFill/>
          <a:ln w="9525">
            <a:noFill/>
            <a:miter lim="800000"/>
            <a:headEnd/>
            <a:tailEnd/>
          </a:ln>
        </p:spPr>
        <p:txBody>
          <a:bodyPr wrap="square">
            <a:spAutoFit/>
          </a:bodyPr>
          <a:lstStyle/>
          <a:p>
            <a:r>
              <a:rPr lang="en-US" sz="1600" dirty="0"/>
              <a:t>Rasburicase</a:t>
            </a:r>
          </a:p>
        </p:txBody>
      </p:sp>
      <p:sp>
        <p:nvSpPr>
          <p:cNvPr id="10" name="TextBox 9">
            <a:extLst>
              <a:ext uri="{FF2B5EF4-FFF2-40B4-BE49-F238E27FC236}">
                <a16:creationId xmlns:a16="http://schemas.microsoft.com/office/drawing/2014/main" id="{8D1DAB6F-0237-426C-B3A1-22D7B8F2C53C}"/>
              </a:ext>
            </a:extLst>
          </p:cNvPr>
          <p:cNvSpPr txBox="1"/>
          <p:nvPr/>
        </p:nvSpPr>
        <p:spPr>
          <a:xfrm>
            <a:off x="2493852" y="5700017"/>
            <a:ext cx="4050167" cy="369332"/>
          </a:xfrm>
          <a:prstGeom prst="rect">
            <a:avLst/>
          </a:prstGeom>
          <a:solidFill>
            <a:schemeClr val="bg1"/>
          </a:solidFill>
        </p:spPr>
        <p:txBody>
          <a:bodyPr wrap="square" rtlCol="0">
            <a:spAutoFit/>
          </a:bodyPr>
          <a:lstStyle/>
          <a:p>
            <a:pPr algn="ctr"/>
            <a:r>
              <a:rPr lang="en-US" dirty="0"/>
              <a:t>Post-transplant Time (weeks)</a:t>
            </a:r>
          </a:p>
        </p:txBody>
      </p:sp>
    </p:spTree>
    <p:extLst>
      <p:ext uri="{BB962C8B-B14F-4D97-AF65-F5344CB8AC3E}">
        <p14:creationId xmlns:p14="http://schemas.microsoft.com/office/powerpoint/2010/main" val="3522318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2CB8A-E0A1-438D-A82E-AEB3E7ED3343}"/>
              </a:ext>
            </a:extLst>
          </p:cNvPr>
          <p:cNvSpPr>
            <a:spLocks noGrp="1"/>
          </p:cNvSpPr>
          <p:nvPr>
            <p:ph type="title"/>
          </p:nvPr>
        </p:nvSpPr>
        <p:spPr/>
        <p:txBody>
          <a:bodyPr>
            <a:normAutofit/>
          </a:bodyPr>
          <a:lstStyle/>
          <a:p>
            <a:r>
              <a:rPr lang="en-US" dirty="0"/>
              <a:t>Serum Uric Acid Levels</a:t>
            </a:r>
          </a:p>
        </p:txBody>
      </p:sp>
      <p:pic>
        <p:nvPicPr>
          <p:cNvPr id="24" name="Picture 22" descr="results_UA-aGVHD.png">
            <a:extLst>
              <a:ext uri="{FF2B5EF4-FFF2-40B4-BE49-F238E27FC236}">
                <a16:creationId xmlns:a16="http://schemas.microsoft.com/office/drawing/2014/main" id="{87DA9B21-567F-4328-9A28-36354EC90F72}"/>
              </a:ext>
            </a:extLst>
          </p:cNvPr>
          <p:cNvPicPr>
            <a:picLocks noChangeAspect="1"/>
          </p:cNvPicPr>
          <p:nvPr/>
        </p:nvPicPr>
        <p:blipFill>
          <a:blip r:embed="rId2"/>
          <a:srcRect/>
          <a:stretch>
            <a:fillRect/>
          </a:stretch>
        </p:blipFill>
        <p:spPr bwMode="auto">
          <a:xfrm>
            <a:off x="1773237" y="2765903"/>
            <a:ext cx="2193925" cy="2193925"/>
          </a:xfrm>
          <a:prstGeom prst="rect">
            <a:avLst/>
          </a:prstGeom>
          <a:noFill/>
          <a:ln w="9525">
            <a:noFill/>
            <a:miter lim="800000"/>
            <a:headEnd/>
            <a:tailEnd/>
          </a:ln>
        </p:spPr>
      </p:pic>
      <p:pic>
        <p:nvPicPr>
          <p:cNvPr id="25" name="Picture 2" descr="results.png">
            <a:extLst>
              <a:ext uri="{FF2B5EF4-FFF2-40B4-BE49-F238E27FC236}">
                <a16:creationId xmlns:a16="http://schemas.microsoft.com/office/drawing/2014/main" id="{8F6B91BE-50D5-4BBF-969F-7CCED997EEA7}"/>
              </a:ext>
            </a:extLst>
          </p:cNvPr>
          <p:cNvPicPr>
            <a:picLocks noChangeAspect="1"/>
          </p:cNvPicPr>
          <p:nvPr/>
        </p:nvPicPr>
        <p:blipFill>
          <a:blip r:embed="rId3"/>
          <a:srcRect/>
          <a:stretch>
            <a:fillRect/>
          </a:stretch>
        </p:blipFill>
        <p:spPr bwMode="auto">
          <a:xfrm>
            <a:off x="4035425" y="2765903"/>
            <a:ext cx="2193925" cy="2193925"/>
          </a:xfrm>
          <a:prstGeom prst="rect">
            <a:avLst/>
          </a:prstGeom>
          <a:noFill/>
          <a:ln w="9525">
            <a:noFill/>
            <a:miter lim="800000"/>
            <a:headEnd/>
            <a:tailEnd/>
          </a:ln>
        </p:spPr>
      </p:pic>
      <p:pic>
        <p:nvPicPr>
          <p:cNvPr id="26" name="Picture 1" descr="results.png">
            <a:extLst>
              <a:ext uri="{FF2B5EF4-FFF2-40B4-BE49-F238E27FC236}">
                <a16:creationId xmlns:a16="http://schemas.microsoft.com/office/drawing/2014/main" id="{A317D39A-D6DF-4FB4-A10E-9FBB77712E38}"/>
              </a:ext>
            </a:extLst>
          </p:cNvPr>
          <p:cNvPicPr>
            <a:picLocks noChangeAspect="1"/>
          </p:cNvPicPr>
          <p:nvPr/>
        </p:nvPicPr>
        <p:blipFill>
          <a:blip r:embed="rId4"/>
          <a:srcRect/>
          <a:stretch>
            <a:fillRect/>
          </a:stretch>
        </p:blipFill>
        <p:spPr bwMode="auto">
          <a:xfrm>
            <a:off x="6245225" y="2765903"/>
            <a:ext cx="2195512" cy="2193925"/>
          </a:xfrm>
          <a:prstGeom prst="rect">
            <a:avLst/>
          </a:prstGeom>
          <a:noFill/>
          <a:ln w="9525">
            <a:noFill/>
            <a:miter lim="800000"/>
            <a:headEnd/>
            <a:tailEnd/>
          </a:ln>
        </p:spPr>
      </p:pic>
      <p:sp>
        <p:nvSpPr>
          <p:cNvPr id="27" name="TextBox 26">
            <a:extLst>
              <a:ext uri="{FF2B5EF4-FFF2-40B4-BE49-F238E27FC236}">
                <a16:creationId xmlns:a16="http://schemas.microsoft.com/office/drawing/2014/main" id="{0389FEF9-347F-4CAA-8D22-9690D095978C}"/>
              </a:ext>
            </a:extLst>
          </p:cNvPr>
          <p:cNvSpPr txBox="1"/>
          <p:nvPr/>
        </p:nvSpPr>
        <p:spPr>
          <a:xfrm>
            <a:off x="2042887" y="2524812"/>
            <a:ext cx="1912695" cy="369332"/>
          </a:xfrm>
          <a:prstGeom prst="rect">
            <a:avLst/>
          </a:prstGeom>
          <a:noFill/>
        </p:spPr>
        <p:txBody>
          <a:bodyPr wrap="square" rtlCol="0">
            <a:spAutoFit/>
          </a:bodyPr>
          <a:lstStyle/>
          <a:p>
            <a:pPr algn="ctr"/>
            <a:r>
              <a:rPr lang="en-US" dirty="0"/>
              <a:t>All Transplants</a:t>
            </a:r>
          </a:p>
        </p:txBody>
      </p:sp>
      <p:sp>
        <p:nvSpPr>
          <p:cNvPr id="28" name="TextBox 27">
            <a:extLst>
              <a:ext uri="{FF2B5EF4-FFF2-40B4-BE49-F238E27FC236}">
                <a16:creationId xmlns:a16="http://schemas.microsoft.com/office/drawing/2014/main" id="{EB8C392A-C4FA-4C9A-AC33-EEBF99F10882}"/>
              </a:ext>
            </a:extLst>
          </p:cNvPr>
          <p:cNvSpPr txBox="1"/>
          <p:nvPr/>
        </p:nvSpPr>
        <p:spPr>
          <a:xfrm>
            <a:off x="4331701" y="2524812"/>
            <a:ext cx="1655776" cy="369332"/>
          </a:xfrm>
          <a:prstGeom prst="rect">
            <a:avLst/>
          </a:prstGeom>
          <a:noFill/>
        </p:spPr>
        <p:txBody>
          <a:bodyPr wrap="square" rtlCol="0">
            <a:spAutoFit/>
          </a:bodyPr>
          <a:lstStyle/>
          <a:p>
            <a:pPr algn="ctr"/>
            <a:r>
              <a:rPr lang="en-US" dirty="0"/>
              <a:t>MRD Only</a:t>
            </a:r>
          </a:p>
        </p:txBody>
      </p:sp>
      <p:sp>
        <p:nvSpPr>
          <p:cNvPr id="29" name="TextBox 28">
            <a:extLst>
              <a:ext uri="{FF2B5EF4-FFF2-40B4-BE49-F238E27FC236}">
                <a16:creationId xmlns:a16="http://schemas.microsoft.com/office/drawing/2014/main" id="{C437BD55-5308-4C2E-973A-C6A86E6D0DB7}"/>
              </a:ext>
            </a:extLst>
          </p:cNvPr>
          <p:cNvSpPr txBox="1"/>
          <p:nvPr/>
        </p:nvSpPr>
        <p:spPr>
          <a:xfrm>
            <a:off x="6491412" y="2524812"/>
            <a:ext cx="1655776" cy="369332"/>
          </a:xfrm>
          <a:prstGeom prst="rect">
            <a:avLst/>
          </a:prstGeom>
          <a:noFill/>
        </p:spPr>
        <p:txBody>
          <a:bodyPr wrap="square" rtlCol="0">
            <a:spAutoFit/>
          </a:bodyPr>
          <a:lstStyle/>
          <a:p>
            <a:pPr algn="ctr"/>
            <a:r>
              <a:rPr lang="en-US" dirty="0"/>
              <a:t>MUD Only</a:t>
            </a:r>
          </a:p>
        </p:txBody>
      </p:sp>
      <p:sp>
        <p:nvSpPr>
          <p:cNvPr id="30" name="TextBox 29">
            <a:extLst>
              <a:ext uri="{FF2B5EF4-FFF2-40B4-BE49-F238E27FC236}">
                <a16:creationId xmlns:a16="http://schemas.microsoft.com/office/drawing/2014/main" id="{5FBBDCCE-69E5-444A-BDB5-F4FB42419B8F}"/>
              </a:ext>
            </a:extLst>
          </p:cNvPr>
          <p:cNvSpPr txBox="1"/>
          <p:nvPr/>
        </p:nvSpPr>
        <p:spPr>
          <a:xfrm>
            <a:off x="170462" y="3741972"/>
            <a:ext cx="1116430" cy="646331"/>
          </a:xfrm>
          <a:prstGeom prst="rect">
            <a:avLst/>
          </a:prstGeom>
          <a:noFill/>
        </p:spPr>
        <p:txBody>
          <a:bodyPr wrap="square" rtlCol="0">
            <a:spAutoFit/>
          </a:bodyPr>
          <a:lstStyle/>
          <a:p>
            <a:pPr algn="ctr"/>
            <a:r>
              <a:rPr lang="en-US" dirty="0"/>
              <a:t>All Patients</a:t>
            </a:r>
          </a:p>
        </p:txBody>
      </p:sp>
      <p:sp>
        <p:nvSpPr>
          <p:cNvPr id="31" name="TextBox 30">
            <a:extLst>
              <a:ext uri="{FF2B5EF4-FFF2-40B4-BE49-F238E27FC236}">
                <a16:creationId xmlns:a16="http://schemas.microsoft.com/office/drawing/2014/main" id="{CBEB504A-F74B-4834-92F2-A587E2926529}"/>
              </a:ext>
            </a:extLst>
          </p:cNvPr>
          <p:cNvSpPr txBox="1"/>
          <p:nvPr/>
        </p:nvSpPr>
        <p:spPr>
          <a:xfrm rot="16200000">
            <a:off x="548008" y="3785636"/>
            <a:ext cx="1883380" cy="553998"/>
          </a:xfrm>
          <a:prstGeom prst="rect">
            <a:avLst/>
          </a:prstGeom>
          <a:solidFill>
            <a:schemeClr val="bg1"/>
          </a:solidFill>
        </p:spPr>
        <p:txBody>
          <a:bodyPr wrap="square" rtlCol="0">
            <a:spAutoFit/>
          </a:bodyPr>
          <a:lstStyle/>
          <a:p>
            <a:pPr algn="ctr"/>
            <a:r>
              <a:rPr lang="en-US" dirty="0"/>
              <a:t>Serum Uric Acid </a:t>
            </a:r>
            <a:r>
              <a:rPr lang="en-US" sz="1200" dirty="0"/>
              <a:t>(mg/</a:t>
            </a:r>
            <a:r>
              <a:rPr lang="en-US" sz="1200" dirty="0" err="1"/>
              <a:t>dL</a:t>
            </a:r>
            <a:r>
              <a:rPr lang="en-US" sz="1200" dirty="0"/>
              <a:t>)</a:t>
            </a:r>
          </a:p>
        </p:txBody>
      </p:sp>
      <p:sp>
        <p:nvSpPr>
          <p:cNvPr id="32" name="TextBox 31">
            <a:extLst>
              <a:ext uri="{FF2B5EF4-FFF2-40B4-BE49-F238E27FC236}">
                <a16:creationId xmlns:a16="http://schemas.microsoft.com/office/drawing/2014/main" id="{C7CC32CA-CA8E-4D49-BF44-C66C1B4B6315}"/>
              </a:ext>
            </a:extLst>
          </p:cNvPr>
          <p:cNvSpPr txBox="1"/>
          <p:nvPr/>
        </p:nvSpPr>
        <p:spPr>
          <a:xfrm>
            <a:off x="2959975" y="3012289"/>
            <a:ext cx="905232" cy="246221"/>
          </a:xfrm>
          <a:prstGeom prst="rect">
            <a:avLst/>
          </a:prstGeom>
          <a:noFill/>
        </p:spPr>
        <p:txBody>
          <a:bodyPr wrap="square" rtlCol="0">
            <a:spAutoFit/>
          </a:bodyPr>
          <a:lstStyle/>
          <a:p>
            <a:r>
              <a:rPr lang="en-US" sz="1000" dirty="0"/>
              <a:t>aGVHD2+</a:t>
            </a:r>
          </a:p>
        </p:txBody>
      </p:sp>
      <p:sp>
        <p:nvSpPr>
          <p:cNvPr id="33" name="TextBox 32">
            <a:extLst>
              <a:ext uri="{FF2B5EF4-FFF2-40B4-BE49-F238E27FC236}">
                <a16:creationId xmlns:a16="http://schemas.microsoft.com/office/drawing/2014/main" id="{F493EC1D-ED1E-4CFC-AD0D-343AF47BF207}"/>
              </a:ext>
            </a:extLst>
          </p:cNvPr>
          <p:cNvSpPr txBox="1"/>
          <p:nvPr/>
        </p:nvSpPr>
        <p:spPr>
          <a:xfrm>
            <a:off x="2953044" y="3176564"/>
            <a:ext cx="969693" cy="246221"/>
          </a:xfrm>
          <a:prstGeom prst="rect">
            <a:avLst/>
          </a:prstGeom>
          <a:noFill/>
        </p:spPr>
        <p:txBody>
          <a:bodyPr wrap="square" rtlCol="0">
            <a:spAutoFit/>
          </a:bodyPr>
          <a:lstStyle/>
          <a:p>
            <a:r>
              <a:rPr lang="en-US" sz="1000" dirty="0"/>
              <a:t>No aGVHD2+</a:t>
            </a:r>
          </a:p>
        </p:txBody>
      </p:sp>
      <p:cxnSp>
        <p:nvCxnSpPr>
          <p:cNvPr id="34" name="Straight Connector 33">
            <a:extLst>
              <a:ext uri="{FF2B5EF4-FFF2-40B4-BE49-F238E27FC236}">
                <a16:creationId xmlns:a16="http://schemas.microsoft.com/office/drawing/2014/main" id="{8999ABEB-AEA8-4758-B549-C70C02B26D19}"/>
              </a:ext>
            </a:extLst>
          </p:cNvPr>
          <p:cNvCxnSpPr/>
          <p:nvPr/>
        </p:nvCxnSpPr>
        <p:spPr>
          <a:xfrm flipH="1">
            <a:off x="2852896" y="3146619"/>
            <a:ext cx="154377"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61B8425-7E88-405B-9982-BDA090B5E145}"/>
              </a:ext>
            </a:extLst>
          </p:cNvPr>
          <p:cNvCxnSpPr/>
          <p:nvPr/>
        </p:nvCxnSpPr>
        <p:spPr>
          <a:xfrm flipH="1">
            <a:off x="2850921" y="3299019"/>
            <a:ext cx="154377"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FDAFC63-D260-4903-8C64-A8A23FBEA2B9}"/>
              </a:ext>
            </a:extLst>
          </p:cNvPr>
          <p:cNvCxnSpPr/>
          <p:nvPr/>
        </p:nvCxnSpPr>
        <p:spPr>
          <a:xfrm>
            <a:off x="1981399" y="5214990"/>
            <a:ext cx="6331516" cy="0"/>
          </a:xfrm>
          <a:prstGeom prst="line">
            <a:avLst/>
          </a:prstGeom>
          <a:ln w="12700">
            <a:solidFill>
              <a:schemeClr val="tx1">
                <a:alpha val="91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A482C12-65CB-433F-B907-5C25EA63AD91}"/>
              </a:ext>
            </a:extLst>
          </p:cNvPr>
          <p:cNvSpPr txBox="1"/>
          <p:nvPr/>
        </p:nvSpPr>
        <p:spPr>
          <a:xfrm>
            <a:off x="4112999" y="5030324"/>
            <a:ext cx="1966334" cy="369332"/>
          </a:xfrm>
          <a:prstGeom prst="rect">
            <a:avLst/>
          </a:prstGeom>
          <a:solidFill>
            <a:schemeClr val="bg1"/>
          </a:solidFill>
        </p:spPr>
        <p:txBody>
          <a:bodyPr wrap="square" rtlCol="0">
            <a:spAutoFit/>
          </a:bodyPr>
          <a:lstStyle/>
          <a:p>
            <a:pPr algn="ctr"/>
            <a:r>
              <a:rPr lang="en-US" dirty="0"/>
              <a:t>Transplant Day</a:t>
            </a:r>
          </a:p>
        </p:txBody>
      </p:sp>
    </p:spTree>
    <p:extLst>
      <p:ext uri="{BB962C8B-B14F-4D97-AF65-F5344CB8AC3E}">
        <p14:creationId xmlns:p14="http://schemas.microsoft.com/office/powerpoint/2010/main" val="1059562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C806C8-CF43-4EF0-96DF-B295E08E56FE}"/>
              </a:ext>
            </a:extLst>
          </p:cNvPr>
          <p:cNvSpPr>
            <a:spLocks noGrp="1"/>
          </p:cNvSpPr>
          <p:nvPr>
            <p:ph type="title"/>
          </p:nvPr>
        </p:nvSpPr>
        <p:spPr/>
        <p:txBody>
          <a:bodyPr/>
          <a:lstStyle/>
          <a:p>
            <a:r>
              <a:rPr lang="en-US" dirty="0"/>
              <a:t>Outline</a:t>
            </a:r>
          </a:p>
        </p:txBody>
      </p:sp>
      <p:sp>
        <p:nvSpPr>
          <p:cNvPr id="6" name="TextBox 5">
            <a:extLst>
              <a:ext uri="{FF2B5EF4-FFF2-40B4-BE49-F238E27FC236}">
                <a16:creationId xmlns:a16="http://schemas.microsoft.com/office/drawing/2014/main" id="{2B7AAF52-CEC5-4643-9465-EEC77031BAC6}"/>
              </a:ext>
            </a:extLst>
          </p:cNvPr>
          <p:cNvSpPr txBox="1"/>
          <p:nvPr/>
        </p:nvSpPr>
        <p:spPr>
          <a:xfrm>
            <a:off x="0" y="1860199"/>
            <a:ext cx="760164" cy="45719"/>
          </a:xfrm>
          <a:prstGeom prst="rect">
            <a:avLst/>
          </a:prstGeom>
        </p:spPr>
        <p:txBody>
          <a:bodyPr vert="horz" wrap="square" lIns="91440" tIns="45720" rIns="91440" bIns="45720" rtlCol="0" anchor="ctr">
            <a:noAutofit/>
          </a:bodyPr>
          <a:lstStyle/>
          <a:p>
            <a:endParaRPr lang="en-US" sz="4000" dirty="0"/>
          </a:p>
        </p:txBody>
      </p:sp>
      <p:sp>
        <p:nvSpPr>
          <p:cNvPr id="7" name="TextBox 6">
            <a:extLst>
              <a:ext uri="{FF2B5EF4-FFF2-40B4-BE49-F238E27FC236}">
                <a16:creationId xmlns:a16="http://schemas.microsoft.com/office/drawing/2014/main" id="{F4651C35-302C-4F17-A2F3-74539B7DB51D}"/>
              </a:ext>
            </a:extLst>
          </p:cNvPr>
          <p:cNvSpPr txBox="1"/>
          <p:nvPr/>
        </p:nvSpPr>
        <p:spPr>
          <a:xfrm>
            <a:off x="429658" y="1509311"/>
            <a:ext cx="7886700" cy="4549966"/>
          </a:xfrm>
          <a:prstGeom prst="rect">
            <a:avLst/>
          </a:prstGeom>
        </p:spPr>
        <p:txBody>
          <a:bodyPr vert="horz" wrap="square" lIns="91440" tIns="45720" rIns="91440" bIns="45720" rtlCol="0" anchor="ctr">
            <a:noAutofit/>
          </a:bodyPr>
          <a:lstStyle/>
          <a:p>
            <a:endParaRPr lang="en-US" sz="4000" dirty="0"/>
          </a:p>
        </p:txBody>
      </p:sp>
      <p:sp>
        <p:nvSpPr>
          <p:cNvPr id="8" name="TextBox 7">
            <a:extLst>
              <a:ext uri="{FF2B5EF4-FFF2-40B4-BE49-F238E27FC236}">
                <a16:creationId xmlns:a16="http://schemas.microsoft.com/office/drawing/2014/main" id="{0F9F0674-B290-46D9-8C22-08F1D68606DA}"/>
              </a:ext>
            </a:extLst>
          </p:cNvPr>
          <p:cNvSpPr txBox="1"/>
          <p:nvPr/>
        </p:nvSpPr>
        <p:spPr>
          <a:xfrm>
            <a:off x="495071" y="1911426"/>
            <a:ext cx="8086380" cy="3745735"/>
          </a:xfrm>
          <a:prstGeom prst="rect">
            <a:avLst/>
          </a:prstGeom>
        </p:spPr>
        <p:txBody>
          <a:bodyPr vert="horz" wrap="none" lIns="91440" tIns="45720" rIns="91440" bIns="45720" rtlCol="0" anchor="t">
            <a:noAutofit/>
          </a:bodyPr>
          <a:lstStyle/>
          <a:p>
            <a:pPr marL="742950" indent="-742950">
              <a:buFont typeface="+mj-lt"/>
              <a:buAutoNum type="arabicParenR"/>
            </a:pPr>
            <a:r>
              <a:rPr lang="en-US" sz="3000" dirty="0"/>
              <a:t>Brief primer on transplant and GVHD</a:t>
            </a:r>
          </a:p>
          <a:p>
            <a:pPr marL="742950" indent="-742950">
              <a:buFont typeface="+mj-lt"/>
              <a:buAutoNum type="arabicParenR"/>
            </a:pPr>
            <a:endParaRPr lang="en-US" sz="3000" dirty="0"/>
          </a:p>
          <a:p>
            <a:pPr marL="742950" indent="-742950">
              <a:buFont typeface="+mj-lt"/>
              <a:buAutoNum type="arabicParenR"/>
            </a:pPr>
            <a:r>
              <a:rPr lang="en-US" sz="3000" dirty="0"/>
              <a:t>Phase I Clinical Data</a:t>
            </a:r>
          </a:p>
          <a:p>
            <a:pPr marL="742950" indent="-742950">
              <a:buFont typeface="+mj-lt"/>
              <a:buAutoNum type="arabicParenR"/>
            </a:pPr>
            <a:endParaRPr lang="en-US" sz="3000" dirty="0"/>
          </a:p>
          <a:p>
            <a:pPr marL="742950" indent="-742950">
              <a:buFont typeface="+mj-lt"/>
              <a:buAutoNum type="arabicParenR"/>
            </a:pPr>
            <a:r>
              <a:rPr lang="en-US" sz="3000" dirty="0">
                <a:solidFill>
                  <a:srgbClr val="FF0000"/>
                </a:solidFill>
              </a:rPr>
              <a:t>Animal / Mechanistic Data</a:t>
            </a:r>
          </a:p>
          <a:p>
            <a:pPr marL="742950" indent="-742950">
              <a:buFont typeface="+mj-lt"/>
              <a:buAutoNum type="arabicParenR"/>
            </a:pPr>
            <a:endParaRPr lang="en-US" sz="3000" dirty="0"/>
          </a:p>
          <a:p>
            <a:pPr marL="742950" indent="-742950">
              <a:buFont typeface="+mj-lt"/>
              <a:buAutoNum type="arabicParenR"/>
            </a:pPr>
            <a:r>
              <a:rPr lang="en-US" sz="3000" dirty="0"/>
              <a:t>Study Concept</a:t>
            </a:r>
          </a:p>
        </p:txBody>
      </p:sp>
    </p:spTree>
    <p:extLst>
      <p:ext uri="{BB962C8B-B14F-4D97-AF65-F5344CB8AC3E}">
        <p14:creationId xmlns:p14="http://schemas.microsoft.com/office/powerpoint/2010/main" val="3369623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E90145-DDD3-4B81-B092-B04AE202FBF3}"/>
              </a:ext>
            </a:extLst>
          </p:cNvPr>
          <p:cNvPicPr>
            <a:picLocks noChangeAspect="1"/>
          </p:cNvPicPr>
          <p:nvPr/>
        </p:nvPicPr>
        <p:blipFill>
          <a:blip r:embed="rId2"/>
          <a:stretch>
            <a:fillRect/>
          </a:stretch>
        </p:blipFill>
        <p:spPr>
          <a:xfrm>
            <a:off x="1123721" y="99153"/>
            <a:ext cx="6819441" cy="1108074"/>
          </a:xfrm>
          <a:prstGeom prst="rect">
            <a:avLst/>
          </a:prstGeom>
        </p:spPr>
      </p:pic>
      <p:pic>
        <p:nvPicPr>
          <p:cNvPr id="8" name="Picture 7">
            <a:extLst>
              <a:ext uri="{FF2B5EF4-FFF2-40B4-BE49-F238E27FC236}">
                <a16:creationId xmlns:a16="http://schemas.microsoft.com/office/drawing/2014/main" id="{850C0A0A-56FD-456B-B1E0-9646091983A3}"/>
              </a:ext>
            </a:extLst>
          </p:cNvPr>
          <p:cNvPicPr>
            <a:picLocks noChangeAspect="1"/>
          </p:cNvPicPr>
          <p:nvPr/>
        </p:nvPicPr>
        <p:blipFill>
          <a:blip r:embed="rId3"/>
          <a:stretch>
            <a:fillRect/>
          </a:stretch>
        </p:blipFill>
        <p:spPr>
          <a:xfrm>
            <a:off x="1227967" y="1526155"/>
            <a:ext cx="6688065" cy="4694371"/>
          </a:xfrm>
          <a:prstGeom prst="rect">
            <a:avLst/>
          </a:prstGeom>
        </p:spPr>
      </p:pic>
    </p:spTree>
    <p:extLst>
      <p:ext uri="{BB962C8B-B14F-4D97-AF65-F5344CB8AC3E}">
        <p14:creationId xmlns:p14="http://schemas.microsoft.com/office/powerpoint/2010/main" val="387391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E90145-DDD3-4B81-B092-B04AE202FBF3}"/>
              </a:ext>
            </a:extLst>
          </p:cNvPr>
          <p:cNvPicPr>
            <a:picLocks noChangeAspect="1"/>
          </p:cNvPicPr>
          <p:nvPr/>
        </p:nvPicPr>
        <p:blipFill>
          <a:blip r:embed="rId2"/>
          <a:stretch>
            <a:fillRect/>
          </a:stretch>
        </p:blipFill>
        <p:spPr>
          <a:xfrm>
            <a:off x="1123721" y="99153"/>
            <a:ext cx="6819441" cy="1108074"/>
          </a:xfrm>
          <a:prstGeom prst="rect">
            <a:avLst/>
          </a:prstGeom>
        </p:spPr>
      </p:pic>
      <p:pic>
        <p:nvPicPr>
          <p:cNvPr id="9" name="Picture 8">
            <a:extLst>
              <a:ext uri="{FF2B5EF4-FFF2-40B4-BE49-F238E27FC236}">
                <a16:creationId xmlns:a16="http://schemas.microsoft.com/office/drawing/2014/main" id="{A922EC63-0E97-48C6-BB14-0A8344AB05FB}"/>
              </a:ext>
            </a:extLst>
          </p:cNvPr>
          <p:cNvPicPr>
            <a:picLocks noChangeAspect="1"/>
          </p:cNvPicPr>
          <p:nvPr/>
        </p:nvPicPr>
        <p:blipFill>
          <a:blip r:embed="rId3"/>
          <a:stretch>
            <a:fillRect/>
          </a:stretch>
        </p:blipFill>
        <p:spPr>
          <a:xfrm>
            <a:off x="1994052" y="1494537"/>
            <a:ext cx="4080259" cy="5341429"/>
          </a:xfrm>
          <a:prstGeom prst="rect">
            <a:avLst/>
          </a:prstGeom>
        </p:spPr>
      </p:pic>
      <p:sp>
        <p:nvSpPr>
          <p:cNvPr id="10" name="Rectangle 9">
            <a:extLst>
              <a:ext uri="{FF2B5EF4-FFF2-40B4-BE49-F238E27FC236}">
                <a16:creationId xmlns:a16="http://schemas.microsoft.com/office/drawing/2014/main" id="{037135E7-7C74-4DDB-8FDC-75E799318B7C}"/>
              </a:ext>
            </a:extLst>
          </p:cNvPr>
          <p:cNvSpPr/>
          <p:nvPr/>
        </p:nvSpPr>
        <p:spPr>
          <a:xfrm>
            <a:off x="5695720" y="6573740"/>
            <a:ext cx="3448280" cy="215444"/>
          </a:xfrm>
          <a:prstGeom prst="rect">
            <a:avLst/>
          </a:prstGeom>
        </p:spPr>
        <p:txBody>
          <a:bodyPr wrap="square">
            <a:spAutoFit/>
          </a:bodyPr>
          <a:lstStyle/>
          <a:p>
            <a:pPr algn="r"/>
            <a:r>
              <a:rPr lang="en-US" sz="800" dirty="0"/>
              <a:t>https://www.rndsystems.com/pathways/inflammasome-activation-pathways</a:t>
            </a:r>
          </a:p>
        </p:txBody>
      </p:sp>
      <p:sp>
        <p:nvSpPr>
          <p:cNvPr id="2" name="Oval 1">
            <a:extLst>
              <a:ext uri="{FF2B5EF4-FFF2-40B4-BE49-F238E27FC236}">
                <a16:creationId xmlns:a16="http://schemas.microsoft.com/office/drawing/2014/main" id="{778F84F0-35FB-4590-BC44-934C0C914C79}"/>
              </a:ext>
            </a:extLst>
          </p:cNvPr>
          <p:cNvSpPr/>
          <p:nvPr/>
        </p:nvSpPr>
        <p:spPr>
          <a:xfrm>
            <a:off x="5266063" y="4307595"/>
            <a:ext cx="1134737" cy="8703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BB06195-8535-4AA5-AB9D-1154217EF999}"/>
              </a:ext>
            </a:extLst>
          </p:cNvPr>
          <p:cNvSpPr txBox="1"/>
          <p:nvPr/>
        </p:nvSpPr>
        <p:spPr>
          <a:xfrm>
            <a:off x="6400800" y="4611916"/>
            <a:ext cx="815248" cy="429658"/>
          </a:xfrm>
          <a:prstGeom prst="rect">
            <a:avLst/>
          </a:prstGeom>
        </p:spPr>
        <p:txBody>
          <a:bodyPr vert="horz" wrap="square" lIns="91440" tIns="45720" rIns="91440" bIns="45720" rtlCol="0" anchor="ctr">
            <a:noAutofit/>
          </a:bodyPr>
          <a:lstStyle/>
          <a:p>
            <a:r>
              <a:rPr lang="en-US" sz="1600" dirty="0">
                <a:solidFill>
                  <a:srgbClr val="FF0000"/>
                </a:solidFill>
              </a:rPr>
              <a:t>IL-1</a:t>
            </a:r>
            <a:r>
              <a:rPr lang="el-GR" sz="1600" dirty="0">
                <a:solidFill>
                  <a:srgbClr val="FF0000"/>
                </a:solidFill>
              </a:rPr>
              <a:t>β</a:t>
            </a:r>
            <a:endParaRPr lang="en-US" sz="1600" dirty="0">
              <a:solidFill>
                <a:srgbClr val="FF0000"/>
              </a:solidFill>
            </a:endParaRPr>
          </a:p>
          <a:p>
            <a:r>
              <a:rPr lang="en-US" sz="1600" dirty="0">
                <a:solidFill>
                  <a:srgbClr val="FF0000"/>
                </a:solidFill>
              </a:rPr>
              <a:t>IL-18</a:t>
            </a:r>
          </a:p>
        </p:txBody>
      </p:sp>
    </p:spTree>
    <p:extLst>
      <p:ext uri="{BB962C8B-B14F-4D97-AF65-F5344CB8AC3E}">
        <p14:creationId xmlns:p14="http://schemas.microsoft.com/office/powerpoint/2010/main" val="920584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6FCF9A-6DC2-4A7B-9CD6-7852E843AADC}"/>
              </a:ext>
            </a:extLst>
          </p:cNvPr>
          <p:cNvSpPr>
            <a:spLocks noGrp="1"/>
          </p:cNvSpPr>
          <p:nvPr>
            <p:ph type="title"/>
          </p:nvPr>
        </p:nvSpPr>
        <p:spPr/>
        <p:txBody>
          <a:bodyPr>
            <a:normAutofit fontScale="90000"/>
          </a:bodyPr>
          <a:lstStyle/>
          <a:p>
            <a:r>
              <a:rPr lang="en-US" dirty="0"/>
              <a:t>Reduction of GVHD in Mouse Models</a:t>
            </a:r>
          </a:p>
        </p:txBody>
      </p:sp>
      <p:sp>
        <p:nvSpPr>
          <p:cNvPr id="5" name="Rectangle 4">
            <a:extLst>
              <a:ext uri="{FF2B5EF4-FFF2-40B4-BE49-F238E27FC236}">
                <a16:creationId xmlns:a16="http://schemas.microsoft.com/office/drawing/2014/main" id="{63227417-6246-423E-B1D4-FB4CEDC04A1E}"/>
              </a:ext>
            </a:extLst>
          </p:cNvPr>
          <p:cNvSpPr/>
          <p:nvPr/>
        </p:nvSpPr>
        <p:spPr>
          <a:xfrm>
            <a:off x="1921636" y="2459789"/>
            <a:ext cx="780681" cy="369332"/>
          </a:xfrm>
          <a:prstGeom prst="rect">
            <a:avLst/>
          </a:prstGeom>
        </p:spPr>
        <p:txBody>
          <a:bodyPr wrap="square">
            <a:spAutoFit/>
          </a:bodyPr>
          <a:lstStyle/>
          <a:p>
            <a:pPr algn="ctr"/>
            <a:r>
              <a:rPr lang="en-US" dirty="0"/>
              <a:t>B6</a:t>
            </a:r>
            <a:endParaRPr lang="en-US" baseline="30000" dirty="0"/>
          </a:p>
        </p:txBody>
      </p:sp>
      <p:pic>
        <p:nvPicPr>
          <p:cNvPr id="6" name="Picture 2" descr="http://www.clker.com/cliparts/I/o/j/i/v/L/white-lab-mouse-md.png">
            <a:extLst>
              <a:ext uri="{FF2B5EF4-FFF2-40B4-BE49-F238E27FC236}">
                <a16:creationId xmlns:a16="http://schemas.microsoft.com/office/drawing/2014/main" id="{9E963C61-3CFF-41B7-A75A-FAE68D40E0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20787" y="2840968"/>
            <a:ext cx="568391" cy="6766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ouse | dark grey lab mouse clip art">
            <a:extLst>
              <a:ext uri="{FF2B5EF4-FFF2-40B4-BE49-F238E27FC236}">
                <a16:creationId xmlns:a16="http://schemas.microsoft.com/office/drawing/2014/main" id="{7733EDED-0CFC-4DD7-BF38-48810710FC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8737" y="2828278"/>
            <a:ext cx="570451" cy="677561"/>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23E897D0-FDE5-400A-8D7F-7CDF507B48DB}"/>
              </a:ext>
            </a:extLst>
          </p:cNvPr>
          <p:cNvCxnSpPr>
            <a:cxnSpLocks/>
          </p:cNvCxnSpPr>
          <p:nvPr/>
        </p:nvCxnSpPr>
        <p:spPr>
          <a:xfrm flipV="1">
            <a:off x="2803252" y="3179297"/>
            <a:ext cx="113431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7B893A8-6585-4E03-BB75-17A2D4BED9FC}"/>
              </a:ext>
            </a:extLst>
          </p:cNvPr>
          <p:cNvSpPr/>
          <p:nvPr/>
        </p:nvSpPr>
        <p:spPr>
          <a:xfrm>
            <a:off x="3878113" y="2477290"/>
            <a:ext cx="1134312" cy="369332"/>
          </a:xfrm>
          <a:prstGeom prst="rect">
            <a:avLst/>
          </a:prstGeom>
        </p:spPr>
        <p:txBody>
          <a:bodyPr wrap="square">
            <a:spAutoFit/>
          </a:bodyPr>
          <a:lstStyle/>
          <a:p>
            <a:pPr algn="ctr"/>
            <a:r>
              <a:rPr lang="en-US" dirty="0" err="1"/>
              <a:t>BALB.c</a:t>
            </a:r>
            <a:endParaRPr lang="en-US" baseline="30000" dirty="0"/>
          </a:p>
        </p:txBody>
      </p:sp>
      <p:sp>
        <p:nvSpPr>
          <p:cNvPr id="10" name="Rectangle 9">
            <a:extLst>
              <a:ext uri="{FF2B5EF4-FFF2-40B4-BE49-F238E27FC236}">
                <a16:creationId xmlns:a16="http://schemas.microsoft.com/office/drawing/2014/main" id="{F01D035B-F458-42F5-B45A-BDDB65C741C5}"/>
              </a:ext>
            </a:extLst>
          </p:cNvPr>
          <p:cNvSpPr/>
          <p:nvPr/>
        </p:nvSpPr>
        <p:spPr>
          <a:xfrm>
            <a:off x="3116494" y="2868430"/>
            <a:ext cx="503664" cy="338554"/>
          </a:xfrm>
          <a:prstGeom prst="rect">
            <a:avLst/>
          </a:prstGeom>
        </p:spPr>
        <p:txBody>
          <a:bodyPr wrap="none">
            <a:spAutoFit/>
          </a:bodyPr>
          <a:lstStyle/>
          <a:p>
            <a:r>
              <a:rPr lang="en-US" sz="1600" dirty="0"/>
              <a:t>TBI</a:t>
            </a:r>
          </a:p>
        </p:txBody>
      </p:sp>
      <p:cxnSp>
        <p:nvCxnSpPr>
          <p:cNvPr id="11" name="Straight Arrow Connector 10">
            <a:extLst>
              <a:ext uri="{FF2B5EF4-FFF2-40B4-BE49-F238E27FC236}">
                <a16:creationId xmlns:a16="http://schemas.microsoft.com/office/drawing/2014/main" id="{3113B3DF-8B2B-48FD-8692-FEEF29D03D20}"/>
              </a:ext>
            </a:extLst>
          </p:cNvPr>
          <p:cNvCxnSpPr>
            <a:cxnSpLocks/>
          </p:cNvCxnSpPr>
          <p:nvPr/>
        </p:nvCxnSpPr>
        <p:spPr>
          <a:xfrm flipV="1">
            <a:off x="5040203" y="3166826"/>
            <a:ext cx="113431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80E3D27-CC81-466F-8C90-581E1492ABB7}"/>
              </a:ext>
            </a:extLst>
          </p:cNvPr>
          <p:cNvSpPr/>
          <p:nvPr/>
        </p:nvSpPr>
        <p:spPr>
          <a:xfrm>
            <a:off x="6228701" y="2995640"/>
            <a:ext cx="889987" cy="338554"/>
          </a:xfrm>
          <a:prstGeom prst="rect">
            <a:avLst/>
          </a:prstGeom>
        </p:spPr>
        <p:txBody>
          <a:bodyPr wrap="none">
            <a:spAutoFit/>
          </a:bodyPr>
          <a:lstStyle/>
          <a:p>
            <a:r>
              <a:rPr lang="en-US" sz="1600" dirty="0"/>
              <a:t>?GVHD</a:t>
            </a:r>
          </a:p>
        </p:txBody>
      </p:sp>
      <p:sp>
        <p:nvSpPr>
          <p:cNvPr id="13" name="Rectangle 12">
            <a:extLst>
              <a:ext uri="{FF2B5EF4-FFF2-40B4-BE49-F238E27FC236}">
                <a16:creationId xmlns:a16="http://schemas.microsoft.com/office/drawing/2014/main" id="{27216273-05D1-416D-8102-E239B88C9994}"/>
              </a:ext>
            </a:extLst>
          </p:cNvPr>
          <p:cNvSpPr/>
          <p:nvPr/>
        </p:nvSpPr>
        <p:spPr>
          <a:xfrm>
            <a:off x="2803252" y="3167285"/>
            <a:ext cx="1145250" cy="338554"/>
          </a:xfrm>
          <a:prstGeom prst="rect">
            <a:avLst/>
          </a:prstGeom>
        </p:spPr>
        <p:txBody>
          <a:bodyPr wrap="none">
            <a:spAutoFit/>
          </a:bodyPr>
          <a:lstStyle/>
          <a:p>
            <a:r>
              <a:rPr lang="en-US" sz="1600" dirty="0"/>
              <a:t>Transplant</a:t>
            </a:r>
          </a:p>
        </p:txBody>
      </p:sp>
      <p:cxnSp>
        <p:nvCxnSpPr>
          <p:cNvPr id="14" name="Straight Arrow Connector 13">
            <a:extLst>
              <a:ext uri="{FF2B5EF4-FFF2-40B4-BE49-F238E27FC236}">
                <a16:creationId xmlns:a16="http://schemas.microsoft.com/office/drawing/2014/main" id="{EF69985D-AA88-4E54-BE57-F94159A4ADFF}"/>
              </a:ext>
            </a:extLst>
          </p:cNvPr>
          <p:cNvCxnSpPr>
            <a:cxnSpLocks/>
          </p:cNvCxnSpPr>
          <p:nvPr/>
        </p:nvCxnSpPr>
        <p:spPr>
          <a:xfrm flipV="1">
            <a:off x="3836629" y="3669110"/>
            <a:ext cx="0" cy="10310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5FC441B-A1CB-43C7-B23E-D9172F50DDB5}"/>
              </a:ext>
            </a:extLst>
          </p:cNvPr>
          <p:cNvCxnSpPr>
            <a:cxnSpLocks/>
          </p:cNvCxnSpPr>
          <p:nvPr/>
        </p:nvCxnSpPr>
        <p:spPr>
          <a:xfrm flipV="1">
            <a:off x="5040203" y="3669110"/>
            <a:ext cx="0" cy="10310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A121819-5F6B-40C3-A84A-2EB910294117}"/>
              </a:ext>
            </a:extLst>
          </p:cNvPr>
          <p:cNvSpPr txBox="1"/>
          <p:nvPr/>
        </p:nvSpPr>
        <p:spPr>
          <a:xfrm>
            <a:off x="3182130" y="4763614"/>
            <a:ext cx="1308997" cy="338554"/>
          </a:xfrm>
          <a:prstGeom prst="rect">
            <a:avLst/>
          </a:prstGeom>
          <a:noFill/>
        </p:spPr>
        <p:txBody>
          <a:bodyPr wrap="square" rtlCol="0">
            <a:spAutoFit/>
          </a:bodyPr>
          <a:lstStyle/>
          <a:p>
            <a:pPr algn="ctr"/>
            <a:r>
              <a:rPr lang="en-US" sz="1600" dirty="0">
                <a:solidFill>
                  <a:srgbClr val="FF0000"/>
                </a:solidFill>
              </a:rPr>
              <a:t>D-1 uricase</a:t>
            </a:r>
          </a:p>
        </p:txBody>
      </p:sp>
      <p:sp>
        <p:nvSpPr>
          <p:cNvPr id="17" name="TextBox 16">
            <a:extLst>
              <a:ext uri="{FF2B5EF4-FFF2-40B4-BE49-F238E27FC236}">
                <a16:creationId xmlns:a16="http://schemas.microsoft.com/office/drawing/2014/main" id="{8BB70C64-3E45-40F9-B2FF-8A7763BBDE46}"/>
              </a:ext>
            </a:extLst>
          </p:cNvPr>
          <p:cNvSpPr txBox="1"/>
          <p:nvPr/>
        </p:nvSpPr>
        <p:spPr>
          <a:xfrm>
            <a:off x="4482106" y="4763614"/>
            <a:ext cx="1134312" cy="338554"/>
          </a:xfrm>
          <a:prstGeom prst="rect">
            <a:avLst/>
          </a:prstGeom>
          <a:noFill/>
        </p:spPr>
        <p:txBody>
          <a:bodyPr wrap="square" rtlCol="0">
            <a:spAutoFit/>
          </a:bodyPr>
          <a:lstStyle/>
          <a:p>
            <a:pPr algn="ctr"/>
            <a:r>
              <a:rPr lang="en-US" sz="1600" dirty="0">
                <a:solidFill>
                  <a:srgbClr val="FF0000"/>
                </a:solidFill>
              </a:rPr>
              <a:t>D5 uricase</a:t>
            </a:r>
          </a:p>
        </p:txBody>
      </p:sp>
      <p:pic>
        <p:nvPicPr>
          <p:cNvPr id="18" name="Picture 17">
            <a:extLst>
              <a:ext uri="{FF2B5EF4-FFF2-40B4-BE49-F238E27FC236}">
                <a16:creationId xmlns:a16="http://schemas.microsoft.com/office/drawing/2014/main" id="{FA91C08E-0265-4032-BF38-42338026AB01}"/>
              </a:ext>
            </a:extLst>
          </p:cNvPr>
          <p:cNvPicPr>
            <a:picLocks noChangeAspect="1"/>
          </p:cNvPicPr>
          <p:nvPr/>
        </p:nvPicPr>
        <p:blipFill>
          <a:blip r:embed="rId4"/>
          <a:stretch>
            <a:fillRect/>
          </a:stretch>
        </p:blipFill>
        <p:spPr>
          <a:xfrm>
            <a:off x="5729203" y="6520752"/>
            <a:ext cx="3238095" cy="238095"/>
          </a:xfrm>
          <a:prstGeom prst="rect">
            <a:avLst/>
          </a:prstGeom>
        </p:spPr>
      </p:pic>
    </p:spTree>
    <p:extLst>
      <p:ext uri="{BB962C8B-B14F-4D97-AF65-F5344CB8AC3E}">
        <p14:creationId xmlns:p14="http://schemas.microsoft.com/office/powerpoint/2010/main" val="281750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6FCF9A-6DC2-4A7B-9CD6-7852E843AADC}"/>
              </a:ext>
            </a:extLst>
          </p:cNvPr>
          <p:cNvSpPr>
            <a:spLocks noGrp="1"/>
          </p:cNvSpPr>
          <p:nvPr>
            <p:ph type="title"/>
          </p:nvPr>
        </p:nvSpPr>
        <p:spPr/>
        <p:txBody>
          <a:bodyPr>
            <a:normAutofit fontScale="90000"/>
          </a:bodyPr>
          <a:lstStyle/>
          <a:p>
            <a:r>
              <a:rPr lang="en-US" dirty="0"/>
              <a:t>Reduction of GVHD in Mouse Models</a:t>
            </a:r>
          </a:p>
        </p:txBody>
      </p:sp>
      <p:pic>
        <p:nvPicPr>
          <p:cNvPr id="18" name="Picture 17">
            <a:extLst>
              <a:ext uri="{FF2B5EF4-FFF2-40B4-BE49-F238E27FC236}">
                <a16:creationId xmlns:a16="http://schemas.microsoft.com/office/drawing/2014/main" id="{7B441E8D-2512-46EE-8A7C-47C1F3A4B39B}"/>
              </a:ext>
            </a:extLst>
          </p:cNvPr>
          <p:cNvPicPr>
            <a:picLocks noChangeAspect="1"/>
          </p:cNvPicPr>
          <p:nvPr/>
        </p:nvPicPr>
        <p:blipFill>
          <a:blip r:embed="rId2"/>
          <a:stretch>
            <a:fillRect/>
          </a:stretch>
        </p:blipFill>
        <p:spPr>
          <a:xfrm>
            <a:off x="2210886" y="2839548"/>
            <a:ext cx="4267112" cy="3273552"/>
          </a:xfrm>
          <a:prstGeom prst="rect">
            <a:avLst/>
          </a:prstGeom>
        </p:spPr>
      </p:pic>
      <p:sp>
        <p:nvSpPr>
          <p:cNvPr id="19" name="Rectangle 18">
            <a:extLst>
              <a:ext uri="{FF2B5EF4-FFF2-40B4-BE49-F238E27FC236}">
                <a16:creationId xmlns:a16="http://schemas.microsoft.com/office/drawing/2014/main" id="{7FADED89-0F64-47AC-B1DC-03D2525E3C42}"/>
              </a:ext>
            </a:extLst>
          </p:cNvPr>
          <p:cNvSpPr/>
          <p:nvPr/>
        </p:nvSpPr>
        <p:spPr>
          <a:xfrm>
            <a:off x="2869985" y="1525209"/>
            <a:ext cx="1134312" cy="369332"/>
          </a:xfrm>
          <a:prstGeom prst="rect">
            <a:avLst/>
          </a:prstGeom>
        </p:spPr>
        <p:txBody>
          <a:bodyPr wrap="square">
            <a:spAutoFit/>
          </a:bodyPr>
          <a:lstStyle/>
          <a:p>
            <a:pPr algn="ctr"/>
            <a:r>
              <a:rPr lang="en-US" dirty="0"/>
              <a:t>B6</a:t>
            </a:r>
            <a:endParaRPr lang="en-US" baseline="30000" dirty="0"/>
          </a:p>
        </p:txBody>
      </p:sp>
      <p:pic>
        <p:nvPicPr>
          <p:cNvPr id="20" name="Picture 2" descr="http://www.clker.com/cliparts/I/o/j/i/v/L/white-lab-mouse-md.png">
            <a:extLst>
              <a:ext uri="{FF2B5EF4-FFF2-40B4-BE49-F238E27FC236}">
                <a16:creationId xmlns:a16="http://schemas.microsoft.com/office/drawing/2014/main" id="{0F2BC2D0-E4DF-41C8-A7D7-455E9DAE84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34391" y="1871977"/>
            <a:ext cx="568391" cy="67665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mouse | dark grey lab mouse clip art">
            <a:extLst>
              <a:ext uri="{FF2B5EF4-FFF2-40B4-BE49-F238E27FC236}">
                <a16:creationId xmlns:a16="http://schemas.microsoft.com/office/drawing/2014/main" id="{6E9E2BC9-3E0D-49B5-AEF7-ACDBE298357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72341" y="1859287"/>
            <a:ext cx="570451" cy="677561"/>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5787AEF6-1DD4-48D3-A875-1984EF8B2B79}"/>
              </a:ext>
            </a:extLst>
          </p:cNvPr>
          <p:cNvCxnSpPr>
            <a:cxnSpLocks/>
          </p:cNvCxnSpPr>
          <p:nvPr/>
        </p:nvCxnSpPr>
        <p:spPr>
          <a:xfrm flipV="1">
            <a:off x="3916856" y="2210306"/>
            <a:ext cx="113431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0DD7A2B-DC1E-48F5-94F2-9DC0048BFA76}"/>
              </a:ext>
            </a:extLst>
          </p:cNvPr>
          <p:cNvSpPr/>
          <p:nvPr/>
        </p:nvSpPr>
        <p:spPr>
          <a:xfrm>
            <a:off x="5007086" y="1520132"/>
            <a:ext cx="1134312" cy="369332"/>
          </a:xfrm>
          <a:prstGeom prst="rect">
            <a:avLst/>
          </a:prstGeom>
        </p:spPr>
        <p:txBody>
          <a:bodyPr wrap="square">
            <a:spAutoFit/>
          </a:bodyPr>
          <a:lstStyle/>
          <a:p>
            <a:pPr algn="ctr"/>
            <a:r>
              <a:rPr lang="en-US" dirty="0" err="1"/>
              <a:t>BALB.c</a:t>
            </a:r>
            <a:endParaRPr lang="en-US" baseline="30000" dirty="0"/>
          </a:p>
        </p:txBody>
      </p:sp>
      <p:sp>
        <p:nvSpPr>
          <p:cNvPr id="24" name="Rectangle 23">
            <a:extLst>
              <a:ext uri="{FF2B5EF4-FFF2-40B4-BE49-F238E27FC236}">
                <a16:creationId xmlns:a16="http://schemas.microsoft.com/office/drawing/2014/main" id="{0404EBF2-789F-4E9C-BD25-4F187AFC9785}"/>
              </a:ext>
            </a:extLst>
          </p:cNvPr>
          <p:cNvSpPr/>
          <p:nvPr/>
        </p:nvSpPr>
        <p:spPr>
          <a:xfrm>
            <a:off x="4252676" y="1933306"/>
            <a:ext cx="381836" cy="276999"/>
          </a:xfrm>
          <a:prstGeom prst="rect">
            <a:avLst/>
          </a:prstGeom>
        </p:spPr>
        <p:txBody>
          <a:bodyPr wrap="none">
            <a:spAutoFit/>
          </a:bodyPr>
          <a:lstStyle/>
          <a:p>
            <a:r>
              <a:rPr lang="en-US" sz="1200" dirty="0"/>
              <a:t>TBI</a:t>
            </a:r>
          </a:p>
        </p:txBody>
      </p:sp>
    </p:spTree>
    <p:extLst>
      <p:ext uri="{BB962C8B-B14F-4D97-AF65-F5344CB8AC3E}">
        <p14:creationId xmlns:p14="http://schemas.microsoft.com/office/powerpoint/2010/main" val="129486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C806C8-CF43-4EF0-96DF-B295E08E56FE}"/>
              </a:ext>
            </a:extLst>
          </p:cNvPr>
          <p:cNvSpPr>
            <a:spLocks noGrp="1"/>
          </p:cNvSpPr>
          <p:nvPr>
            <p:ph type="title"/>
          </p:nvPr>
        </p:nvSpPr>
        <p:spPr/>
        <p:txBody>
          <a:bodyPr/>
          <a:lstStyle/>
          <a:p>
            <a:r>
              <a:rPr lang="en-US" dirty="0"/>
              <a:t>Outline</a:t>
            </a:r>
          </a:p>
        </p:txBody>
      </p:sp>
      <p:sp>
        <p:nvSpPr>
          <p:cNvPr id="6" name="TextBox 5">
            <a:extLst>
              <a:ext uri="{FF2B5EF4-FFF2-40B4-BE49-F238E27FC236}">
                <a16:creationId xmlns:a16="http://schemas.microsoft.com/office/drawing/2014/main" id="{2B7AAF52-CEC5-4643-9465-EEC77031BAC6}"/>
              </a:ext>
            </a:extLst>
          </p:cNvPr>
          <p:cNvSpPr txBox="1"/>
          <p:nvPr/>
        </p:nvSpPr>
        <p:spPr>
          <a:xfrm>
            <a:off x="0" y="1860199"/>
            <a:ext cx="760164" cy="45719"/>
          </a:xfrm>
          <a:prstGeom prst="rect">
            <a:avLst/>
          </a:prstGeom>
        </p:spPr>
        <p:txBody>
          <a:bodyPr vert="horz" wrap="square" lIns="91440" tIns="45720" rIns="91440" bIns="45720" rtlCol="0" anchor="ctr">
            <a:noAutofit/>
          </a:bodyPr>
          <a:lstStyle/>
          <a:p>
            <a:endParaRPr lang="en-US" sz="4000" dirty="0"/>
          </a:p>
        </p:txBody>
      </p:sp>
      <p:sp>
        <p:nvSpPr>
          <p:cNvPr id="7" name="TextBox 6">
            <a:extLst>
              <a:ext uri="{FF2B5EF4-FFF2-40B4-BE49-F238E27FC236}">
                <a16:creationId xmlns:a16="http://schemas.microsoft.com/office/drawing/2014/main" id="{F4651C35-302C-4F17-A2F3-74539B7DB51D}"/>
              </a:ext>
            </a:extLst>
          </p:cNvPr>
          <p:cNvSpPr txBox="1"/>
          <p:nvPr/>
        </p:nvSpPr>
        <p:spPr>
          <a:xfrm>
            <a:off x="429658" y="1509311"/>
            <a:ext cx="7886700" cy="4549966"/>
          </a:xfrm>
          <a:prstGeom prst="rect">
            <a:avLst/>
          </a:prstGeom>
        </p:spPr>
        <p:txBody>
          <a:bodyPr vert="horz" wrap="square" lIns="91440" tIns="45720" rIns="91440" bIns="45720" rtlCol="0" anchor="ctr">
            <a:noAutofit/>
          </a:bodyPr>
          <a:lstStyle/>
          <a:p>
            <a:endParaRPr lang="en-US" sz="4000" dirty="0"/>
          </a:p>
        </p:txBody>
      </p:sp>
      <p:sp>
        <p:nvSpPr>
          <p:cNvPr id="8" name="TextBox 7">
            <a:extLst>
              <a:ext uri="{FF2B5EF4-FFF2-40B4-BE49-F238E27FC236}">
                <a16:creationId xmlns:a16="http://schemas.microsoft.com/office/drawing/2014/main" id="{0F9F0674-B290-46D9-8C22-08F1D68606DA}"/>
              </a:ext>
            </a:extLst>
          </p:cNvPr>
          <p:cNvSpPr txBox="1"/>
          <p:nvPr/>
        </p:nvSpPr>
        <p:spPr>
          <a:xfrm>
            <a:off x="495071" y="1911426"/>
            <a:ext cx="8086380" cy="3745735"/>
          </a:xfrm>
          <a:prstGeom prst="rect">
            <a:avLst/>
          </a:prstGeom>
        </p:spPr>
        <p:txBody>
          <a:bodyPr vert="horz" wrap="none" lIns="91440" tIns="45720" rIns="91440" bIns="45720" rtlCol="0" anchor="t">
            <a:noAutofit/>
          </a:bodyPr>
          <a:lstStyle/>
          <a:p>
            <a:pPr marL="742950" indent="-742950">
              <a:buFont typeface="+mj-lt"/>
              <a:buAutoNum type="arabicParenR"/>
            </a:pPr>
            <a:r>
              <a:rPr lang="en-US" sz="3000" dirty="0"/>
              <a:t>Brief primer on transplant and GVHD</a:t>
            </a:r>
          </a:p>
          <a:p>
            <a:pPr marL="742950" indent="-742950">
              <a:buFont typeface="+mj-lt"/>
              <a:buAutoNum type="arabicParenR"/>
            </a:pPr>
            <a:endParaRPr lang="en-US" sz="3000" dirty="0"/>
          </a:p>
          <a:p>
            <a:pPr marL="742950" indent="-742950">
              <a:buFont typeface="+mj-lt"/>
              <a:buAutoNum type="arabicParenR"/>
            </a:pPr>
            <a:r>
              <a:rPr lang="en-US" sz="3000" dirty="0"/>
              <a:t>Phase I Clinical Data</a:t>
            </a:r>
          </a:p>
          <a:p>
            <a:pPr marL="742950" indent="-742950">
              <a:buFont typeface="+mj-lt"/>
              <a:buAutoNum type="arabicParenR"/>
            </a:pPr>
            <a:endParaRPr lang="en-US" sz="3000" dirty="0"/>
          </a:p>
          <a:p>
            <a:pPr marL="742950" indent="-742950">
              <a:buFont typeface="+mj-lt"/>
              <a:buAutoNum type="arabicParenR"/>
            </a:pPr>
            <a:r>
              <a:rPr lang="en-US" sz="3000" dirty="0"/>
              <a:t>Animal / Mechanistic Data</a:t>
            </a:r>
          </a:p>
          <a:p>
            <a:pPr marL="742950" indent="-742950">
              <a:buFont typeface="+mj-lt"/>
              <a:buAutoNum type="arabicParenR"/>
            </a:pPr>
            <a:endParaRPr lang="en-US" sz="3000" dirty="0"/>
          </a:p>
          <a:p>
            <a:pPr marL="742950" indent="-742950">
              <a:buFont typeface="+mj-lt"/>
              <a:buAutoNum type="arabicParenR"/>
            </a:pPr>
            <a:r>
              <a:rPr lang="en-US" sz="3000" dirty="0">
                <a:solidFill>
                  <a:srgbClr val="FF0000"/>
                </a:solidFill>
              </a:rPr>
              <a:t>Study Concept</a:t>
            </a:r>
          </a:p>
        </p:txBody>
      </p:sp>
    </p:spTree>
    <p:extLst>
      <p:ext uri="{BB962C8B-B14F-4D97-AF65-F5344CB8AC3E}">
        <p14:creationId xmlns:p14="http://schemas.microsoft.com/office/powerpoint/2010/main" val="1338142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E00CF6-C91F-4DF9-B223-CB956ADC415D}"/>
              </a:ext>
            </a:extLst>
          </p:cNvPr>
          <p:cNvSpPr>
            <a:spLocks noGrp="1"/>
          </p:cNvSpPr>
          <p:nvPr>
            <p:ph sz="half" idx="1"/>
          </p:nvPr>
        </p:nvSpPr>
        <p:spPr>
          <a:xfrm>
            <a:off x="628650" y="1598400"/>
            <a:ext cx="7886700" cy="4578563"/>
          </a:xfrm>
        </p:spPr>
        <p:txBody>
          <a:bodyPr/>
          <a:lstStyle/>
          <a:p>
            <a:pPr marL="457200" indent="-457200">
              <a:buFont typeface="Arial" panose="020B0604020202020204" pitchFamily="34" charset="0"/>
              <a:buChar char="•"/>
            </a:pPr>
            <a:r>
              <a:rPr lang="en-US" dirty="0"/>
              <a:t>Favorable pharmacokinetics for reducing uric acid for the duration of conditioning with a single administration</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Safety profile has been established for patients with chronic gout</a:t>
            </a:r>
          </a:p>
          <a:p>
            <a:pPr marL="1143000" lvl="1" indent="-457200"/>
            <a:r>
              <a:rPr lang="en-US" dirty="0"/>
              <a:t>We would not require repeated administration</a:t>
            </a:r>
          </a:p>
        </p:txBody>
      </p:sp>
      <p:sp>
        <p:nvSpPr>
          <p:cNvPr id="4" name="Title 3">
            <a:extLst>
              <a:ext uri="{FF2B5EF4-FFF2-40B4-BE49-F238E27FC236}">
                <a16:creationId xmlns:a16="http://schemas.microsoft.com/office/drawing/2014/main" id="{617DCDD7-6513-48A3-BBCE-944DEBF043CF}"/>
              </a:ext>
            </a:extLst>
          </p:cNvPr>
          <p:cNvSpPr>
            <a:spLocks noGrp="1"/>
          </p:cNvSpPr>
          <p:nvPr>
            <p:ph type="title"/>
          </p:nvPr>
        </p:nvSpPr>
        <p:spPr/>
        <p:txBody>
          <a:bodyPr/>
          <a:lstStyle/>
          <a:p>
            <a:r>
              <a:rPr lang="en-US" dirty="0"/>
              <a:t>Pegylated Uricase</a:t>
            </a:r>
          </a:p>
        </p:txBody>
      </p:sp>
    </p:spTree>
    <p:extLst>
      <p:ext uri="{BB962C8B-B14F-4D97-AF65-F5344CB8AC3E}">
        <p14:creationId xmlns:p14="http://schemas.microsoft.com/office/powerpoint/2010/main" val="19239085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3A6866-B542-4FA1-A315-9675740573BD}"/>
              </a:ext>
            </a:extLst>
          </p:cNvPr>
          <p:cNvSpPr>
            <a:spLocks noGrp="1"/>
          </p:cNvSpPr>
          <p:nvPr>
            <p:ph type="title"/>
          </p:nvPr>
        </p:nvSpPr>
        <p:spPr/>
        <p:txBody>
          <a:bodyPr/>
          <a:lstStyle/>
          <a:p>
            <a:r>
              <a:rPr lang="en-US" dirty="0"/>
              <a:t>Study Concept</a:t>
            </a:r>
          </a:p>
        </p:txBody>
      </p:sp>
      <p:pic>
        <p:nvPicPr>
          <p:cNvPr id="6" name="Picture 5">
            <a:extLst>
              <a:ext uri="{FF2B5EF4-FFF2-40B4-BE49-F238E27FC236}">
                <a16:creationId xmlns:a16="http://schemas.microsoft.com/office/drawing/2014/main" id="{2CC253BF-1650-4AD7-B267-C269C0276202}"/>
              </a:ext>
            </a:extLst>
          </p:cNvPr>
          <p:cNvPicPr>
            <a:picLocks noChangeAspect="1"/>
          </p:cNvPicPr>
          <p:nvPr/>
        </p:nvPicPr>
        <p:blipFill>
          <a:blip r:embed="rId2"/>
          <a:stretch>
            <a:fillRect/>
          </a:stretch>
        </p:blipFill>
        <p:spPr>
          <a:xfrm flipH="1">
            <a:off x="2908297" y="2039382"/>
            <a:ext cx="897145" cy="2277611"/>
          </a:xfrm>
          <a:prstGeom prst="rect">
            <a:avLst/>
          </a:prstGeom>
        </p:spPr>
      </p:pic>
      <p:sp>
        <p:nvSpPr>
          <p:cNvPr id="7" name="TextBox 6">
            <a:extLst>
              <a:ext uri="{FF2B5EF4-FFF2-40B4-BE49-F238E27FC236}">
                <a16:creationId xmlns:a16="http://schemas.microsoft.com/office/drawing/2014/main" id="{84A0FEC0-0A45-4751-B5DD-1316195F5DC3}"/>
              </a:ext>
            </a:extLst>
          </p:cNvPr>
          <p:cNvSpPr txBox="1"/>
          <p:nvPr/>
        </p:nvSpPr>
        <p:spPr>
          <a:xfrm>
            <a:off x="2912664" y="2505987"/>
            <a:ext cx="897145" cy="276999"/>
          </a:xfrm>
          <a:prstGeom prst="rect">
            <a:avLst/>
          </a:prstGeom>
          <a:noFill/>
        </p:spPr>
        <p:txBody>
          <a:bodyPr wrap="square" rtlCol="0">
            <a:spAutoFit/>
          </a:bodyPr>
          <a:lstStyle/>
          <a:p>
            <a:pPr algn="ctr"/>
            <a:r>
              <a:rPr lang="en-US" sz="1200" dirty="0">
                <a:solidFill>
                  <a:srgbClr val="0070C0"/>
                </a:solidFill>
              </a:rPr>
              <a:t>Recipient</a:t>
            </a:r>
          </a:p>
        </p:txBody>
      </p:sp>
      <p:pic>
        <p:nvPicPr>
          <p:cNvPr id="8" name="Picture 7">
            <a:extLst>
              <a:ext uri="{FF2B5EF4-FFF2-40B4-BE49-F238E27FC236}">
                <a16:creationId xmlns:a16="http://schemas.microsoft.com/office/drawing/2014/main" id="{D24B9923-F971-43D9-AB03-E79B47FF5B54}"/>
              </a:ext>
            </a:extLst>
          </p:cNvPr>
          <p:cNvPicPr>
            <a:picLocks noChangeAspect="1"/>
          </p:cNvPicPr>
          <p:nvPr/>
        </p:nvPicPr>
        <p:blipFill>
          <a:blip r:embed="rId2"/>
          <a:stretch>
            <a:fillRect/>
          </a:stretch>
        </p:blipFill>
        <p:spPr>
          <a:xfrm flipH="1">
            <a:off x="543356" y="1992130"/>
            <a:ext cx="897145" cy="2277611"/>
          </a:xfrm>
          <a:prstGeom prst="rect">
            <a:avLst/>
          </a:prstGeom>
        </p:spPr>
      </p:pic>
      <p:sp>
        <p:nvSpPr>
          <p:cNvPr id="9" name="TextBox 8">
            <a:extLst>
              <a:ext uri="{FF2B5EF4-FFF2-40B4-BE49-F238E27FC236}">
                <a16:creationId xmlns:a16="http://schemas.microsoft.com/office/drawing/2014/main" id="{7F8323A6-6303-4A7F-BAFA-C9456E71757B}"/>
              </a:ext>
            </a:extLst>
          </p:cNvPr>
          <p:cNvSpPr txBox="1"/>
          <p:nvPr/>
        </p:nvSpPr>
        <p:spPr>
          <a:xfrm>
            <a:off x="652821" y="2433041"/>
            <a:ext cx="669268" cy="276999"/>
          </a:xfrm>
          <a:prstGeom prst="rect">
            <a:avLst/>
          </a:prstGeom>
          <a:noFill/>
        </p:spPr>
        <p:txBody>
          <a:bodyPr wrap="square" rtlCol="0">
            <a:spAutoFit/>
          </a:bodyPr>
          <a:lstStyle/>
          <a:p>
            <a:pPr algn="ctr"/>
            <a:r>
              <a:rPr lang="en-US" sz="1200" dirty="0">
                <a:solidFill>
                  <a:srgbClr val="FF0000"/>
                </a:solidFill>
              </a:rPr>
              <a:t>Donor</a:t>
            </a:r>
          </a:p>
        </p:txBody>
      </p:sp>
      <p:pic>
        <p:nvPicPr>
          <p:cNvPr id="10" name="Picture 6" descr="Image result for blood bag outline">
            <a:extLst>
              <a:ext uri="{FF2B5EF4-FFF2-40B4-BE49-F238E27FC236}">
                <a16:creationId xmlns:a16="http://schemas.microsoft.com/office/drawing/2014/main" id="{52C83E0D-F90F-466C-807B-EE5F2BADB7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2607" y="2414790"/>
            <a:ext cx="763398" cy="76339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C3D5D70C-5974-4DF9-8C16-301758E7693F}"/>
              </a:ext>
            </a:extLst>
          </p:cNvPr>
          <p:cNvCxnSpPr>
            <a:cxnSpLocks/>
          </p:cNvCxnSpPr>
          <p:nvPr/>
        </p:nvCxnSpPr>
        <p:spPr>
          <a:xfrm>
            <a:off x="2066005" y="2973652"/>
            <a:ext cx="74600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19179F3A-7C46-42B3-8887-CF229A4033EF}"/>
              </a:ext>
            </a:extLst>
          </p:cNvPr>
          <p:cNvSpPr txBox="1"/>
          <p:nvPr/>
        </p:nvSpPr>
        <p:spPr>
          <a:xfrm>
            <a:off x="2173328" y="2630006"/>
            <a:ext cx="651928" cy="369332"/>
          </a:xfrm>
          <a:prstGeom prst="rect">
            <a:avLst/>
          </a:prstGeom>
          <a:noFill/>
        </p:spPr>
        <p:txBody>
          <a:bodyPr wrap="square" rtlCol="0">
            <a:spAutoFit/>
          </a:bodyPr>
          <a:lstStyle/>
          <a:p>
            <a:r>
              <a:rPr lang="en-US" dirty="0"/>
              <a:t>SCT</a:t>
            </a:r>
          </a:p>
        </p:txBody>
      </p:sp>
      <p:cxnSp>
        <p:nvCxnSpPr>
          <p:cNvPr id="13" name="Straight Arrow Connector 12">
            <a:extLst>
              <a:ext uri="{FF2B5EF4-FFF2-40B4-BE49-F238E27FC236}">
                <a16:creationId xmlns:a16="http://schemas.microsoft.com/office/drawing/2014/main" id="{77179A55-BDEC-4F43-9DF1-4186BFFE03C3}"/>
              </a:ext>
            </a:extLst>
          </p:cNvPr>
          <p:cNvCxnSpPr>
            <a:cxnSpLocks/>
          </p:cNvCxnSpPr>
          <p:nvPr/>
        </p:nvCxnSpPr>
        <p:spPr>
          <a:xfrm>
            <a:off x="3979049" y="2999338"/>
            <a:ext cx="20935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4395DD0-2795-443B-8ABB-AD37A8ED1F5B}"/>
              </a:ext>
            </a:extLst>
          </p:cNvPr>
          <p:cNvSpPr txBox="1"/>
          <p:nvPr/>
        </p:nvSpPr>
        <p:spPr>
          <a:xfrm>
            <a:off x="1647072" y="3465713"/>
            <a:ext cx="1528011" cy="584775"/>
          </a:xfrm>
          <a:prstGeom prst="rect">
            <a:avLst/>
          </a:prstGeom>
          <a:noFill/>
        </p:spPr>
        <p:txBody>
          <a:bodyPr wrap="square" rtlCol="0">
            <a:spAutoFit/>
          </a:bodyPr>
          <a:lstStyle/>
          <a:p>
            <a:pPr algn="ctr"/>
            <a:r>
              <a:rPr lang="en-US" sz="1600" dirty="0"/>
              <a:t>Myeloablative Conditioning</a:t>
            </a:r>
          </a:p>
        </p:txBody>
      </p:sp>
      <p:sp>
        <p:nvSpPr>
          <p:cNvPr id="16" name="Right Brace 15">
            <a:extLst>
              <a:ext uri="{FF2B5EF4-FFF2-40B4-BE49-F238E27FC236}">
                <a16:creationId xmlns:a16="http://schemas.microsoft.com/office/drawing/2014/main" id="{E881BC53-F473-4CBC-A819-40A161D47AAE}"/>
              </a:ext>
            </a:extLst>
          </p:cNvPr>
          <p:cNvSpPr/>
          <p:nvPr/>
        </p:nvSpPr>
        <p:spPr>
          <a:xfrm rot="5400000">
            <a:off x="2287388" y="2845584"/>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14005662-C306-4FCE-93FE-224DD852999F}"/>
              </a:ext>
            </a:extLst>
          </p:cNvPr>
          <p:cNvSpPr txBox="1"/>
          <p:nvPr/>
        </p:nvSpPr>
        <p:spPr>
          <a:xfrm>
            <a:off x="3979049" y="3510055"/>
            <a:ext cx="1528011" cy="338554"/>
          </a:xfrm>
          <a:prstGeom prst="rect">
            <a:avLst/>
          </a:prstGeom>
          <a:noFill/>
        </p:spPr>
        <p:txBody>
          <a:bodyPr wrap="square" rtlCol="0">
            <a:spAutoFit/>
          </a:bodyPr>
          <a:lstStyle/>
          <a:p>
            <a:pPr algn="ctr"/>
            <a:r>
              <a:rPr lang="en-US" sz="1600" dirty="0"/>
              <a:t>Engraftment</a:t>
            </a:r>
          </a:p>
        </p:txBody>
      </p:sp>
      <p:sp>
        <p:nvSpPr>
          <p:cNvPr id="18" name="Right Brace 17">
            <a:extLst>
              <a:ext uri="{FF2B5EF4-FFF2-40B4-BE49-F238E27FC236}">
                <a16:creationId xmlns:a16="http://schemas.microsoft.com/office/drawing/2014/main" id="{C74E27C0-1663-4512-B5C5-B1CBC11CF025}"/>
              </a:ext>
            </a:extLst>
          </p:cNvPr>
          <p:cNvSpPr/>
          <p:nvPr/>
        </p:nvSpPr>
        <p:spPr>
          <a:xfrm rot="5400000">
            <a:off x="4619365" y="2889926"/>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767BA4EC-A937-47FD-B74C-266F78983A30}"/>
              </a:ext>
            </a:extLst>
          </p:cNvPr>
          <p:cNvCxnSpPr>
            <a:cxnSpLocks/>
          </p:cNvCxnSpPr>
          <p:nvPr/>
        </p:nvCxnSpPr>
        <p:spPr>
          <a:xfrm>
            <a:off x="2173328" y="1992130"/>
            <a:ext cx="0" cy="578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65FA5FF2-48D2-4494-AC9E-BB86DABD2945}"/>
              </a:ext>
            </a:extLst>
          </p:cNvPr>
          <p:cNvSpPr txBox="1"/>
          <p:nvPr/>
        </p:nvSpPr>
        <p:spPr>
          <a:xfrm>
            <a:off x="1226170" y="1596237"/>
            <a:ext cx="1973361" cy="276992"/>
          </a:xfrm>
          <a:prstGeom prst="rect">
            <a:avLst/>
          </a:prstGeom>
        </p:spPr>
        <p:txBody>
          <a:bodyPr vert="horz" wrap="square" lIns="91440" tIns="45720" rIns="91440" bIns="45720" rtlCol="0" anchor="ctr">
            <a:noAutofit/>
          </a:bodyPr>
          <a:lstStyle/>
          <a:p>
            <a:r>
              <a:rPr lang="en-US" sz="1400" dirty="0">
                <a:solidFill>
                  <a:srgbClr val="FF0000"/>
                </a:solidFill>
              </a:rPr>
              <a:t>Pegylated uricase (d-7)</a:t>
            </a:r>
          </a:p>
        </p:txBody>
      </p:sp>
      <p:cxnSp>
        <p:nvCxnSpPr>
          <p:cNvPr id="22" name="Straight Arrow Connector 21">
            <a:extLst>
              <a:ext uri="{FF2B5EF4-FFF2-40B4-BE49-F238E27FC236}">
                <a16:creationId xmlns:a16="http://schemas.microsoft.com/office/drawing/2014/main" id="{E040A6F7-6BE1-42E6-ACBA-0039260C2676}"/>
              </a:ext>
            </a:extLst>
          </p:cNvPr>
          <p:cNvCxnSpPr>
            <a:cxnSpLocks/>
          </p:cNvCxnSpPr>
          <p:nvPr/>
        </p:nvCxnSpPr>
        <p:spPr>
          <a:xfrm>
            <a:off x="4008733" y="4759283"/>
            <a:ext cx="0" cy="434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227B634-6D6E-48C3-A967-8E1A825D20D6}"/>
              </a:ext>
            </a:extLst>
          </p:cNvPr>
          <p:cNvSpPr txBox="1"/>
          <p:nvPr/>
        </p:nvSpPr>
        <p:spPr>
          <a:xfrm>
            <a:off x="866413" y="5281458"/>
            <a:ext cx="5556417" cy="904325"/>
          </a:xfrm>
          <a:prstGeom prst="rect">
            <a:avLst/>
          </a:prstGeom>
        </p:spPr>
        <p:txBody>
          <a:bodyPr vert="horz" wrap="square" lIns="91440" tIns="45720" rIns="91440" bIns="45720" rtlCol="0" anchor="ctr">
            <a:noAutofit/>
          </a:bodyPr>
          <a:lstStyle/>
          <a:p>
            <a:r>
              <a:rPr lang="en-US" sz="1400" dirty="0">
                <a:solidFill>
                  <a:srgbClr val="FF0000"/>
                </a:solidFill>
              </a:rPr>
              <a:t>1) Phenotypic analysis of host APC and various T-cell subsets from PBMCs.</a:t>
            </a:r>
          </a:p>
          <a:p>
            <a:r>
              <a:rPr lang="en-US" sz="1400" dirty="0">
                <a:solidFill>
                  <a:srgbClr val="FF0000"/>
                </a:solidFill>
              </a:rPr>
              <a:t>2) Serum cytokine analysis</a:t>
            </a:r>
          </a:p>
          <a:p>
            <a:r>
              <a:rPr lang="en-US" sz="1400" dirty="0">
                <a:solidFill>
                  <a:srgbClr val="FF0000"/>
                </a:solidFill>
              </a:rPr>
              <a:t>3) Serum uric acid levels</a:t>
            </a:r>
          </a:p>
          <a:p>
            <a:r>
              <a:rPr lang="en-US" sz="1400" dirty="0">
                <a:solidFill>
                  <a:srgbClr val="FF0000"/>
                </a:solidFill>
              </a:rPr>
              <a:t>4) Pre-transplant and at intervals up to day 100</a:t>
            </a:r>
          </a:p>
        </p:txBody>
      </p:sp>
      <p:sp>
        <p:nvSpPr>
          <p:cNvPr id="28" name="Right Brace 27">
            <a:extLst>
              <a:ext uri="{FF2B5EF4-FFF2-40B4-BE49-F238E27FC236}">
                <a16:creationId xmlns:a16="http://schemas.microsoft.com/office/drawing/2014/main" id="{DF9BE7CF-5327-4783-BF7C-3A157ED87202}"/>
              </a:ext>
            </a:extLst>
          </p:cNvPr>
          <p:cNvSpPr/>
          <p:nvPr/>
        </p:nvSpPr>
        <p:spPr>
          <a:xfrm rot="5400000">
            <a:off x="3885751" y="2414071"/>
            <a:ext cx="259716" cy="411390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CE2896C0-4955-4628-A05A-3B38044BD111}"/>
              </a:ext>
            </a:extLst>
          </p:cNvPr>
          <p:cNvSpPr txBox="1"/>
          <p:nvPr/>
        </p:nvSpPr>
        <p:spPr>
          <a:xfrm>
            <a:off x="6125775" y="2691663"/>
            <a:ext cx="2753821" cy="600614"/>
          </a:xfrm>
          <a:prstGeom prst="rect">
            <a:avLst/>
          </a:prstGeom>
        </p:spPr>
        <p:txBody>
          <a:bodyPr vert="horz" wrap="square" lIns="91440" tIns="45720" rIns="91440" bIns="45720" rtlCol="0" anchor="ctr">
            <a:noAutofit/>
          </a:bodyPr>
          <a:lstStyle/>
          <a:p>
            <a:r>
              <a:rPr lang="en-US" sz="1400" dirty="0">
                <a:solidFill>
                  <a:srgbClr val="FF0000"/>
                </a:solidFill>
              </a:rPr>
              <a:t>Primary and secondary outcome measures (e.g. incidence, timing, severity of acute GVHD)</a:t>
            </a:r>
          </a:p>
        </p:txBody>
      </p:sp>
    </p:spTree>
    <p:extLst>
      <p:ext uri="{BB962C8B-B14F-4D97-AF65-F5344CB8AC3E}">
        <p14:creationId xmlns:p14="http://schemas.microsoft.com/office/powerpoint/2010/main" val="139094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6" grpId="0"/>
      <p:bldP spid="28" grpId="0" animBg="1"/>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9C6F36-ED7C-4AD9-A333-6C9C380F571C}"/>
              </a:ext>
            </a:extLst>
          </p:cNvPr>
          <p:cNvSpPr>
            <a:spLocks noGrp="1"/>
          </p:cNvSpPr>
          <p:nvPr>
            <p:ph sz="half" idx="1"/>
          </p:nvPr>
        </p:nvSpPr>
        <p:spPr/>
        <p:txBody>
          <a:bodyPr/>
          <a:lstStyle/>
          <a:p>
            <a:endParaRPr lang="en-US" dirty="0"/>
          </a:p>
        </p:txBody>
      </p:sp>
      <p:sp>
        <p:nvSpPr>
          <p:cNvPr id="3" name="Content Placeholder 2">
            <a:extLst>
              <a:ext uri="{FF2B5EF4-FFF2-40B4-BE49-F238E27FC236}">
                <a16:creationId xmlns:a16="http://schemas.microsoft.com/office/drawing/2014/main" id="{EFDCC31B-C8F2-4F49-A495-89001100D27E}"/>
              </a:ext>
            </a:extLst>
          </p:cNvPr>
          <p:cNvSpPr>
            <a:spLocks noGrp="1"/>
          </p:cNvSpPr>
          <p:nvPr>
            <p:ph sz="half" idx="2"/>
          </p:nvPr>
        </p:nvSpPr>
        <p:spPr/>
        <p:txBody>
          <a:bodyPr/>
          <a:lstStyle/>
          <a:p>
            <a:endParaRPr lang="en-US"/>
          </a:p>
        </p:txBody>
      </p:sp>
      <p:sp>
        <p:nvSpPr>
          <p:cNvPr id="4" name="Title 3">
            <a:extLst>
              <a:ext uri="{FF2B5EF4-FFF2-40B4-BE49-F238E27FC236}">
                <a16:creationId xmlns:a16="http://schemas.microsoft.com/office/drawing/2014/main" id="{6DD7A4FE-BF9C-4CA4-8C34-6813AD712D2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467205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73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5" descr="logo.eps"/>
          <p:cNvPicPr>
            <a:picLocks noChangeAspect="1"/>
          </p:cNvPicPr>
          <p:nvPr/>
        </p:nvPicPr>
        <p:blipFill>
          <a:blip r:embed="rId2">
            <a:alphaModFix amt="34000"/>
            <a:extLst>
              <a:ext uri="{28A0092B-C50C-407E-A947-70E740481C1C}">
                <a14:useLocalDpi xmlns:a14="http://schemas.microsoft.com/office/drawing/2010/main" val="0"/>
              </a:ext>
            </a:extLst>
          </a:blip>
          <a:srcRect/>
          <a:stretch>
            <a:fillRect/>
          </a:stretch>
        </p:blipFill>
        <p:spPr bwMode="auto">
          <a:xfrm>
            <a:off x="5205413" y="-584200"/>
            <a:ext cx="5133975" cy="5132388"/>
          </a:xfrm>
          <a:prstGeom prst="rect">
            <a:avLst/>
          </a:prstGeom>
          <a:noFill/>
          <a:ln>
            <a:noFill/>
          </a:ln>
          <a:extLst>
            <a:ext uri="{909E8E84-426E-40DD-AFC4-6F175D3DCCD1}">
              <a14:hiddenFill xmlns:a14="http://schemas.microsoft.com/office/drawing/2010/main">
                <a:solidFill>
                  <a:srgbClr val="FFFFFF">
                    <a:alpha val="34000"/>
                  </a:srgbClr>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6" name="Picture 4" descr="COLOR-BAR-4.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82663"/>
            <a:ext cx="8229600" cy="3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16" descr="HUTCH-LOGO-2.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05550"/>
            <a:ext cx="16827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22300" y="1117600"/>
            <a:ext cx="8229600" cy="923330"/>
          </a:xfrm>
          <a:prstGeom prst="rect">
            <a:avLst/>
          </a:prstGeom>
          <a:noFill/>
        </p:spPr>
        <p:txBody>
          <a:bodyPr>
            <a:spAutoFit/>
          </a:bodyPr>
          <a:lstStyle/>
          <a:p>
            <a:pPr marL="285750" indent="-285750">
              <a:buFont typeface="Arial"/>
              <a:buChar char="•"/>
              <a:defRPr/>
            </a:pPr>
            <a:r>
              <a:rPr lang="en-US" dirty="0">
                <a:solidFill>
                  <a:srgbClr val="1F497D"/>
                </a:solidFill>
                <a:latin typeface="Calibri" charset="0"/>
                <a:ea typeface="Calibri" charset="0"/>
                <a:cs typeface="Calibri" charset="0"/>
              </a:rPr>
              <a:t>Text in Navy, Regular</a:t>
            </a:r>
          </a:p>
          <a:p>
            <a:pPr>
              <a:defRPr/>
            </a:pPr>
            <a:endParaRPr lang="en-US" dirty="0">
              <a:solidFill>
                <a:srgbClr val="39B6B9"/>
              </a:solidFill>
              <a:latin typeface="Calibri" charset="0"/>
              <a:ea typeface="Calibri" charset="0"/>
              <a:cs typeface="Calibri" charset="0"/>
            </a:endParaRPr>
          </a:p>
          <a:p>
            <a:pPr marL="285750" indent="-285750">
              <a:buFont typeface="Arial"/>
              <a:buChar char="•"/>
              <a:defRPr/>
            </a:pPr>
            <a:r>
              <a:rPr lang="en-US" b="1" dirty="0">
                <a:solidFill>
                  <a:srgbClr val="39B6B9"/>
                </a:solidFill>
                <a:latin typeface="Calibri" charset="0"/>
                <a:ea typeface="Calibri" charset="0"/>
                <a:cs typeface="Calibri" charset="0"/>
              </a:rPr>
              <a:t>Switch color and bold for emphasis </a:t>
            </a:r>
          </a:p>
        </p:txBody>
      </p:sp>
      <p:sp>
        <p:nvSpPr>
          <p:cNvPr id="16389" name="Title 1"/>
          <p:cNvSpPr>
            <a:spLocks noGrp="1"/>
          </p:cNvSpPr>
          <p:nvPr>
            <p:ph type="title"/>
          </p:nvPr>
        </p:nvSpPr>
        <p:spPr>
          <a:xfrm>
            <a:off x="457199" y="339725"/>
            <a:ext cx="7581481" cy="568325"/>
          </a:xfrm>
        </p:spPr>
        <p:txBody>
          <a:bodyPr/>
          <a:lstStyle/>
          <a:p>
            <a:pPr algn="l"/>
            <a:r>
              <a:rPr lang="en-US" altLang="en-US" sz="3200" dirty="0">
                <a:solidFill>
                  <a:schemeClr val="tx2"/>
                </a:solidFill>
                <a:latin typeface="Calibri" charset="0"/>
                <a:ea typeface="Calibri" charset="0"/>
                <a:cs typeface="Calibri" charset="0"/>
              </a:rPr>
              <a:t>Headline, Gradient and Watermark slide</a:t>
            </a:r>
          </a:p>
        </p:txBody>
      </p:sp>
    </p:spTree>
    <p:extLst>
      <p:ext uri="{BB962C8B-B14F-4D97-AF65-F5344CB8AC3E}">
        <p14:creationId xmlns:p14="http://schemas.microsoft.com/office/powerpoint/2010/main" val="180285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4A9A-FA3E-4EF9-8B8A-458F57009877}"/>
              </a:ext>
            </a:extLst>
          </p:cNvPr>
          <p:cNvSpPr>
            <a:spLocks noGrp="1"/>
          </p:cNvSpPr>
          <p:nvPr>
            <p:ph type="title"/>
          </p:nvPr>
        </p:nvSpPr>
        <p:spPr>
          <a:xfrm>
            <a:off x="628650" y="641854"/>
            <a:ext cx="7886700" cy="1101563"/>
          </a:xfrm>
        </p:spPr>
        <p:txBody>
          <a:bodyPr>
            <a:normAutofit fontScale="90000"/>
          </a:bodyPr>
          <a:lstStyle/>
          <a:p>
            <a:r>
              <a:rPr lang="en-US" dirty="0"/>
              <a:t>A Patient’s Perspective of the Transplant Process at FHCRC</a:t>
            </a:r>
          </a:p>
        </p:txBody>
      </p:sp>
      <p:cxnSp>
        <p:nvCxnSpPr>
          <p:cNvPr id="4" name="Straight Connector 3">
            <a:extLst>
              <a:ext uri="{FF2B5EF4-FFF2-40B4-BE49-F238E27FC236}">
                <a16:creationId xmlns:a16="http://schemas.microsoft.com/office/drawing/2014/main" id="{EB39E7C0-52CD-45B3-9499-F347167F8C63}"/>
              </a:ext>
            </a:extLst>
          </p:cNvPr>
          <p:cNvCxnSpPr>
            <a:cxnSpLocks/>
          </p:cNvCxnSpPr>
          <p:nvPr/>
        </p:nvCxnSpPr>
        <p:spPr>
          <a:xfrm>
            <a:off x="628650" y="3753848"/>
            <a:ext cx="7631028" cy="0"/>
          </a:xfrm>
          <a:prstGeom prst="line">
            <a:avLst/>
          </a:prstGeom>
          <a:ln w="25400">
            <a:headEnd type="triangle"/>
            <a:tailEnd type="triangle"/>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52F94752-0142-4A41-A7E8-02E5A6AC492C}"/>
              </a:ext>
            </a:extLst>
          </p:cNvPr>
          <p:cNvCxnSpPr>
            <a:cxnSpLocks/>
          </p:cNvCxnSpPr>
          <p:nvPr/>
        </p:nvCxnSpPr>
        <p:spPr>
          <a:xfrm>
            <a:off x="884321" y="3284622"/>
            <a:ext cx="0" cy="457194"/>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9211C788-6DE0-4C93-A147-23F9B642684B}"/>
              </a:ext>
            </a:extLst>
          </p:cNvPr>
          <p:cNvCxnSpPr>
            <a:cxnSpLocks/>
          </p:cNvCxnSpPr>
          <p:nvPr/>
        </p:nvCxnSpPr>
        <p:spPr>
          <a:xfrm>
            <a:off x="2077452" y="3013791"/>
            <a:ext cx="0" cy="728025"/>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B514EED1-C64C-4AC8-A7BD-50F5EEFB3724}"/>
              </a:ext>
            </a:extLst>
          </p:cNvPr>
          <p:cNvCxnSpPr>
            <a:cxnSpLocks/>
          </p:cNvCxnSpPr>
          <p:nvPr/>
        </p:nvCxnSpPr>
        <p:spPr>
          <a:xfrm>
            <a:off x="3154782" y="3288036"/>
            <a:ext cx="0" cy="457194"/>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44677A9B-F913-4BF8-974D-D38550C16635}"/>
              </a:ext>
            </a:extLst>
          </p:cNvPr>
          <p:cNvCxnSpPr>
            <a:cxnSpLocks/>
          </p:cNvCxnSpPr>
          <p:nvPr/>
        </p:nvCxnSpPr>
        <p:spPr>
          <a:xfrm>
            <a:off x="4444164" y="3296654"/>
            <a:ext cx="0" cy="457194"/>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20A2510A-D1B9-4984-A7D2-C810805CAB55}"/>
              </a:ext>
            </a:extLst>
          </p:cNvPr>
          <p:cNvSpPr txBox="1"/>
          <p:nvPr/>
        </p:nvSpPr>
        <p:spPr>
          <a:xfrm>
            <a:off x="126327" y="2853189"/>
            <a:ext cx="1546055" cy="369332"/>
          </a:xfrm>
          <a:prstGeom prst="rect">
            <a:avLst/>
          </a:prstGeom>
          <a:noFill/>
        </p:spPr>
        <p:txBody>
          <a:bodyPr wrap="square" rtlCol="0">
            <a:spAutoFit/>
          </a:bodyPr>
          <a:lstStyle/>
          <a:p>
            <a:pPr algn="ctr"/>
            <a:r>
              <a:rPr lang="en-US" dirty="0"/>
              <a:t>Consultation</a:t>
            </a:r>
          </a:p>
        </p:txBody>
      </p:sp>
      <p:sp>
        <p:nvSpPr>
          <p:cNvPr id="12" name="TextBox 11">
            <a:extLst>
              <a:ext uri="{FF2B5EF4-FFF2-40B4-BE49-F238E27FC236}">
                <a16:creationId xmlns:a16="http://schemas.microsoft.com/office/drawing/2014/main" id="{3A6DDE55-54E6-4B91-BA23-2468490BB42C}"/>
              </a:ext>
            </a:extLst>
          </p:cNvPr>
          <p:cNvSpPr txBox="1"/>
          <p:nvPr/>
        </p:nvSpPr>
        <p:spPr>
          <a:xfrm>
            <a:off x="1312441" y="2297365"/>
            <a:ext cx="1546055" cy="646331"/>
          </a:xfrm>
          <a:prstGeom prst="rect">
            <a:avLst/>
          </a:prstGeom>
          <a:noFill/>
        </p:spPr>
        <p:txBody>
          <a:bodyPr wrap="square" rtlCol="0">
            <a:spAutoFit/>
          </a:bodyPr>
          <a:lstStyle/>
          <a:p>
            <a:pPr algn="ctr"/>
            <a:r>
              <a:rPr lang="en-US" dirty="0"/>
              <a:t>Arrival Conference</a:t>
            </a:r>
          </a:p>
        </p:txBody>
      </p:sp>
      <p:sp>
        <p:nvSpPr>
          <p:cNvPr id="14" name="TextBox 13">
            <a:extLst>
              <a:ext uri="{FF2B5EF4-FFF2-40B4-BE49-F238E27FC236}">
                <a16:creationId xmlns:a16="http://schemas.microsoft.com/office/drawing/2014/main" id="{BF81AE6B-B13F-4614-BB33-2F23AA0B81EC}"/>
              </a:ext>
            </a:extLst>
          </p:cNvPr>
          <p:cNvSpPr txBox="1"/>
          <p:nvPr/>
        </p:nvSpPr>
        <p:spPr>
          <a:xfrm>
            <a:off x="2381754" y="2826077"/>
            <a:ext cx="1546055" cy="369332"/>
          </a:xfrm>
          <a:prstGeom prst="rect">
            <a:avLst/>
          </a:prstGeom>
          <a:noFill/>
        </p:spPr>
        <p:txBody>
          <a:bodyPr wrap="square" rtlCol="0">
            <a:spAutoFit/>
          </a:bodyPr>
          <a:lstStyle/>
          <a:p>
            <a:pPr algn="ctr"/>
            <a:r>
              <a:rPr lang="en-US" dirty="0"/>
              <a:t>Data Review</a:t>
            </a:r>
          </a:p>
        </p:txBody>
      </p:sp>
      <p:sp>
        <p:nvSpPr>
          <p:cNvPr id="15" name="TextBox 14">
            <a:extLst>
              <a:ext uri="{FF2B5EF4-FFF2-40B4-BE49-F238E27FC236}">
                <a16:creationId xmlns:a16="http://schemas.microsoft.com/office/drawing/2014/main" id="{4927050F-D321-402F-BC7F-CA5240A4C736}"/>
              </a:ext>
            </a:extLst>
          </p:cNvPr>
          <p:cNvSpPr txBox="1"/>
          <p:nvPr/>
        </p:nvSpPr>
        <p:spPr>
          <a:xfrm>
            <a:off x="3980446" y="2861027"/>
            <a:ext cx="933464" cy="369332"/>
          </a:xfrm>
          <a:prstGeom prst="rect">
            <a:avLst/>
          </a:prstGeom>
          <a:noFill/>
        </p:spPr>
        <p:txBody>
          <a:bodyPr wrap="square" rtlCol="0">
            <a:spAutoFit/>
          </a:bodyPr>
          <a:lstStyle/>
          <a:p>
            <a:pPr algn="ctr"/>
            <a:r>
              <a:rPr lang="en-US" dirty="0">
                <a:solidFill>
                  <a:srgbClr val="FF0000"/>
                </a:solidFill>
              </a:rPr>
              <a:t>Day 0</a:t>
            </a:r>
          </a:p>
        </p:txBody>
      </p:sp>
      <p:sp>
        <p:nvSpPr>
          <p:cNvPr id="16" name="Right Brace 15">
            <a:extLst>
              <a:ext uri="{FF2B5EF4-FFF2-40B4-BE49-F238E27FC236}">
                <a16:creationId xmlns:a16="http://schemas.microsoft.com/office/drawing/2014/main" id="{BE5334DA-6E6A-4219-B1A1-F899DCDE88B0}"/>
              </a:ext>
            </a:extLst>
          </p:cNvPr>
          <p:cNvSpPr/>
          <p:nvPr/>
        </p:nvSpPr>
        <p:spPr>
          <a:xfrm rot="5400000">
            <a:off x="3597441" y="3559248"/>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891048C1-AE2F-4529-998A-A65A35AC9818}"/>
              </a:ext>
            </a:extLst>
          </p:cNvPr>
          <p:cNvSpPr txBox="1"/>
          <p:nvPr/>
        </p:nvSpPr>
        <p:spPr>
          <a:xfrm>
            <a:off x="2971797" y="4200953"/>
            <a:ext cx="1528011" cy="369332"/>
          </a:xfrm>
          <a:prstGeom prst="rect">
            <a:avLst/>
          </a:prstGeom>
          <a:noFill/>
        </p:spPr>
        <p:txBody>
          <a:bodyPr wrap="square" rtlCol="0">
            <a:spAutoFit/>
          </a:bodyPr>
          <a:lstStyle/>
          <a:p>
            <a:pPr algn="ctr"/>
            <a:r>
              <a:rPr lang="en-US" dirty="0"/>
              <a:t>Conditioning</a:t>
            </a:r>
          </a:p>
        </p:txBody>
      </p:sp>
      <p:sp>
        <p:nvSpPr>
          <p:cNvPr id="18" name="Right Brace 17">
            <a:extLst>
              <a:ext uri="{FF2B5EF4-FFF2-40B4-BE49-F238E27FC236}">
                <a16:creationId xmlns:a16="http://schemas.microsoft.com/office/drawing/2014/main" id="{4AE89628-F1A5-4370-BC7A-6BFBDCEB7A86}"/>
              </a:ext>
            </a:extLst>
          </p:cNvPr>
          <p:cNvSpPr/>
          <p:nvPr/>
        </p:nvSpPr>
        <p:spPr>
          <a:xfrm rot="5400000">
            <a:off x="5117936" y="3564995"/>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7642F4EC-70F0-488F-A45A-CD8AEF82A72E}"/>
              </a:ext>
            </a:extLst>
          </p:cNvPr>
          <p:cNvSpPr txBox="1"/>
          <p:nvPr/>
        </p:nvSpPr>
        <p:spPr>
          <a:xfrm>
            <a:off x="4492292" y="4206700"/>
            <a:ext cx="1528011" cy="369332"/>
          </a:xfrm>
          <a:prstGeom prst="rect">
            <a:avLst/>
          </a:prstGeom>
          <a:noFill/>
        </p:spPr>
        <p:txBody>
          <a:bodyPr wrap="square" rtlCol="0">
            <a:spAutoFit/>
          </a:bodyPr>
          <a:lstStyle/>
          <a:p>
            <a:pPr algn="ctr"/>
            <a:r>
              <a:rPr lang="en-US" dirty="0"/>
              <a:t>Engraftment</a:t>
            </a:r>
          </a:p>
        </p:txBody>
      </p:sp>
      <p:cxnSp>
        <p:nvCxnSpPr>
          <p:cNvPr id="20" name="Straight Connector 19">
            <a:extLst>
              <a:ext uri="{FF2B5EF4-FFF2-40B4-BE49-F238E27FC236}">
                <a16:creationId xmlns:a16="http://schemas.microsoft.com/office/drawing/2014/main" id="{939D2C05-D68D-4A28-8807-31B5E8DA1A49}"/>
              </a:ext>
            </a:extLst>
          </p:cNvPr>
          <p:cNvCxnSpPr>
            <a:cxnSpLocks/>
          </p:cNvCxnSpPr>
          <p:nvPr/>
        </p:nvCxnSpPr>
        <p:spPr>
          <a:xfrm>
            <a:off x="6823908" y="3278234"/>
            <a:ext cx="0" cy="457194"/>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AC2146EF-8FF1-4BB7-8947-DF910A5B6D02}"/>
              </a:ext>
            </a:extLst>
          </p:cNvPr>
          <p:cNvSpPr txBox="1"/>
          <p:nvPr/>
        </p:nvSpPr>
        <p:spPr>
          <a:xfrm>
            <a:off x="6251904" y="2830575"/>
            <a:ext cx="1151521" cy="369332"/>
          </a:xfrm>
          <a:prstGeom prst="rect">
            <a:avLst/>
          </a:prstGeom>
          <a:noFill/>
        </p:spPr>
        <p:txBody>
          <a:bodyPr wrap="square" rtlCol="0">
            <a:spAutoFit/>
          </a:bodyPr>
          <a:lstStyle/>
          <a:p>
            <a:pPr algn="ctr"/>
            <a:r>
              <a:rPr lang="en-US" dirty="0"/>
              <a:t>Day 100</a:t>
            </a:r>
          </a:p>
        </p:txBody>
      </p:sp>
      <p:sp>
        <p:nvSpPr>
          <p:cNvPr id="22" name="Right Brace 21">
            <a:extLst>
              <a:ext uri="{FF2B5EF4-FFF2-40B4-BE49-F238E27FC236}">
                <a16:creationId xmlns:a16="http://schemas.microsoft.com/office/drawing/2014/main" id="{F03B6BBA-27A1-41CF-BF84-F56C72188962}"/>
              </a:ext>
            </a:extLst>
          </p:cNvPr>
          <p:cNvSpPr/>
          <p:nvPr/>
        </p:nvSpPr>
        <p:spPr>
          <a:xfrm rot="5400000">
            <a:off x="7192872" y="3570641"/>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F0F97172-9587-432B-B3A1-858AAACBC53D}"/>
              </a:ext>
            </a:extLst>
          </p:cNvPr>
          <p:cNvSpPr txBox="1"/>
          <p:nvPr/>
        </p:nvSpPr>
        <p:spPr>
          <a:xfrm>
            <a:off x="6699571" y="4200314"/>
            <a:ext cx="1265333" cy="369332"/>
          </a:xfrm>
          <a:prstGeom prst="rect">
            <a:avLst/>
          </a:prstGeom>
          <a:noFill/>
        </p:spPr>
        <p:txBody>
          <a:bodyPr wrap="square" rtlCol="0">
            <a:spAutoFit/>
          </a:bodyPr>
          <a:lstStyle/>
          <a:p>
            <a:pPr algn="ctr"/>
            <a:r>
              <a:rPr lang="en-US" dirty="0"/>
              <a:t>LTFU Clinic</a:t>
            </a:r>
          </a:p>
        </p:txBody>
      </p:sp>
      <p:sp>
        <p:nvSpPr>
          <p:cNvPr id="40" name="Right Brace 39">
            <a:extLst>
              <a:ext uri="{FF2B5EF4-FFF2-40B4-BE49-F238E27FC236}">
                <a16:creationId xmlns:a16="http://schemas.microsoft.com/office/drawing/2014/main" id="{1361B219-D549-4A84-AE2E-D9FA071D37A9}"/>
              </a:ext>
            </a:extLst>
          </p:cNvPr>
          <p:cNvSpPr/>
          <p:nvPr/>
        </p:nvSpPr>
        <p:spPr>
          <a:xfrm rot="5400000">
            <a:off x="1309182" y="3564995"/>
            <a:ext cx="250657" cy="90811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1" name="TextBox 40">
            <a:extLst>
              <a:ext uri="{FF2B5EF4-FFF2-40B4-BE49-F238E27FC236}">
                <a16:creationId xmlns:a16="http://schemas.microsoft.com/office/drawing/2014/main" id="{AB1C250F-EA6B-4801-874F-5FCFE0D9F1D4}"/>
              </a:ext>
            </a:extLst>
          </p:cNvPr>
          <p:cNvSpPr txBox="1"/>
          <p:nvPr/>
        </p:nvSpPr>
        <p:spPr>
          <a:xfrm>
            <a:off x="683538" y="4206700"/>
            <a:ext cx="1528011" cy="369332"/>
          </a:xfrm>
          <a:prstGeom prst="rect">
            <a:avLst/>
          </a:prstGeom>
          <a:noFill/>
        </p:spPr>
        <p:txBody>
          <a:bodyPr wrap="square" rtlCol="0">
            <a:spAutoFit/>
          </a:bodyPr>
          <a:lstStyle/>
          <a:p>
            <a:pPr algn="ctr"/>
            <a:r>
              <a:rPr lang="en-US" dirty="0"/>
              <a:t>Donor Search</a:t>
            </a:r>
          </a:p>
        </p:txBody>
      </p:sp>
      <p:sp>
        <p:nvSpPr>
          <p:cNvPr id="3" name="TextBox 2">
            <a:extLst>
              <a:ext uri="{FF2B5EF4-FFF2-40B4-BE49-F238E27FC236}">
                <a16:creationId xmlns:a16="http://schemas.microsoft.com/office/drawing/2014/main" id="{9C428A4F-1B77-6A4F-8F75-6F43D564791C}"/>
              </a:ext>
            </a:extLst>
          </p:cNvPr>
          <p:cNvSpPr txBox="1"/>
          <p:nvPr/>
        </p:nvSpPr>
        <p:spPr>
          <a:xfrm>
            <a:off x="1985108" y="3383671"/>
            <a:ext cx="1250793" cy="307777"/>
          </a:xfrm>
          <a:prstGeom prst="rect">
            <a:avLst/>
          </a:prstGeom>
          <a:noFill/>
        </p:spPr>
        <p:txBody>
          <a:bodyPr wrap="square" rtlCol="0">
            <a:spAutoFit/>
          </a:bodyPr>
          <a:lstStyle/>
          <a:p>
            <a:pPr algn="ctr"/>
            <a:r>
              <a:rPr lang="en-US" sz="1400" i="1" dirty="0"/>
              <a:t>1-3 weeks</a:t>
            </a:r>
          </a:p>
        </p:txBody>
      </p:sp>
      <p:sp>
        <p:nvSpPr>
          <p:cNvPr id="36" name="TextBox 35">
            <a:extLst>
              <a:ext uri="{FF2B5EF4-FFF2-40B4-BE49-F238E27FC236}">
                <a16:creationId xmlns:a16="http://schemas.microsoft.com/office/drawing/2014/main" id="{9B5985D1-5B06-764B-83E9-A1A1588B29A6}"/>
              </a:ext>
            </a:extLst>
          </p:cNvPr>
          <p:cNvSpPr txBox="1"/>
          <p:nvPr/>
        </p:nvSpPr>
        <p:spPr>
          <a:xfrm>
            <a:off x="917270" y="3384936"/>
            <a:ext cx="1011632" cy="307777"/>
          </a:xfrm>
          <a:prstGeom prst="rect">
            <a:avLst/>
          </a:prstGeom>
          <a:noFill/>
        </p:spPr>
        <p:txBody>
          <a:bodyPr wrap="square" rtlCol="0">
            <a:spAutoFit/>
          </a:bodyPr>
          <a:lstStyle/>
          <a:p>
            <a:pPr algn="ctr"/>
            <a:r>
              <a:rPr lang="en-US" sz="1400" i="1" dirty="0"/>
              <a:t>1-3 months</a:t>
            </a:r>
          </a:p>
        </p:txBody>
      </p:sp>
      <p:sp>
        <p:nvSpPr>
          <p:cNvPr id="37" name="TextBox 36">
            <a:extLst>
              <a:ext uri="{FF2B5EF4-FFF2-40B4-BE49-F238E27FC236}">
                <a16:creationId xmlns:a16="http://schemas.microsoft.com/office/drawing/2014/main" id="{761A6020-57C6-43DC-899E-97384108613F}"/>
              </a:ext>
            </a:extLst>
          </p:cNvPr>
          <p:cNvSpPr txBox="1"/>
          <p:nvPr/>
        </p:nvSpPr>
        <p:spPr>
          <a:xfrm>
            <a:off x="3091918" y="3739612"/>
            <a:ext cx="1250793" cy="307777"/>
          </a:xfrm>
          <a:prstGeom prst="rect">
            <a:avLst/>
          </a:prstGeom>
          <a:noFill/>
        </p:spPr>
        <p:txBody>
          <a:bodyPr wrap="square" rtlCol="0">
            <a:spAutoFit/>
          </a:bodyPr>
          <a:lstStyle/>
          <a:p>
            <a:pPr algn="ctr"/>
            <a:r>
              <a:rPr lang="en-US" sz="1400" i="1" dirty="0"/>
              <a:t>~1 week</a:t>
            </a:r>
          </a:p>
        </p:txBody>
      </p:sp>
      <p:sp>
        <p:nvSpPr>
          <p:cNvPr id="38" name="TextBox 37">
            <a:extLst>
              <a:ext uri="{FF2B5EF4-FFF2-40B4-BE49-F238E27FC236}">
                <a16:creationId xmlns:a16="http://schemas.microsoft.com/office/drawing/2014/main" id="{44ED39EB-6939-4763-8F8D-259C9DE7F730}"/>
              </a:ext>
            </a:extLst>
          </p:cNvPr>
          <p:cNvSpPr txBox="1"/>
          <p:nvPr/>
        </p:nvSpPr>
        <p:spPr>
          <a:xfrm>
            <a:off x="4610100" y="3739276"/>
            <a:ext cx="1250793" cy="307777"/>
          </a:xfrm>
          <a:prstGeom prst="rect">
            <a:avLst/>
          </a:prstGeom>
          <a:noFill/>
        </p:spPr>
        <p:txBody>
          <a:bodyPr wrap="square" rtlCol="0">
            <a:spAutoFit/>
          </a:bodyPr>
          <a:lstStyle/>
          <a:p>
            <a:pPr algn="ctr"/>
            <a:r>
              <a:rPr lang="en-US" sz="1400" i="1" dirty="0"/>
              <a:t>~2-3 weeks</a:t>
            </a:r>
          </a:p>
        </p:txBody>
      </p:sp>
      <p:grpSp>
        <p:nvGrpSpPr>
          <p:cNvPr id="26" name="Group 25">
            <a:extLst>
              <a:ext uri="{FF2B5EF4-FFF2-40B4-BE49-F238E27FC236}">
                <a16:creationId xmlns:a16="http://schemas.microsoft.com/office/drawing/2014/main" id="{4B56C4A6-8174-4FDF-8381-BD6E8DB5B52C}"/>
              </a:ext>
            </a:extLst>
          </p:cNvPr>
          <p:cNvGrpSpPr/>
          <p:nvPr/>
        </p:nvGrpSpPr>
        <p:grpSpPr>
          <a:xfrm>
            <a:off x="884321" y="5294796"/>
            <a:ext cx="7261059" cy="389867"/>
            <a:chOff x="884321" y="4969942"/>
            <a:chExt cx="7261059" cy="389867"/>
          </a:xfrm>
        </p:grpSpPr>
        <p:sp>
          <p:nvSpPr>
            <p:cNvPr id="27" name="TextBox 26">
              <a:extLst>
                <a:ext uri="{FF2B5EF4-FFF2-40B4-BE49-F238E27FC236}">
                  <a16:creationId xmlns:a16="http://schemas.microsoft.com/office/drawing/2014/main" id="{32DE5B2D-1FAC-4030-A110-CFF44F558C77}"/>
                </a:ext>
              </a:extLst>
            </p:cNvPr>
            <p:cNvSpPr txBox="1"/>
            <p:nvPr/>
          </p:nvSpPr>
          <p:spPr>
            <a:xfrm>
              <a:off x="884321" y="4990477"/>
              <a:ext cx="2384389" cy="369332"/>
            </a:xfrm>
            <a:prstGeom prst="rect">
              <a:avLst/>
            </a:prstGeom>
            <a:solidFill>
              <a:schemeClr val="accent6">
                <a:lumMod val="20000"/>
                <a:lumOff val="80000"/>
              </a:schemeClr>
            </a:solidFill>
          </p:spPr>
          <p:txBody>
            <a:bodyPr wrap="square" rtlCol="0">
              <a:spAutoFit/>
            </a:bodyPr>
            <a:lstStyle/>
            <a:p>
              <a:r>
                <a:rPr lang="en-US" dirty="0"/>
                <a:t>Outpatient BMT (SCCA)</a:t>
              </a:r>
            </a:p>
          </p:txBody>
        </p:sp>
        <p:sp>
          <p:nvSpPr>
            <p:cNvPr id="28" name="TextBox 27">
              <a:extLst>
                <a:ext uri="{FF2B5EF4-FFF2-40B4-BE49-F238E27FC236}">
                  <a16:creationId xmlns:a16="http://schemas.microsoft.com/office/drawing/2014/main" id="{97C923F5-7D4D-41B1-9501-D1237E204E11}"/>
                </a:ext>
              </a:extLst>
            </p:cNvPr>
            <p:cNvSpPr txBox="1"/>
            <p:nvPr/>
          </p:nvSpPr>
          <p:spPr>
            <a:xfrm>
              <a:off x="6056396" y="4969942"/>
              <a:ext cx="2088984" cy="369332"/>
            </a:xfrm>
            <a:prstGeom prst="rect">
              <a:avLst/>
            </a:prstGeom>
            <a:solidFill>
              <a:schemeClr val="accent6">
                <a:lumMod val="20000"/>
                <a:lumOff val="80000"/>
              </a:schemeClr>
            </a:solidFill>
          </p:spPr>
          <p:txBody>
            <a:bodyPr wrap="square" rtlCol="0">
              <a:spAutoFit/>
            </a:bodyPr>
            <a:lstStyle/>
            <a:p>
              <a:endParaRPr lang="en-US" dirty="0"/>
            </a:p>
          </p:txBody>
        </p:sp>
      </p:grpSp>
      <p:grpSp>
        <p:nvGrpSpPr>
          <p:cNvPr id="29" name="Group 28">
            <a:extLst>
              <a:ext uri="{FF2B5EF4-FFF2-40B4-BE49-F238E27FC236}">
                <a16:creationId xmlns:a16="http://schemas.microsoft.com/office/drawing/2014/main" id="{4BCFAD72-766E-4D04-B81D-982B32F24073}"/>
              </a:ext>
            </a:extLst>
          </p:cNvPr>
          <p:cNvGrpSpPr/>
          <p:nvPr/>
        </p:nvGrpSpPr>
        <p:grpSpPr>
          <a:xfrm>
            <a:off x="3245890" y="4677425"/>
            <a:ext cx="4903086" cy="369332"/>
            <a:chOff x="3245890" y="4352571"/>
            <a:chExt cx="4903086" cy="369332"/>
          </a:xfrm>
        </p:grpSpPr>
        <p:sp>
          <p:nvSpPr>
            <p:cNvPr id="30" name="TextBox 29">
              <a:extLst>
                <a:ext uri="{FF2B5EF4-FFF2-40B4-BE49-F238E27FC236}">
                  <a16:creationId xmlns:a16="http://schemas.microsoft.com/office/drawing/2014/main" id="{8DFE5383-655A-4FBB-B1A5-96CF52D96131}"/>
                </a:ext>
              </a:extLst>
            </p:cNvPr>
            <p:cNvSpPr txBox="1"/>
            <p:nvPr/>
          </p:nvSpPr>
          <p:spPr>
            <a:xfrm>
              <a:off x="3245890" y="4352571"/>
              <a:ext cx="2774413" cy="369332"/>
            </a:xfrm>
            <a:prstGeom prst="rect">
              <a:avLst/>
            </a:prstGeom>
            <a:solidFill>
              <a:schemeClr val="accent5">
                <a:lumMod val="20000"/>
                <a:lumOff val="80000"/>
              </a:schemeClr>
            </a:solidFill>
          </p:spPr>
          <p:txBody>
            <a:bodyPr wrap="square" rtlCol="0">
              <a:spAutoFit/>
            </a:bodyPr>
            <a:lstStyle/>
            <a:p>
              <a:r>
                <a:rPr lang="en-US" dirty="0"/>
                <a:t>Inpatient BMT (UW)</a:t>
              </a:r>
            </a:p>
          </p:txBody>
        </p:sp>
        <p:sp>
          <p:nvSpPr>
            <p:cNvPr id="31" name="TextBox 30">
              <a:extLst>
                <a:ext uri="{FF2B5EF4-FFF2-40B4-BE49-F238E27FC236}">
                  <a16:creationId xmlns:a16="http://schemas.microsoft.com/office/drawing/2014/main" id="{93D1B38B-E8F6-4038-BE58-AFB303779BD1}"/>
                </a:ext>
              </a:extLst>
            </p:cNvPr>
            <p:cNvSpPr txBox="1"/>
            <p:nvPr/>
          </p:nvSpPr>
          <p:spPr>
            <a:xfrm>
              <a:off x="6251905" y="4352571"/>
              <a:ext cx="317338" cy="369332"/>
            </a:xfrm>
            <a:prstGeom prst="rect">
              <a:avLst/>
            </a:prstGeom>
            <a:solidFill>
              <a:schemeClr val="accent5">
                <a:lumMod val="20000"/>
                <a:lumOff val="80000"/>
              </a:schemeClr>
            </a:solidFill>
          </p:spPr>
          <p:txBody>
            <a:bodyPr wrap="square" rtlCol="0">
              <a:spAutoFit/>
            </a:bodyPr>
            <a:lstStyle/>
            <a:p>
              <a:endParaRPr lang="en-US" dirty="0"/>
            </a:p>
          </p:txBody>
        </p:sp>
        <p:sp>
          <p:nvSpPr>
            <p:cNvPr id="32" name="TextBox 31">
              <a:extLst>
                <a:ext uri="{FF2B5EF4-FFF2-40B4-BE49-F238E27FC236}">
                  <a16:creationId xmlns:a16="http://schemas.microsoft.com/office/drawing/2014/main" id="{7332F40A-DA2E-426C-BBB1-37BE4125205F}"/>
                </a:ext>
              </a:extLst>
            </p:cNvPr>
            <p:cNvSpPr txBox="1"/>
            <p:nvPr/>
          </p:nvSpPr>
          <p:spPr>
            <a:xfrm>
              <a:off x="6811879" y="4352571"/>
              <a:ext cx="317338" cy="369332"/>
            </a:xfrm>
            <a:prstGeom prst="rect">
              <a:avLst/>
            </a:prstGeom>
            <a:solidFill>
              <a:schemeClr val="accent5">
                <a:lumMod val="20000"/>
                <a:lumOff val="80000"/>
              </a:schemeClr>
            </a:solidFill>
          </p:spPr>
          <p:txBody>
            <a:bodyPr wrap="square" rtlCol="0">
              <a:spAutoFit/>
            </a:bodyPr>
            <a:lstStyle/>
            <a:p>
              <a:endParaRPr lang="en-US" dirty="0"/>
            </a:p>
          </p:txBody>
        </p:sp>
        <p:sp>
          <p:nvSpPr>
            <p:cNvPr id="33" name="TextBox 32">
              <a:extLst>
                <a:ext uri="{FF2B5EF4-FFF2-40B4-BE49-F238E27FC236}">
                  <a16:creationId xmlns:a16="http://schemas.microsoft.com/office/drawing/2014/main" id="{7CD3393A-5190-4F08-A2F0-0C4798CB4382}"/>
                </a:ext>
              </a:extLst>
            </p:cNvPr>
            <p:cNvSpPr txBox="1"/>
            <p:nvPr/>
          </p:nvSpPr>
          <p:spPr>
            <a:xfrm>
              <a:off x="7334110" y="4352571"/>
              <a:ext cx="317338" cy="369332"/>
            </a:xfrm>
            <a:prstGeom prst="rect">
              <a:avLst/>
            </a:prstGeom>
            <a:solidFill>
              <a:schemeClr val="accent5">
                <a:lumMod val="20000"/>
                <a:lumOff val="80000"/>
              </a:schemeClr>
            </a:solidFill>
          </p:spPr>
          <p:txBody>
            <a:bodyPr wrap="square" rtlCol="0">
              <a:spAutoFit/>
            </a:bodyPr>
            <a:lstStyle/>
            <a:p>
              <a:endParaRPr lang="en-US" dirty="0"/>
            </a:p>
          </p:txBody>
        </p:sp>
        <p:sp>
          <p:nvSpPr>
            <p:cNvPr id="34" name="TextBox 33">
              <a:extLst>
                <a:ext uri="{FF2B5EF4-FFF2-40B4-BE49-F238E27FC236}">
                  <a16:creationId xmlns:a16="http://schemas.microsoft.com/office/drawing/2014/main" id="{1E7A181F-97C6-431B-8E37-7440816CC54C}"/>
                </a:ext>
              </a:extLst>
            </p:cNvPr>
            <p:cNvSpPr txBox="1"/>
            <p:nvPr/>
          </p:nvSpPr>
          <p:spPr>
            <a:xfrm>
              <a:off x="7831638" y="4352571"/>
              <a:ext cx="317338" cy="369332"/>
            </a:xfrm>
            <a:prstGeom prst="rect">
              <a:avLst/>
            </a:prstGeom>
            <a:solidFill>
              <a:schemeClr val="accent5">
                <a:lumMod val="20000"/>
                <a:lumOff val="80000"/>
              </a:schemeClr>
            </a:solidFill>
          </p:spPr>
          <p:txBody>
            <a:bodyPr wrap="square" rtlCol="0">
              <a:spAutoFit/>
            </a:bodyPr>
            <a:lstStyle/>
            <a:p>
              <a:endParaRPr lang="en-US" dirty="0"/>
            </a:p>
          </p:txBody>
        </p:sp>
      </p:grpSp>
    </p:spTree>
    <p:extLst>
      <p:ext uri="{BB962C8B-B14F-4D97-AF65-F5344CB8AC3E}">
        <p14:creationId xmlns:p14="http://schemas.microsoft.com/office/powerpoint/2010/main" val="3548104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0BCB4E5E-30EF-42A3-A10F-51D206B6D77F}"/>
              </a:ext>
            </a:extLst>
          </p:cNvPr>
          <p:cNvSpPr>
            <a:spLocks noGrp="1"/>
          </p:cNvSpPr>
          <p:nvPr>
            <p:ph type="title"/>
          </p:nvPr>
        </p:nvSpPr>
        <p:spPr/>
        <p:txBody>
          <a:bodyPr/>
          <a:lstStyle/>
          <a:p>
            <a:r>
              <a:rPr lang="en-US" sz="3400"/>
              <a:t>Annual Number of </a:t>
            </a:r>
            <a:r>
              <a:rPr lang="en-US" sz="3600"/>
              <a:t>HCT</a:t>
            </a:r>
            <a:r>
              <a:rPr lang="en-US" sz="3400"/>
              <a:t> Recipients in the US by Transplant Type</a:t>
            </a:r>
            <a:endParaRPr lang="en-US" sz="3400" dirty="0"/>
          </a:p>
        </p:txBody>
      </p:sp>
      <p:pic>
        <p:nvPicPr>
          <p:cNvPr id="3" name="Picture 2">
            <a:extLst>
              <a:ext uri="{FF2B5EF4-FFF2-40B4-BE49-F238E27FC236}">
                <a16:creationId xmlns:a16="http://schemas.microsoft.com/office/drawing/2014/main" id="{893297CD-F3E4-4CAD-B141-E5AC4514C7EB}"/>
              </a:ext>
            </a:extLst>
          </p:cNvPr>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3231145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38956B5E-A44D-4775-AE33-87BC1C7754E7}"/>
              </a:ext>
            </a:extLst>
          </p:cNvPr>
          <p:cNvSpPr>
            <a:spLocks noGrp="1"/>
          </p:cNvSpPr>
          <p:nvPr>
            <p:ph type="title"/>
          </p:nvPr>
        </p:nvSpPr>
        <p:spPr/>
        <p:txBody>
          <a:bodyPr/>
          <a:lstStyle/>
          <a:p>
            <a:r>
              <a:rPr lang="en-US"/>
              <a:t>Allogeneic HCT Recipients in the US, by Donor Type </a:t>
            </a:r>
            <a:endParaRPr lang="en-US" dirty="0"/>
          </a:p>
        </p:txBody>
      </p:sp>
      <p:pic>
        <p:nvPicPr>
          <p:cNvPr id="3" name="Picture 2">
            <a:extLst>
              <a:ext uri="{FF2B5EF4-FFF2-40B4-BE49-F238E27FC236}">
                <a16:creationId xmlns:a16="http://schemas.microsoft.com/office/drawing/2014/main" id="{E8E058BE-5D0E-427B-BDEB-A2FE056DD0A5}"/>
              </a:ext>
            </a:extLst>
          </p:cNvPr>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2697542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971EBED1-482A-467F-BA78-AF9677379B86}"/>
              </a:ext>
            </a:extLst>
          </p:cNvPr>
          <p:cNvSpPr>
            <a:spLocks noGrp="1"/>
          </p:cNvSpPr>
          <p:nvPr>
            <p:ph type="title"/>
          </p:nvPr>
        </p:nvSpPr>
        <p:spPr/>
        <p:txBody>
          <a:bodyPr/>
          <a:lstStyle/>
          <a:p>
            <a:r>
              <a:rPr lang="en-US"/>
              <a:t>Indications for Hematopoietic Cell Transplant in the US, 2017</a:t>
            </a:r>
            <a:endParaRPr lang="en-US" dirty="0"/>
          </a:p>
        </p:txBody>
      </p:sp>
      <p:pic>
        <p:nvPicPr>
          <p:cNvPr id="3" name="Picture 2">
            <a:extLst>
              <a:ext uri="{FF2B5EF4-FFF2-40B4-BE49-F238E27FC236}">
                <a16:creationId xmlns:a16="http://schemas.microsoft.com/office/drawing/2014/main" id="{FDB3304C-17F8-4CFE-A2BC-5179782D82A8}"/>
              </a:ext>
            </a:extLst>
          </p:cNvPr>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2658350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a:solidFill>
                  <a:schemeClr val="accent1">
                    <a:satMod val="150000"/>
                  </a:schemeClr>
                </a:solidFill>
              </a:rPr>
              <a:t>Results – Baseline Characteristics</a:t>
            </a:r>
          </a:p>
        </p:txBody>
      </p:sp>
      <p:graphicFrame>
        <p:nvGraphicFramePr>
          <p:cNvPr id="4" name="Table 3"/>
          <p:cNvGraphicFramePr>
            <a:graphicFrameLocks noGrp="1"/>
          </p:cNvGraphicFramePr>
          <p:nvPr>
            <p:extLst/>
          </p:nvPr>
        </p:nvGraphicFramePr>
        <p:xfrm>
          <a:off x="584200" y="1965325"/>
          <a:ext cx="7556500" cy="3352640"/>
        </p:xfrm>
        <a:graphic>
          <a:graphicData uri="http://schemas.openxmlformats.org/drawingml/2006/table">
            <a:tbl>
              <a:tblPr/>
              <a:tblGrid>
                <a:gridCol w="3235677">
                  <a:extLst>
                    <a:ext uri="{9D8B030D-6E8A-4147-A177-3AD203B41FA5}">
                      <a16:colId xmlns:a16="http://schemas.microsoft.com/office/drawing/2014/main" val="20000"/>
                    </a:ext>
                  </a:extLst>
                </a:gridCol>
                <a:gridCol w="2212768">
                  <a:extLst>
                    <a:ext uri="{9D8B030D-6E8A-4147-A177-3AD203B41FA5}">
                      <a16:colId xmlns:a16="http://schemas.microsoft.com/office/drawing/2014/main" val="20001"/>
                    </a:ext>
                  </a:extLst>
                </a:gridCol>
                <a:gridCol w="2108055">
                  <a:extLst>
                    <a:ext uri="{9D8B030D-6E8A-4147-A177-3AD203B41FA5}">
                      <a16:colId xmlns:a16="http://schemas.microsoft.com/office/drawing/2014/main" val="20002"/>
                    </a:ext>
                  </a:extLst>
                </a:gridCol>
              </a:tblGrid>
              <a:tr h="27430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err="1">
                          <a:ln>
                            <a:noFill/>
                          </a:ln>
                          <a:solidFill>
                            <a:schemeClr val="tx1"/>
                          </a:solidFill>
                          <a:effectLst/>
                          <a:latin typeface="Arial" pitchFamily="34" charset="0"/>
                          <a:cs typeface="Arial" pitchFamily="34" charset="0"/>
                        </a:rPr>
                        <a:t>Rasburicase</a:t>
                      </a:r>
                      <a:r>
                        <a:rPr kumimoji="0" lang="en-US" sz="1400" b="1" i="0" u="none" strike="noStrike" cap="none" normalizeH="0" baseline="0" dirty="0">
                          <a:ln>
                            <a:noFill/>
                          </a:ln>
                          <a:solidFill>
                            <a:schemeClr val="tx1"/>
                          </a:solidFill>
                          <a:effectLst/>
                          <a:latin typeface="Arial" pitchFamily="34" charset="0"/>
                          <a:cs typeface="Arial" pitchFamily="34" charset="0"/>
                        </a:rPr>
                        <a:t> (N=21)</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defRPr/>
                      </a:pPr>
                      <a:r>
                        <a:rPr kumimoji="0" lang="en-US" sz="1400" b="1" i="0" u="none" strike="noStrike" cap="none" normalizeH="0" baseline="0" dirty="0">
                          <a:ln>
                            <a:noFill/>
                          </a:ln>
                          <a:solidFill>
                            <a:schemeClr val="tx1"/>
                          </a:solidFill>
                          <a:effectLst/>
                          <a:latin typeface="Arial" pitchFamily="34" charset="0"/>
                          <a:cs typeface="Arial" pitchFamily="34" charset="0"/>
                        </a:rPr>
                        <a:t>Control (N=21)</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Age (M, range)</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42.9 (20-59)</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45 (21-55)</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Male (n, %)</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14 (67%)</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9 (43%)</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243825">
                <a:tc gridSpan="3">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a:cs typeface="Arial"/>
                        </a:rPr>
                        <a:t>Disease (n, %)</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8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53829">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Acute Myelogenous Leukemia</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14 (67%)</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13 (62%)</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Acute Lymphoblastic Leukemia</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5 (24%)</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4 (19%)</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Myelodysplastic Syndrome</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 (5%)</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Non-Hodgkin Lymphoma</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 (10%)</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Myeloproliferative Disease</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 (10%)</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Chronic Myelogenous Leukemia</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 (5%)</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a:solidFill>
                  <a:schemeClr val="accent1">
                    <a:satMod val="150000"/>
                  </a:schemeClr>
                </a:solidFill>
              </a:rPr>
              <a:t>Results – Baseline Characteristics</a:t>
            </a:r>
          </a:p>
        </p:txBody>
      </p:sp>
      <p:graphicFrame>
        <p:nvGraphicFramePr>
          <p:cNvPr id="3" name="Table 2"/>
          <p:cNvGraphicFramePr>
            <a:graphicFrameLocks noGrp="1"/>
          </p:cNvGraphicFramePr>
          <p:nvPr>
            <p:extLst/>
          </p:nvPr>
        </p:nvGraphicFramePr>
        <p:xfrm>
          <a:off x="558800" y="1800225"/>
          <a:ext cx="7823200" cy="4907056"/>
        </p:xfrm>
        <a:graphic>
          <a:graphicData uri="http://schemas.openxmlformats.org/drawingml/2006/table">
            <a:tbl>
              <a:tblPr/>
              <a:tblGrid>
                <a:gridCol w="3349877">
                  <a:extLst>
                    <a:ext uri="{9D8B030D-6E8A-4147-A177-3AD203B41FA5}">
                      <a16:colId xmlns:a16="http://schemas.microsoft.com/office/drawing/2014/main" val="20000"/>
                    </a:ext>
                  </a:extLst>
                </a:gridCol>
                <a:gridCol w="2290866">
                  <a:extLst>
                    <a:ext uri="{9D8B030D-6E8A-4147-A177-3AD203B41FA5}">
                      <a16:colId xmlns:a16="http://schemas.microsoft.com/office/drawing/2014/main" val="20001"/>
                    </a:ext>
                  </a:extLst>
                </a:gridCol>
                <a:gridCol w="2182457">
                  <a:extLst>
                    <a:ext uri="{9D8B030D-6E8A-4147-A177-3AD203B41FA5}">
                      <a16:colId xmlns:a16="http://schemas.microsoft.com/office/drawing/2014/main" val="20002"/>
                    </a:ext>
                  </a:extLst>
                </a:gridCol>
              </a:tblGrid>
              <a:tr h="243825">
                <a:tc gridSpan="3">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Transplant Characteristics (n, %)</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8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Engraftment Time (M, range)</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15 (13-28)</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15 (14-29)</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First Transplant</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21 (100%)</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19 (90</a:t>
                      </a: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Matched Related Donor</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16 (76%)</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13 (62%)</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Cyclosporin</a:t>
                      </a:r>
                      <a:r>
                        <a:rPr kumimoji="0" lang="en-US" sz="1400" b="0" i="0" u="none" strike="noStrike" cap="none" normalizeH="0" baseline="0" dirty="0">
                          <a:ln>
                            <a:noFill/>
                          </a:ln>
                          <a:solidFill>
                            <a:schemeClr val="tx1"/>
                          </a:solidFill>
                          <a:effectLst/>
                          <a:latin typeface="Arial" pitchFamily="34" charset="0"/>
                          <a:cs typeface="Arial" pitchFamily="34" charset="0"/>
                        </a:rPr>
                        <a:t> + Methotrexate</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defRPr/>
                      </a:pPr>
                      <a:r>
                        <a:rPr kumimoji="0" lang="en-US" sz="1400" b="0" i="0" u="none" strike="noStrike" cap="none" normalizeH="0" baseline="0" dirty="0">
                          <a:ln>
                            <a:noFill/>
                          </a:ln>
                          <a:solidFill>
                            <a:schemeClr val="tx1"/>
                          </a:solidFill>
                          <a:effectLst/>
                          <a:latin typeface="Arial" pitchFamily="34" charset="0"/>
                          <a:cs typeface="Arial" pitchFamily="34" charset="0"/>
                        </a:rPr>
                        <a:t>14 (86%)</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11 (85%)</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defRPr/>
                      </a:pPr>
                      <a:r>
                        <a:rPr kumimoji="0" lang="en-US" sz="1400" b="0" i="0" u="none" strike="noStrike" cap="none" normalizeH="0" baseline="0" dirty="0">
                          <a:ln>
                            <a:noFill/>
                          </a:ln>
                          <a:solidFill>
                            <a:schemeClr val="tx1"/>
                          </a:solidFill>
                          <a:effectLst/>
                          <a:latin typeface="Arial" pitchFamily="34" charset="0"/>
                          <a:cs typeface="Arial" pitchFamily="34" charset="0"/>
                        </a:rPr>
                        <a:t>     Tacrolimus + Methotrexate</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 (14%)</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 (15%)</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247689">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Matched Unrelated Donor</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5 (24%)</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8 (38%)</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243825">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Tacrolimus + Methotrexate + ATG</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4 (80%)</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8 (80%)</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244177">
                <a:tc>
                  <a:txBody>
                    <a:bodyPr/>
                    <a:lstStyle/>
                    <a:p>
                      <a:pPr marL="0" marR="0" lvl="0" indent="0" algn="l" defTabSz="2657475" rtl="0" eaLnBrk="1" fontAlgn="base" latinLnBrk="0" hangingPunct="1">
                        <a:lnSpc>
                          <a:spcPct val="100000"/>
                        </a:lnSpc>
                        <a:spcBef>
                          <a:spcPct val="20000"/>
                        </a:spcBef>
                        <a:spcAft>
                          <a:spcPct val="0"/>
                        </a:spcAft>
                        <a:buClrTx/>
                        <a:buSzTx/>
                        <a:buFontTx/>
                        <a:buNone/>
                        <a:tabLst/>
                        <a:defRPr/>
                      </a:pPr>
                      <a:r>
                        <a:rPr kumimoji="0" lang="en-US" sz="1400" b="0" i="0" u="none" strike="noStrike" cap="none" normalizeH="0" baseline="0" dirty="0">
                          <a:ln>
                            <a:noFill/>
                          </a:ln>
                          <a:solidFill>
                            <a:schemeClr val="tx1"/>
                          </a:solidFill>
                          <a:effectLst/>
                          <a:latin typeface="Arial" pitchFamily="34" charset="0"/>
                          <a:cs typeface="Arial" pitchFamily="34" charset="0"/>
                        </a:rPr>
                        <a:t>     Tacrolimus + Methotrexate</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 (20%)</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 (20%)</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243825">
                <a:tc gridSpan="3">
                  <a:txBody>
                    <a:bodyPr/>
                    <a:lstStyle/>
                    <a:p>
                      <a:pPr marL="0" marR="0" lvl="0" indent="0" algn="l" defTabSz="2657475" rtl="0" eaLnBrk="1" fontAlgn="base" latinLnBrk="0" hangingPunct="1">
                        <a:lnSpc>
                          <a:spcPct val="100000"/>
                        </a:lnSpc>
                        <a:spcBef>
                          <a:spcPct val="20000"/>
                        </a:spcBef>
                        <a:spcAft>
                          <a:spcPct val="0"/>
                        </a:spcAft>
                        <a:buClrTx/>
                        <a:buSzTx/>
                        <a:buFontTx/>
                        <a:buNone/>
                        <a:tabLst/>
                        <a:defRPr/>
                      </a:pPr>
                      <a:r>
                        <a:rPr kumimoji="0" lang="en-US" sz="1400" b="1" i="0" u="none" strike="noStrike" cap="none" normalizeH="0" baseline="0" dirty="0">
                          <a:ln>
                            <a:noFill/>
                          </a:ln>
                          <a:solidFill>
                            <a:schemeClr val="tx1"/>
                          </a:solidFill>
                          <a:effectLst/>
                          <a:latin typeface="Arial" pitchFamily="34" charset="0"/>
                          <a:cs typeface="Arial" pitchFamily="34" charset="0"/>
                        </a:rPr>
                        <a:t>Disease Status at Time of Transplant (n, %)</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endParaRPr kumimoji="0" lang="en-US" sz="800" b="0" i="0" u="none" strike="noStrike" cap="none" normalizeH="0" baseline="0" dirty="0">
                        <a:ln>
                          <a:noFill/>
                        </a:ln>
                        <a:solidFill>
                          <a:schemeClr val="tx1"/>
                        </a:solidFill>
                        <a:effectLst/>
                        <a:latin typeface="Arial" pitchFamily="34" charset="0"/>
                        <a:cs typeface="Arial" pitchFamily="34" charset="0"/>
                      </a:endParaRPr>
                    </a:p>
                  </a:txBody>
                  <a:tcPr marL="121920" marR="12192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hMerge="1">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endParaRPr kumimoji="0" lang="en-US" sz="800" b="0" i="0" u="none" strike="noStrike" cap="none" normalizeH="0" baseline="0" dirty="0">
                        <a:ln>
                          <a:noFill/>
                        </a:ln>
                        <a:solidFill>
                          <a:schemeClr val="tx1"/>
                        </a:solidFill>
                        <a:effectLst/>
                        <a:latin typeface="Arial" pitchFamily="34" charset="0"/>
                        <a:cs typeface="Arial" pitchFamily="34" charset="0"/>
                      </a:endParaRPr>
                    </a:p>
                  </a:txBody>
                  <a:tcPr marL="121920" marR="12192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244177">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Complete Remission</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20 (95%)</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21 (100%)</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243825">
                <a:tc gridSpan="3">
                  <a:txBody>
                    <a:bodyPr/>
                    <a:lstStyle/>
                    <a:p>
                      <a:pPr marL="0" marR="0" lvl="0" indent="0" algn="l" defTabSz="2657475" rtl="0" eaLnBrk="1" fontAlgn="base" latinLnBrk="0" hangingPunct="1">
                        <a:lnSpc>
                          <a:spcPct val="100000"/>
                        </a:lnSpc>
                        <a:spcBef>
                          <a:spcPct val="20000"/>
                        </a:spcBef>
                        <a:spcAft>
                          <a:spcPct val="0"/>
                        </a:spcAft>
                        <a:buClrTx/>
                        <a:buSzTx/>
                        <a:buFontTx/>
                        <a:buNone/>
                        <a:tabLst/>
                        <a:defRPr/>
                      </a:pPr>
                      <a:r>
                        <a:rPr kumimoji="0" lang="en-US" sz="1400" b="1" i="0" u="none" strike="noStrike" cap="none" normalizeH="0" baseline="0" dirty="0">
                          <a:ln>
                            <a:noFill/>
                          </a:ln>
                          <a:solidFill>
                            <a:schemeClr val="tx1"/>
                          </a:solidFill>
                          <a:effectLst/>
                          <a:latin typeface="Arial" pitchFamily="34" charset="0"/>
                          <a:cs typeface="Arial" pitchFamily="34" charset="0"/>
                        </a:rPr>
                        <a:t>Conditioning Protocol (n, %)</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8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r h="244177">
                <a:tc>
                  <a:txBody>
                    <a:bodyPr/>
                    <a:lstStyle/>
                    <a:p>
                      <a:pPr marL="0" marR="0" lvl="0" indent="0" algn="l"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a:cs typeface="Arial"/>
                        </a:rPr>
                        <a:t>     Busulfan + Cyclophosphamide/</a:t>
                      </a:r>
                      <a:r>
                        <a:rPr kumimoji="0" lang="en-US" sz="1400" b="0" i="0" u="none" strike="noStrike" cap="none" normalizeH="0" baseline="0" dirty="0" err="1">
                          <a:ln>
                            <a:noFill/>
                          </a:ln>
                          <a:solidFill>
                            <a:schemeClr val="tx1"/>
                          </a:solidFill>
                          <a:effectLst/>
                          <a:latin typeface="Arial"/>
                          <a:cs typeface="Arial"/>
                        </a:rPr>
                        <a:t>Fludarabine</a:t>
                      </a:r>
                      <a:r>
                        <a:rPr kumimoji="0" lang="en-US" sz="1400" b="0" i="0" u="none" strike="noStrike" cap="none" normalizeH="0" baseline="0" dirty="0">
                          <a:ln>
                            <a:noFill/>
                          </a:ln>
                          <a:solidFill>
                            <a:schemeClr val="tx1"/>
                          </a:solidFill>
                          <a:effectLst/>
                          <a:latin typeface="Arial"/>
                          <a:cs typeface="Arial"/>
                        </a:rPr>
                        <a:t>*</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a:cs typeface="Arial"/>
                        </a:rPr>
                        <a:t>14 (67%)</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a:cs typeface="Arial"/>
                        </a:rPr>
                        <a:t>16 (76%)</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2"/>
                  </a:ext>
                </a:extLst>
              </a:tr>
              <a:tr h="244177">
                <a:tc>
                  <a:txBody>
                    <a:bodyPr/>
                    <a:lstStyle/>
                    <a:p>
                      <a:pPr marL="0" marR="0" lvl="0" indent="0" algn="l" defTabSz="2657475" rtl="0" eaLnBrk="1" fontAlgn="base" latinLnBrk="0" hangingPunct="1">
                        <a:lnSpc>
                          <a:spcPct val="100000"/>
                        </a:lnSpc>
                        <a:spcBef>
                          <a:spcPct val="20000"/>
                        </a:spcBef>
                        <a:spcAft>
                          <a:spcPct val="0"/>
                        </a:spcAft>
                        <a:buClrTx/>
                        <a:buSzTx/>
                        <a:buFontTx/>
                        <a:buNone/>
                        <a:tabLst/>
                        <a:defRPr/>
                      </a:pPr>
                      <a:r>
                        <a:rPr kumimoji="0" lang="en-US" sz="1400" b="0" i="0" u="none" strike="noStrike" cap="none" normalizeH="0" baseline="0" dirty="0">
                          <a:ln>
                            <a:noFill/>
                          </a:ln>
                          <a:solidFill>
                            <a:schemeClr val="tx1"/>
                          </a:solidFill>
                          <a:effectLst/>
                          <a:latin typeface="Arial"/>
                          <a:cs typeface="Arial"/>
                        </a:rPr>
                        <a:t>     TBI + Cyclophosphamide</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a:cs typeface="Arial"/>
                        </a:rPr>
                        <a:t>7 (33%)</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2657475"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a:cs typeface="Arial"/>
                        </a:rPr>
                        <a:t>5 (24%)</a:t>
                      </a:r>
                    </a:p>
                  </a:txBody>
                  <a:tcPr marL="121910" marR="121910" marT="60952" marB="60952" horzOverflow="overflow">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Safety</a:t>
            </a:r>
          </a:p>
        </p:txBody>
      </p:sp>
      <p:pic>
        <p:nvPicPr>
          <p:cNvPr id="5" name="Picture 4"/>
          <p:cNvPicPr>
            <a:picLocks noChangeAspect="1"/>
          </p:cNvPicPr>
          <p:nvPr/>
        </p:nvPicPr>
        <p:blipFill>
          <a:blip r:embed="rId3"/>
          <a:stretch>
            <a:fillRect/>
          </a:stretch>
        </p:blipFill>
        <p:spPr>
          <a:xfrm>
            <a:off x="660399" y="1752600"/>
            <a:ext cx="7708901" cy="4938514"/>
          </a:xfrm>
          <a:prstGeom prst="rect">
            <a:avLst/>
          </a:prstGeom>
        </p:spPr>
      </p:pic>
    </p:spTree>
    <p:extLst>
      <p:ext uri="{BB962C8B-B14F-4D97-AF65-F5344CB8AC3E}">
        <p14:creationId xmlns:p14="http://schemas.microsoft.com/office/powerpoint/2010/main" val="893450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a:fillRect/>
          </a:stretch>
        </p:blipFill>
        <p:spPr>
          <a:xfrm>
            <a:off x="5537200" y="3136900"/>
            <a:ext cx="3111500" cy="2743200"/>
          </a:xfrm>
          <a:prstGeom prst="rect">
            <a:avLst/>
          </a:prstGeom>
        </p:spPr>
      </p:pic>
      <p:pic>
        <p:nvPicPr>
          <p:cNvPr id="22" name="Picture 21"/>
          <p:cNvPicPr>
            <a:picLocks noChangeAspect="1"/>
          </p:cNvPicPr>
          <p:nvPr/>
        </p:nvPicPr>
        <p:blipFill>
          <a:blip r:embed="rId4"/>
          <a:stretch>
            <a:fillRect/>
          </a:stretch>
        </p:blipFill>
        <p:spPr>
          <a:xfrm>
            <a:off x="1879600" y="3111500"/>
            <a:ext cx="3225800" cy="2743200"/>
          </a:xfrm>
          <a:prstGeom prst="rect">
            <a:avLst/>
          </a:prstGeom>
        </p:spPr>
      </p:pic>
      <p:sp>
        <p:nvSpPr>
          <p:cNvPr id="2" name="Title 1"/>
          <p:cNvSpPr>
            <a:spLocks noGrp="1"/>
          </p:cNvSpPr>
          <p:nvPr>
            <p:ph type="title"/>
          </p:nvPr>
        </p:nvSpPr>
        <p:spPr/>
        <p:txBody>
          <a:bodyPr/>
          <a:lstStyle/>
          <a:p>
            <a:r>
              <a:rPr lang="en-US" dirty="0"/>
              <a:t>Incidence of chronic GVHD</a:t>
            </a:r>
          </a:p>
        </p:txBody>
      </p:sp>
      <p:sp>
        <p:nvSpPr>
          <p:cNvPr id="8" name="TextBox 7"/>
          <p:cNvSpPr txBox="1"/>
          <p:nvPr/>
        </p:nvSpPr>
        <p:spPr>
          <a:xfrm>
            <a:off x="4940300" y="2552700"/>
            <a:ext cx="3962400" cy="400110"/>
          </a:xfrm>
          <a:prstGeom prst="rect">
            <a:avLst/>
          </a:prstGeom>
          <a:noFill/>
        </p:spPr>
        <p:txBody>
          <a:bodyPr wrap="square" rtlCol="0">
            <a:spAutoFit/>
          </a:bodyPr>
          <a:lstStyle/>
          <a:p>
            <a:pPr algn="ctr"/>
            <a:r>
              <a:rPr lang="en-US" sz="2000" dirty="0"/>
              <a:t>Rasburicase</a:t>
            </a:r>
          </a:p>
        </p:txBody>
      </p:sp>
      <p:sp>
        <p:nvSpPr>
          <p:cNvPr id="9" name="Rectangle 8"/>
          <p:cNvSpPr/>
          <p:nvPr/>
        </p:nvSpPr>
        <p:spPr>
          <a:xfrm>
            <a:off x="215900" y="3831434"/>
            <a:ext cx="128078" cy="181766"/>
          </a:xfrm>
          <a:prstGeom prst="rect">
            <a:avLst/>
          </a:prstGeom>
          <a:solidFill>
            <a:srgbClr val="7B9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203200" y="4060034"/>
            <a:ext cx="128078" cy="181766"/>
          </a:xfrm>
          <a:prstGeom prst="rect">
            <a:avLst/>
          </a:pr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203200" y="4288634"/>
            <a:ext cx="128078" cy="181766"/>
          </a:xfrm>
          <a:prstGeom prst="rect">
            <a:avLst/>
          </a:prstGeom>
          <a:solidFill>
            <a:schemeClr val="accent6">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p:cNvSpPr txBox="1"/>
          <p:nvPr/>
        </p:nvSpPr>
        <p:spPr>
          <a:xfrm>
            <a:off x="3543300" y="4089400"/>
            <a:ext cx="1244600" cy="369332"/>
          </a:xfrm>
          <a:prstGeom prst="rect">
            <a:avLst/>
          </a:prstGeom>
          <a:noFill/>
        </p:spPr>
        <p:txBody>
          <a:bodyPr wrap="square" rtlCol="0">
            <a:spAutoFit/>
          </a:bodyPr>
          <a:lstStyle/>
          <a:p>
            <a:r>
              <a:rPr lang="en-US" dirty="0"/>
              <a:t>9 (43%) </a:t>
            </a:r>
          </a:p>
        </p:txBody>
      </p:sp>
      <p:sp>
        <p:nvSpPr>
          <p:cNvPr id="13" name="TextBox 12"/>
          <p:cNvSpPr txBox="1"/>
          <p:nvPr/>
        </p:nvSpPr>
        <p:spPr>
          <a:xfrm>
            <a:off x="6197600" y="4749800"/>
            <a:ext cx="1257300" cy="369332"/>
          </a:xfrm>
          <a:prstGeom prst="rect">
            <a:avLst/>
          </a:prstGeom>
          <a:noFill/>
        </p:spPr>
        <p:txBody>
          <a:bodyPr wrap="square" rtlCol="0">
            <a:spAutoFit/>
          </a:bodyPr>
          <a:lstStyle/>
          <a:p>
            <a:r>
              <a:rPr lang="en-US" dirty="0"/>
              <a:t>8 (38%)</a:t>
            </a:r>
          </a:p>
        </p:txBody>
      </p:sp>
      <p:sp>
        <p:nvSpPr>
          <p:cNvPr id="14" name="TextBox 13"/>
          <p:cNvSpPr txBox="1"/>
          <p:nvPr/>
        </p:nvSpPr>
        <p:spPr>
          <a:xfrm>
            <a:off x="381000" y="3797300"/>
            <a:ext cx="1625600" cy="276999"/>
          </a:xfrm>
          <a:prstGeom prst="rect">
            <a:avLst/>
          </a:prstGeom>
          <a:noFill/>
        </p:spPr>
        <p:txBody>
          <a:bodyPr wrap="square" rtlCol="0">
            <a:spAutoFit/>
          </a:bodyPr>
          <a:lstStyle/>
          <a:p>
            <a:r>
              <a:rPr lang="en-US" sz="1200" dirty="0"/>
              <a:t>No </a:t>
            </a:r>
            <a:r>
              <a:rPr lang="en-US" sz="1200" dirty="0" err="1"/>
              <a:t>cGVHD</a:t>
            </a:r>
            <a:endParaRPr lang="en-US" sz="1200" dirty="0"/>
          </a:p>
        </p:txBody>
      </p:sp>
      <p:sp>
        <p:nvSpPr>
          <p:cNvPr id="15" name="TextBox 14"/>
          <p:cNvSpPr txBox="1"/>
          <p:nvPr/>
        </p:nvSpPr>
        <p:spPr>
          <a:xfrm>
            <a:off x="381000" y="4000500"/>
            <a:ext cx="1625600" cy="276999"/>
          </a:xfrm>
          <a:prstGeom prst="rect">
            <a:avLst/>
          </a:prstGeom>
          <a:noFill/>
        </p:spPr>
        <p:txBody>
          <a:bodyPr wrap="square" rtlCol="0">
            <a:spAutoFit/>
          </a:bodyPr>
          <a:lstStyle/>
          <a:p>
            <a:r>
              <a:rPr lang="en-US" sz="1200" dirty="0"/>
              <a:t>Mild </a:t>
            </a:r>
            <a:r>
              <a:rPr lang="en-US" sz="1200" dirty="0" err="1"/>
              <a:t>cGVHD</a:t>
            </a:r>
            <a:endParaRPr lang="en-US" sz="1200" dirty="0"/>
          </a:p>
        </p:txBody>
      </p:sp>
      <p:sp>
        <p:nvSpPr>
          <p:cNvPr id="16" name="TextBox 15"/>
          <p:cNvSpPr txBox="1"/>
          <p:nvPr/>
        </p:nvSpPr>
        <p:spPr>
          <a:xfrm>
            <a:off x="381000" y="4203700"/>
            <a:ext cx="1943100" cy="276999"/>
          </a:xfrm>
          <a:prstGeom prst="rect">
            <a:avLst/>
          </a:prstGeom>
          <a:noFill/>
        </p:spPr>
        <p:txBody>
          <a:bodyPr wrap="square" rtlCol="0">
            <a:spAutoFit/>
          </a:bodyPr>
          <a:lstStyle/>
          <a:p>
            <a:r>
              <a:rPr lang="en-US" sz="1200" dirty="0"/>
              <a:t>Moderate-severe </a:t>
            </a:r>
            <a:r>
              <a:rPr lang="en-US" sz="1200" dirty="0" err="1"/>
              <a:t>cGVHD</a:t>
            </a:r>
            <a:endParaRPr lang="en-US" sz="1200" dirty="0"/>
          </a:p>
        </p:txBody>
      </p:sp>
      <p:sp>
        <p:nvSpPr>
          <p:cNvPr id="18" name="TextBox 17"/>
          <p:cNvSpPr txBox="1"/>
          <p:nvPr/>
        </p:nvSpPr>
        <p:spPr>
          <a:xfrm>
            <a:off x="2476500" y="3962400"/>
            <a:ext cx="1511300" cy="369332"/>
          </a:xfrm>
          <a:prstGeom prst="rect">
            <a:avLst/>
          </a:prstGeom>
          <a:noFill/>
        </p:spPr>
        <p:txBody>
          <a:bodyPr wrap="square" rtlCol="0">
            <a:spAutoFit/>
          </a:bodyPr>
          <a:lstStyle/>
          <a:p>
            <a:r>
              <a:rPr lang="en-US" dirty="0"/>
              <a:t>7 (33%)</a:t>
            </a:r>
          </a:p>
        </p:txBody>
      </p:sp>
      <p:sp>
        <p:nvSpPr>
          <p:cNvPr id="19" name="TextBox 18"/>
          <p:cNvSpPr txBox="1"/>
          <p:nvPr/>
        </p:nvSpPr>
        <p:spPr>
          <a:xfrm>
            <a:off x="6134100" y="3695700"/>
            <a:ext cx="1117600" cy="369332"/>
          </a:xfrm>
          <a:prstGeom prst="rect">
            <a:avLst/>
          </a:prstGeom>
          <a:noFill/>
        </p:spPr>
        <p:txBody>
          <a:bodyPr wrap="square" rtlCol="0">
            <a:spAutoFit/>
          </a:bodyPr>
          <a:lstStyle/>
          <a:p>
            <a:r>
              <a:rPr lang="en-US" dirty="0"/>
              <a:t>4 (19%)</a:t>
            </a:r>
          </a:p>
        </p:txBody>
      </p:sp>
      <p:sp>
        <p:nvSpPr>
          <p:cNvPr id="20" name="TextBox 19"/>
          <p:cNvSpPr txBox="1"/>
          <p:nvPr/>
        </p:nvSpPr>
        <p:spPr>
          <a:xfrm>
            <a:off x="1295400" y="2552700"/>
            <a:ext cx="3962400" cy="400110"/>
          </a:xfrm>
          <a:prstGeom prst="rect">
            <a:avLst/>
          </a:prstGeom>
          <a:noFill/>
        </p:spPr>
        <p:txBody>
          <a:bodyPr wrap="square" rtlCol="0">
            <a:spAutoFit/>
          </a:bodyPr>
          <a:lstStyle/>
          <a:p>
            <a:pPr algn="ctr"/>
            <a:r>
              <a:rPr lang="en-US" sz="2000" dirty="0"/>
              <a:t>Control</a:t>
            </a:r>
          </a:p>
        </p:txBody>
      </p:sp>
      <p:sp>
        <p:nvSpPr>
          <p:cNvPr id="24" name="TextBox 23"/>
          <p:cNvSpPr txBox="1"/>
          <p:nvPr/>
        </p:nvSpPr>
        <p:spPr>
          <a:xfrm>
            <a:off x="2768600" y="4965700"/>
            <a:ext cx="1422400" cy="369332"/>
          </a:xfrm>
          <a:prstGeom prst="rect">
            <a:avLst/>
          </a:prstGeom>
          <a:noFill/>
        </p:spPr>
        <p:txBody>
          <a:bodyPr wrap="square" rtlCol="0">
            <a:spAutoFit/>
          </a:bodyPr>
          <a:lstStyle/>
          <a:p>
            <a:r>
              <a:rPr lang="en-US" dirty="0"/>
              <a:t>5 (24%) </a:t>
            </a:r>
          </a:p>
        </p:txBody>
      </p:sp>
      <p:sp>
        <p:nvSpPr>
          <p:cNvPr id="25" name="TextBox 24"/>
          <p:cNvSpPr txBox="1"/>
          <p:nvPr/>
        </p:nvSpPr>
        <p:spPr>
          <a:xfrm>
            <a:off x="7200900" y="4140200"/>
            <a:ext cx="1219200" cy="369332"/>
          </a:xfrm>
          <a:prstGeom prst="rect">
            <a:avLst/>
          </a:prstGeom>
          <a:noFill/>
        </p:spPr>
        <p:txBody>
          <a:bodyPr wrap="square" rtlCol="0">
            <a:spAutoFit/>
          </a:bodyPr>
          <a:lstStyle/>
          <a:p>
            <a:r>
              <a:rPr lang="en-US" dirty="0"/>
              <a:t>9 (43%) </a:t>
            </a:r>
          </a:p>
        </p:txBody>
      </p:sp>
    </p:spTree>
    <p:extLst>
      <p:ext uri="{BB962C8B-B14F-4D97-AF65-F5344CB8AC3E}">
        <p14:creationId xmlns:p14="http://schemas.microsoft.com/office/powerpoint/2010/main" val="3783984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Causes of Mortality</a:t>
            </a:r>
          </a:p>
        </p:txBody>
      </p:sp>
      <p:pic>
        <p:nvPicPr>
          <p:cNvPr id="5" name="Picture 4"/>
          <p:cNvPicPr>
            <a:picLocks noChangeAspect="1"/>
          </p:cNvPicPr>
          <p:nvPr/>
        </p:nvPicPr>
        <p:blipFill rotWithShape="1">
          <a:blip r:embed="rId3"/>
          <a:srcRect l="13841" r="13495"/>
          <a:stretch/>
        </p:blipFill>
        <p:spPr>
          <a:xfrm>
            <a:off x="2032000" y="2933700"/>
            <a:ext cx="2667000" cy="2743200"/>
          </a:xfrm>
          <a:prstGeom prst="rect">
            <a:avLst/>
          </a:prstGeom>
        </p:spPr>
      </p:pic>
      <p:pic>
        <p:nvPicPr>
          <p:cNvPr id="6" name="Picture 5"/>
          <p:cNvPicPr>
            <a:picLocks noChangeAspect="1"/>
          </p:cNvPicPr>
          <p:nvPr/>
        </p:nvPicPr>
        <p:blipFill rotWithShape="1">
          <a:blip r:embed="rId4"/>
          <a:srcRect l="13333" r="13685"/>
          <a:stretch/>
        </p:blipFill>
        <p:spPr>
          <a:xfrm>
            <a:off x="5600700" y="2921000"/>
            <a:ext cx="2641600" cy="2743200"/>
          </a:xfrm>
          <a:prstGeom prst="rect">
            <a:avLst/>
          </a:prstGeom>
        </p:spPr>
      </p:pic>
      <p:sp>
        <p:nvSpPr>
          <p:cNvPr id="7" name="TextBox 6"/>
          <p:cNvSpPr txBox="1"/>
          <p:nvPr/>
        </p:nvSpPr>
        <p:spPr>
          <a:xfrm>
            <a:off x="3505200" y="1841500"/>
            <a:ext cx="3009900" cy="400110"/>
          </a:xfrm>
          <a:prstGeom prst="rect">
            <a:avLst/>
          </a:prstGeom>
          <a:noFill/>
        </p:spPr>
        <p:txBody>
          <a:bodyPr wrap="square" rtlCol="0">
            <a:spAutoFit/>
          </a:bodyPr>
          <a:lstStyle/>
          <a:p>
            <a:pPr algn="ctr"/>
            <a:r>
              <a:rPr lang="en-US" sz="2000" dirty="0"/>
              <a:t>Causes of mortality</a:t>
            </a:r>
          </a:p>
        </p:txBody>
      </p:sp>
      <p:sp>
        <p:nvSpPr>
          <p:cNvPr id="8" name="TextBox 7"/>
          <p:cNvSpPr txBox="1"/>
          <p:nvPr/>
        </p:nvSpPr>
        <p:spPr>
          <a:xfrm>
            <a:off x="4940300" y="2552700"/>
            <a:ext cx="3962400" cy="400110"/>
          </a:xfrm>
          <a:prstGeom prst="rect">
            <a:avLst/>
          </a:prstGeom>
          <a:noFill/>
        </p:spPr>
        <p:txBody>
          <a:bodyPr wrap="square" rtlCol="0">
            <a:spAutoFit/>
          </a:bodyPr>
          <a:lstStyle/>
          <a:p>
            <a:pPr algn="ctr"/>
            <a:r>
              <a:rPr lang="en-US" sz="2000" dirty="0"/>
              <a:t>9 deaths in rasburicase group</a:t>
            </a:r>
          </a:p>
        </p:txBody>
      </p:sp>
      <p:sp>
        <p:nvSpPr>
          <p:cNvPr id="9" name="Rectangle 8"/>
          <p:cNvSpPr/>
          <p:nvPr/>
        </p:nvSpPr>
        <p:spPr>
          <a:xfrm>
            <a:off x="215900" y="3831434"/>
            <a:ext cx="128078" cy="181766"/>
          </a:xfrm>
          <a:prstGeom prst="rect">
            <a:avLst/>
          </a:prstGeom>
          <a:solidFill>
            <a:srgbClr val="7B9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203200" y="4060034"/>
            <a:ext cx="128078" cy="181766"/>
          </a:xfrm>
          <a:prstGeom prst="rect">
            <a:avLst/>
          </a:prstGeom>
          <a:solidFill>
            <a:schemeClr val="accent6">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203200" y="4288634"/>
            <a:ext cx="128078" cy="181766"/>
          </a:xfrm>
          <a:prstGeom prst="rect">
            <a:avLst/>
          </a:prstGeom>
          <a:solidFill>
            <a:srgbClr val="B9D4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p:cNvSpPr txBox="1"/>
          <p:nvPr/>
        </p:nvSpPr>
        <p:spPr>
          <a:xfrm>
            <a:off x="3327400" y="4521200"/>
            <a:ext cx="660400" cy="369332"/>
          </a:xfrm>
          <a:prstGeom prst="rect">
            <a:avLst/>
          </a:prstGeom>
          <a:noFill/>
        </p:spPr>
        <p:txBody>
          <a:bodyPr wrap="square" rtlCol="0">
            <a:spAutoFit/>
          </a:bodyPr>
          <a:lstStyle/>
          <a:p>
            <a:r>
              <a:rPr lang="en-US" dirty="0"/>
              <a:t>7 </a:t>
            </a:r>
          </a:p>
        </p:txBody>
      </p:sp>
      <p:sp>
        <p:nvSpPr>
          <p:cNvPr id="13" name="TextBox 12"/>
          <p:cNvSpPr txBox="1"/>
          <p:nvPr/>
        </p:nvSpPr>
        <p:spPr>
          <a:xfrm>
            <a:off x="7099300" y="4495800"/>
            <a:ext cx="508000" cy="369332"/>
          </a:xfrm>
          <a:prstGeom prst="rect">
            <a:avLst/>
          </a:prstGeom>
          <a:noFill/>
        </p:spPr>
        <p:txBody>
          <a:bodyPr wrap="square" rtlCol="0">
            <a:spAutoFit/>
          </a:bodyPr>
          <a:lstStyle/>
          <a:p>
            <a:r>
              <a:rPr lang="en-US" dirty="0"/>
              <a:t>7</a:t>
            </a:r>
          </a:p>
        </p:txBody>
      </p:sp>
      <p:sp>
        <p:nvSpPr>
          <p:cNvPr id="14" name="TextBox 13"/>
          <p:cNvSpPr txBox="1"/>
          <p:nvPr/>
        </p:nvSpPr>
        <p:spPr>
          <a:xfrm>
            <a:off x="381000" y="3797300"/>
            <a:ext cx="1625600" cy="276999"/>
          </a:xfrm>
          <a:prstGeom prst="rect">
            <a:avLst/>
          </a:prstGeom>
          <a:noFill/>
        </p:spPr>
        <p:txBody>
          <a:bodyPr wrap="square" rtlCol="0">
            <a:spAutoFit/>
          </a:bodyPr>
          <a:lstStyle/>
          <a:p>
            <a:r>
              <a:rPr lang="en-US" sz="1200" dirty="0"/>
              <a:t>Relapsed disease</a:t>
            </a:r>
          </a:p>
        </p:txBody>
      </p:sp>
      <p:sp>
        <p:nvSpPr>
          <p:cNvPr id="15" name="TextBox 14"/>
          <p:cNvSpPr txBox="1"/>
          <p:nvPr/>
        </p:nvSpPr>
        <p:spPr>
          <a:xfrm>
            <a:off x="381000" y="4000500"/>
            <a:ext cx="1625600" cy="276999"/>
          </a:xfrm>
          <a:prstGeom prst="rect">
            <a:avLst/>
          </a:prstGeom>
          <a:noFill/>
        </p:spPr>
        <p:txBody>
          <a:bodyPr wrap="square" rtlCol="0">
            <a:spAutoFit/>
          </a:bodyPr>
          <a:lstStyle/>
          <a:p>
            <a:r>
              <a:rPr lang="en-US" sz="1200" dirty="0"/>
              <a:t>Primary infection</a:t>
            </a:r>
          </a:p>
        </p:txBody>
      </p:sp>
      <p:sp>
        <p:nvSpPr>
          <p:cNvPr id="16" name="TextBox 15"/>
          <p:cNvSpPr txBox="1"/>
          <p:nvPr/>
        </p:nvSpPr>
        <p:spPr>
          <a:xfrm>
            <a:off x="381000" y="4203700"/>
            <a:ext cx="1625600" cy="276999"/>
          </a:xfrm>
          <a:prstGeom prst="rect">
            <a:avLst/>
          </a:prstGeom>
          <a:noFill/>
        </p:spPr>
        <p:txBody>
          <a:bodyPr wrap="square" rtlCol="0">
            <a:spAutoFit/>
          </a:bodyPr>
          <a:lstStyle/>
          <a:p>
            <a:r>
              <a:rPr lang="en-US" sz="1200" dirty="0" err="1"/>
              <a:t>Sequelae</a:t>
            </a:r>
            <a:r>
              <a:rPr lang="en-US" sz="1200" dirty="0"/>
              <a:t> of GVHD</a:t>
            </a:r>
          </a:p>
        </p:txBody>
      </p:sp>
      <p:sp>
        <p:nvSpPr>
          <p:cNvPr id="17" name="TextBox 16"/>
          <p:cNvSpPr txBox="1"/>
          <p:nvPr/>
        </p:nvSpPr>
        <p:spPr>
          <a:xfrm>
            <a:off x="2882900" y="3365500"/>
            <a:ext cx="381000" cy="369332"/>
          </a:xfrm>
          <a:prstGeom prst="rect">
            <a:avLst/>
          </a:prstGeom>
          <a:noFill/>
        </p:spPr>
        <p:txBody>
          <a:bodyPr wrap="square" rtlCol="0">
            <a:spAutoFit/>
          </a:bodyPr>
          <a:lstStyle/>
          <a:p>
            <a:r>
              <a:rPr lang="en-US" dirty="0"/>
              <a:t>1</a:t>
            </a:r>
          </a:p>
        </p:txBody>
      </p:sp>
      <p:sp>
        <p:nvSpPr>
          <p:cNvPr id="18" name="TextBox 17"/>
          <p:cNvSpPr txBox="1"/>
          <p:nvPr/>
        </p:nvSpPr>
        <p:spPr>
          <a:xfrm>
            <a:off x="2463800" y="3670300"/>
            <a:ext cx="381000" cy="369332"/>
          </a:xfrm>
          <a:prstGeom prst="rect">
            <a:avLst/>
          </a:prstGeom>
          <a:noFill/>
        </p:spPr>
        <p:txBody>
          <a:bodyPr wrap="square" rtlCol="0">
            <a:spAutoFit/>
          </a:bodyPr>
          <a:lstStyle/>
          <a:p>
            <a:r>
              <a:rPr lang="en-US" dirty="0"/>
              <a:t>1</a:t>
            </a:r>
          </a:p>
        </p:txBody>
      </p:sp>
      <p:sp>
        <p:nvSpPr>
          <p:cNvPr id="19" name="TextBox 18"/>
          <p:cNvSpPr txBox="1"/>
          <p:nvPr/>
        </p:nvSpPr>
        <p:spPr>
          <a:xfrm>
            <a:off x="6248400" y="3517900"/>
            <a:ext cx="381000" cy="369332"/>
          </a:xfrm>
          <a:prstGeom prst="rect">
            <a:avLst/>
          </a:prstGeom>
          <a:noFill/>
        </p:spPr>
        <p:txBody>
          <a:bodyPr wrap="square" rtlCol="0">
            <a:spAutoFit/>
          </a:bodyPr>
          <a:lstStyle/>
          <a:p>
            <a:r>
              <a:rPr lang="en-US" dirty="0"/>
              <a:t>2</a:t>
            </a:r>
          </a:p>
        </p:txBody>
      </p:sp>
      <p:sp>
        <p:nvSpPr>
          <p:cNvPr id="20" name="TextBox 19"/>
          <p:cNvSpPr txBox="1"/>
          <p:nvPr/>
        </p:nvSpPr>
        <p:spPr>
          <a:xfrm>
            <a:off x="1295400" y="2552700"/>
            <a:ext cx="3962400" cy="400110"/>
          </a:xfrm>
          <a:prstGeom prst="rect">
            <a:avLst/>
          </a:prstGeom>
          <a:noFill/>
        </p:spPr>
        <p:txBody>
          <a:bodyPr wrap="square" rtlCol="0">
            <a:spAutoFit/>
          </a:bodyPr>
          <a:lstStyle/>
          <a:p>
            <a:pPr algn="ctr"/>
            <a:r>
              <a:rPr lang="en-US" sz="2000" dirty="0"/>
              <a:t>9 deaths in control group</a:t>
            </a:r>
          </a:p>
        </p:txBody>
      </p:sp>
    </p:spTree>
    <p:extLst>
      <p:ext uri="{BB962C8B-B14F-4D97-AF65-F5344CB8AC3E}">
        <p14:creationId xmlns:p14="http://schemas.microsoft.com/office/powerpoint/2010/main" val="958004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Section transition slide</a:t>
            </a:r>
          </a:p>
        </p:txBody>
      </p:sp>
    </p:spTree>
    <p:extLst>
      <p:ext uri="{BB962C8B-B14F-4D97-AF65-F5344CB8AC3E}">
        <p14:creationId xmlns:p14="http://schemas.microsoft.com/office/powerpoint/2010/main" val="3030084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602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2"/>
          <p:cNvSpPr>
            <a:spLocks noGrp="1"/>
          </p:cNvSpPr>
          <p:nvPr>
            <p:ph type="ctrTitle"/>
          </p:nvPr>
        </p:nvSpPr>
        <p:spPr/>
        <p:txBody>
          <a:bodyPr/>
          <a:lstStyle/>
          <a:p>
            <a:endParaRPr lang="en-US" altLang="en-US">
              <a:ea typeface="ＭＳ Ｐゴシック" charset="-128"/>
            </a:endParaRPr>
          </a:p>
        </p:txBody>
      </p:sp>
      <p:pic>
        <p:nvPicPr>
          <p:cNvPr id="17410" name="Picture 2" descr="VESSEL-CIRCLE-GRADIENT.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3"/>
          <p:cNvSpPr txBox="1">
            <a:spLocks noChangeArrowheads="1"/>
          </p:cNvSpPr>
          <p:nvPr/>
        </p:nvSpPr>
        <p:spPr bwMode="auto">
          <a:xfrm>
            <a:off x="544513" y="2066925"/>
            <a:ext cx="78867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r>
              <a:rPr lang="en-US" altLang="en-US" sz="4800" dirty="0">
                <a:solidFill>
                  <a:schemeClr val="bg1"/>
                </a:solidFill>
                <a:latin typeface="Geogrotesque SemiBold" charset="0"/>
              </a:rPr>
              <a:t>Thank you or Transition Slide</a:t>
            </a:r>
            <a:endParaRPr lang="en-US" altLang="en-US" sz="4800" dirty="0"/>
          </a:p>
        </p:txBody>
      </p:sp>
      <p:pic>
        <p:nvPicPr>
          <p:cNvPr id="17412" name="Picture 4" descr="HUTCH-LOGO.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4513" y="6007100"/>
            <a:ext cx="20574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907830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defRPr sz="4000" dirty="0" smtClean="0"/>
        </a:defPPr>
      </a:lstStyle>
    </a:txDef>
  </a:objectDefaults>
  <a:extraClrSchemeLst/>
  <a:extLst>
    <a:ext uri="{05A4C25C-085E-4340-85A3-A5531E510DB2}">
      <thm15:themeFamily xmlns:thm15="http://schemas.microsoft.com/office/thememl/2012/main" name="PP template new" id="{B3DB9E1B-07F6-7047-A770-8F998C99C8A2}" vid="{66AA1B04-247C-D948-961F-E7C3CD4C9A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FredHutch-PP-template</Template>
  <TotalTime>113</TotalTime>
  <Words>2928</Words>
  <Application>Microsoft Office PowerPoint</Application>
  <PresentationFormat>On-screen Show (4:3)</PresentationFormat>
  <Paragraphs>326</Paragraphs>
  <Slides>39</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Corbel</vt:lpstr>
      <vt:lpstr>Geogrotesque SemiBold</vt:lpstr>
      <vt:lpstr>Times New Roman</vt:lpstr>
      <vt:lpstr>Office Theme</vt:lpstr>
      <vt:lpstr>PowerPoint Presentation</vt:lpstr>
      <vt:lpstr> Study Concept</vt:lpstr>
      <vt:lpstr>Outline</vt:lpstr>
      <vt:lpstr>Outline</vt:lpstr>
      <vt:lpstr>Annual Number of HCT Recipients in the US by Transplant Type</vt:lpstr>
      <vt:lpstr>Indications for Hematopoietic Cell Transplant in the US, 2017</vt:lpstr>
      <vt:lpstr>ASCT and Graft vs. Host Disease</vt:lpstr>
      <vt:lpstr>Pathogenesis of Acute GVHD</vt:lpstr>
      <vt:lpstr>Outline</vt:lpstr>
      <vt:lpstr>Identification of Uric Acid as Endogenous Adjuvant</vt:lpstr>
      <vt:lpstr>Phase I Study Design</vt:lpstr>
      <vt:lpstr>Phase I Study Design</vt:lpstr>
      <vt:lpstr>Phase I Study Results</vt:lpstr>
      <vt:lpstr>Phase I Study Results</vt:lpstr>
      <vt:lpstr>Cumulative proportion of Acute GVHD Grade II-IV</vt:lpstr>
      <vt:lpstr>Serum Uric Acid Levels</vt:lpstr>
      <vt:lpstr>Outline</vt:lpstr>
      <vt:lpstr>PowerPoint Presentation</vt:lpstr>
      <vt:lpstr>PowerPoint Presentation</vt:lpstr>
      <vt:lpstr>Reduction of GVHD in Mouse Models</vt:lpstr>
      <vt:lpstr>Reduction of GVHD in Mouse Models</vt:lpstr>
      <vt:lpstr>Outline</vt:lpstr>
      <vt:lpstr>Pegylated Uricase</vt:lpstr>
      <vt:lpstr>Study Concept</vt:lpstr>
      <vt:lpstr>PowerPoint Presentation</vt:lpstr>
      <vt:lpstr>PowerPoint Presentation</vt:lpstr>
      <vt:lpstr>Headline, Gradient and Watermark slide</vt:lpstr>
      <vt:lpstr>A Patient’s Perspective of the Transplant Process at FHCRC</vt:lpstr>
      <vt:lpstr>Annual Number of HCT Recipients in the US by Transplant Type</vt:lpstr>
      <vt:lpstr>Allogeneic HCT Recipients in the US, by Donor Type </vt:lpstr>
      <vt:lpstr>Indications for Hematopoietic Cell Transplant in the US, 2017</vt:lpstr>
      <vt:lpstr>Results – Baseline Characteristics</vt:lpstr>
      <vt:lpstr>Results – Baseline Characteristics</vt:lpstr>
      <vt:lpstr>Safety</vt:lpstr>
      <vt:lpstr>Incidence of chronic GVHD</vt:lpstr>
      <vt:lpstr>Causes of Mortality</vt:lpstr>
      <vt:lpstr>Section transition slide</vt:lpstr>
      <vt:lpstr>PowerPoint Presentation</vt:lpstr>
      <vt:lpstr>PowerPoint Presentation</vt:lpstr>
    </vt:vector>
  </TitlesOfParts>
  <Company>Fred Hutch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Marsh, Heather M</dc:creator>
  <cp:lastModifiedBy>Yeh, Albert C</cp:lastModifiedBy>
  <cp:revision>14</cp:revision>
  <dcterms:created xsi:type="dcterms:W3CDTF">2017-09-12T23:56:43Z</dcterms:created>
  <dcterms:modified xsi:type="dcterms:W3CDTF">2019-09-24T18:06:45Z</dcterms:modified>
</cp:coreProperties>
</file>
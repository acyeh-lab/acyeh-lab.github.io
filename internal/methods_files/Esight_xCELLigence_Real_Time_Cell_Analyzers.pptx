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58" r:id="rId6"/>
    <p:sldId id="262" r:id="rId7"/>
    <p:sldId id="267" r:id="rId8"/>
    <p:sldId id="263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00"/>
  </p:normalViewPr>
  <p:slideViewPr>
    <p:cSldViewPr snapToGrid="0" snapToObjects="1">
      <p:cViewPr varScale="1">
        <p:scale>
          <a:sx n="104" d="100"/>
          <a:sy n="104" d="100"/>
        </p:scale>
        <p:origin x="232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06C73-86CE-8143-880E-7ECAA3944E7B}" type="datetimeFigureOut">
              <a:rPr lang="en-US" smtClean="0"/>
              <a:t>3/31/20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12FF6-9CE0-C34C-82D0-1AB6E314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91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AC46-46B7-6E48-82DF-5F4B89AD7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796DA-7724-4443-96EE-113206A46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90B2C-F2F0-2C4D-91BF-4DEC8BBF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74F8-AA6B-864F-9EAE-5D9D3FD891F4}" type="datetimeFigureOut">
              <a:rPr lang="en-US" smtClean="0"/>
              <a:t>3/31/20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82F7F-0FD0-684B-A5E8-4763FF55E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8D0A5-2204-B543-807C-019F74BC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9C5E-F85B-1B4D-83B2-1088230A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6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B618-B7B5-D747-8FAF-B5E68C96E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21381-2EA5-0140-9469-A70758F60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A1FAD-4227-CE44-A52A-47C35CD5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74F8-AA6B-864F-9EAE-5D9D3FD891F4}" type="datetimeFigureOut">
              <a:rPr lang="en-US" smtClean="0"/>
              <a:t>3/31/20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489E3-48D1-344F-9DA1-3633B6D32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03DD5-D068-B54F-BAA1-827095AD4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9C5E-F85B-1B4D-83B2-1088230A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8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06B27-3375-C440-84DA-9485BF1C4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A8AD9-5802-B94C-A4C2-865A3451E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08DF7-77BE-3C4E-AF4A-5C59F1FAD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74F8-AA6B-864F-9EAE-5D9D3FD891F4}" type="datetimeFigureOut">
              <a:rPr lang="en-US" smtClean="0"/>
              <a:t>3/31/20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F0E77-4ABE-344D-A361-03A97FDCB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14E6-3AE2-984F-97C3-2573CEFA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9C5E-F85B-1B4D-83B2-1088230A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880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32057-8DAF-FC49-8817-D0936731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556E9-9E00-8E42-9742-4D1608F9A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8E3D2-C2EB-9044-8DC2-932731C0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8028-1FA7-5048-85EE-22E34079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74F8-AA6B-864F-9EAE-5D9D3FD891F4}" type="datetimeFigureOut">
              <a:rPr lang="en-US" smtClean="0"/>
              <a:t>3/31/20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FAD65-0F10-714C-A0EA-FDC8BD22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F52E-039E-3941-A0E9-BCF74CDBA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9C5E-F85B-1B4D-83B2-1088230A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127A-CF11-954D-87B9-6AF8AFAB3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8C4F4-1296-A840-B51D-DE89C28BB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4F1D9-22EB-E14C-BE74-D34A9F9DF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A32716-F693-A249-A03B-18E71C858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A74B6A-0EE8-114A-9ADB-ACF979DF0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C37742-C51B-CD44-90F5-FC9E9BBF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74F8-AA6B-864F-9EAE-5D9D3FD891F4}" type="datetimeFigureOut">
              <a:rPr lang="en-US" smtClean="0"/>
              <a:t>3/31/20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DB6CE-02C8-A74F-87F8-80DC0931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FF406D-387D-0949-96DC-AF14AD1F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9C5E-F85B-1B4D-83B2-1088230A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71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8EE4-6D2B-3E4D-AE75-0F84DC2C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069BD3-A312-A74D-97B1-D6384E0D5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74F8-AA6B-864F-9EAE-5D9D3FD891F4}" type="datetimeFigureOut">
              <a:rPr lang="en-US" smtClean="0"/>
              <a:t>3/31/20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DC5CD-F47A-364D-A879-836ECF391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6AEA1-ECBB-114D-92EF-D31E5955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9C5E-F85B-1B4D-83B2-1088230A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28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6A5888-1753-2B4C-A437-BA6E0B8B0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74F8-AA6B-864F-9EAE-5D9D3FD891F4}" type="datetimeFigureOut">
              <a:rPr lang="en-US" smtClean="0"/>
              <a:t>3/31/20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97577-48D0-B941-8CBC-0CBC794F4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6E7E7-E9F7-EB40-9482-CD32E99F6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9C5E-F85B-1B4D-83B2-1088230A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1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9E17-2800-A346-B9CF-7BF8877CD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164F1-8734-3943-82BE-C45F9404D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C73CE-6CE2-4541-B60D-4F9251809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AF656-497C-3A43-9DE2-B35FADFB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74F8-AA6B-864F-9EAE-5D9D3FD891F4}" type="datetimeFigureOut">
              <a:rPr lang="en-US" smtClean="0"/>
              <a:t>3/31/20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68958-07E1-7E42-B915-CA50B5E3B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347B1-62B6-3440-9B73-90CB5064D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9C5E-F85B-1B4D-83B2-1088230A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50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E556-07C5-614C-B34B-260F4CDD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8403B3-7752-A946-B17F-877DCF79E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F6153-3CA4-214B-8F32-1E85C470E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3EA50-4EE2-CD45-B33C-23981EDA2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74F8-AA6B-864F-9EAE-5D9D3FD891F4}" type="datetimeFigureOut">
              <a:rPr lang="en-US" smtClean="0"/>
              <a:t>3/31/20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87CFC-7E74-184B-8A50-5778BD7FC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A0680-3A42-D347-8B79-66E4621E3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9C5E-F85B-1B4D-83B2-1088230A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924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FB32-AAEA-0843-98B2-5DE8DCAA9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FCA3E-EA17-FA4B-BA24-2AC4FDD6E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E3628-7E80-2D4D-B1E4-3A383C9BB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74F8-AA6B-864F-9EAE-5D9D3FD891F4}" type="datetimeFigureOut">
              <a:rPr lang="en-US" smtClean="0"/>
              <a:t>3/31/20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81D65-056A-9443-88EA-731F3F5E3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3666-0C40-7A4D-88C5-4F3A2816D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9C5E-F85B-1B4D-83B2-1088230A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15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67466-B279-3149-95A4-B10474CDE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3B090A-A471-B446-B01E-454347C16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F117D-465B-9244-BD72-2901937F1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74F8-AA6B-864F-9EAE-5D9D3FD891F4}" type="datetimeFigureOut">
              <a:rPr lang="en-US" smtClean="0"/>
              <a:t>3/31/20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84057-77A2-EC4F-9C80-79D5529C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349BD-86D9-DB40-83E3-687F91F1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F9C5E-F85B-1B4D-83B2-1088230A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5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31D130-FB5E-204F-885C-9FD2B938B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6FFF3-31E4-F44C-9292-08D27602C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7555D-1FFD-724D-884E-8F64B2375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674F8-AA6B-864F-9EAE-5D9D3FD891F4}" type="datetimeFigureOut">
              <a:rPr lang="en-US" smtClean="0"/>
              <a:t>3/31/20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C6844-742A-3549-A53C-10BE141FE2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7CE0C-CD49-4F46-AE85-B92A4EDF6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F9C5E-F85B-1B4D-83B2-1088230A8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8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ncbi.nlm.nih.gov/pubmed/?term=Determining+optimal+cytotoxic+activity+of+human+Her2neu+specific+CD8+T+cells+by+comparing+the+Cr51+releaseassay+to+the+xCELLigence+syste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F333E-87B7-484B-8614-17F183A1B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434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Journal Club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xCELLigence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®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Cell Analyzers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04E3C-1DF3-1549-9492-47A53D20E3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96079"/>
            <a:ext cx="9144000" cy="1655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04/01/20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Gabby Cole</a:t>
            </a:r>
          </a:p>
        </p:txBody>
      </p:sp>
    </p:spTree>
    <p:extLst>
      <p:ext uri="{BB962C8B-B14F-4D97-AF65-F5344CB8AC3E}">
        <p14:creationId xmlns:p14="http://schemas.microsoft.com/office/powerpoint/2010/main" val="2122054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B97B1-7F1E-B145-9A1E-786961C8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69" y="5067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with Golden standard: Chromium 51(Cr) release assay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31F21-FFE8-6145-A97E-968B55994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169" y="4972054"/>
            <a:ext cx="10892907" cy="2071297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Cytotoxicity of effectors against tumor cells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Suffers from problems with sensitivity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Unable to run flow on the cells or use the supernatant for cytokine analysis</a:t>
            </a:r>
          </a:p>
          <a:p>
            <a:pPr lvl="1"/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E16EC8-5662-4041-8D03-C84D604D5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662" y="1002455"/>
            <a:ext cx="7460690" cy="383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149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1BF2A2-E914-6046-A6F8-EB8D29E67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0" y="1180499"/>
            <a:ext cx="9080500" cy="304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EB97B1-7F1E-B145-9A1E-786961C8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69" y="5067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Monitored with the real-time cell analysis (RTCA;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xCELLigence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ACEA Biosciences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31F21-FFE8-6145-A97E-968B55994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397" y="4032759"/>
            <a:ext cx="11114761" cy="4979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Workflow and sensitivity of evaluating low E:T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Quantitative monitoring of both minutes and days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Data Plotting by RTCA software enables facile data display and objective analysis</a:t>
            </a:r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75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B97B1-7F1E-B145-9A1E-786961C8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69" y="5067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of a cellular impedance assay is a set of gold microelectrodes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31F21-FFE8-6145-A97E-968B55994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253" y="4823591"/>
            <a:ext cx="11584233" cy="4979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cells at the electrode-solution interface impedes electron flow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Extremely sensitive readout of cell number, cell size/morphology, and cell-substrate attachment quality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042EFB-5A5A-D04D-B95E-8DD49517F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16" y="1332287"/>
            <a:ext cx="9644419" cy="349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07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1FC6C-1C6B-A84E-B2F7-37D2AE33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45" y="239002"/>
            <a:ext cx="10515600" cy="88560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Suspension Tumor Line Tethering Approaches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FDF912-2E65-C446-872E-1BEE28E063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0364578"/>
              </p:ext>
            </p:extLst>
          </p:nvPr>
        </p:nvGraphicFramePr>
        <p:xfrm>
          <a:off x="399391" y="1124608"/>
          <a:ext cx="11416864" cy="5511191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854216">
                  <a:extLst>
                    <a:ext uri="{9D8B030D-6E8A-4147-A177-3AD203B41FA5}">
                      <a16:colId xmlns:a16="http://schemas.microsoft.com/office/drawing/2014/main" val="440946157"/>
                    </a:ext>
                  </a:extLst>
                </a:gridCol>
                <a:gridCol w="2854216">
                  <a:extLst>
                    <a:ext uri="{9D8B030D-6E8A-4147-A177-3AD203B41FA5}">
                      <a16:colId xmlns:a16="http://schemas.microsoft.com/office/drawing/2014/main" val="2790866384"/>
                    </a:ext>
                  </a:extLst>
                </a:gridCol>
                <a:gridCol w="2854216">
                  <a:extLst>
                    <a:ext uri="{9D8B030D-6E8A-4147-A177-3AD203B41FA5}">
                      <a16:colId xmlns:a16="http://schemas.microsoft.com/office/drawing/2014/main" val="75668686"/>
                    </a:ext>
                  </a:extLst>
                </a:gridCol>
                <a:gridCol w="2854216">
                  <a:extLst>
                    <a:ext uri="{9D8B030D-6E8A-4147-A177-3AD203B41FA5}">
                      <a16:colId xmlns:a16="http://schemas.microsoft.com/office/drawing/2014/main" val="1221408153"/>
                    </a:ext>
                  </a:extLst>
                </a:gridCol>
              </a:tblGrid>
              <a:tr h="604194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Cancer Type </a:t>
                      </a:r>
                      <a:endParaRPr lang="en-US" sz="4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Validated Cell Line </a:t>
                      </a:r>
                      <a:endParaRPr lang="en-US" sz="4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Selective Tethering Mechanism </a:t>
                      </a:r>
                      <a:endParaRPr lang="en-US" sz="4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Verified Target Expression by Flow Cytometry </a:t>
                      </a:r>
                      <a:endParaRPr lang="en-US" sz="44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235802"/>
                  </a:ext>
                </a:extLst>
              </a:tr>
              <a:tr h="603760">
                <a:tc rowSpan="2"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Acute Lymphoblastic Leukemia (ALL)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NALM6 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CD9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CD3-, CD9+, CD19+, CD20-, CD22+, CD38+, CD138+, CD269+, HLA-DR+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944264"/>
                  </a:ext>
                </a:extLst>
              </a:tr>
              <a:tr h="6037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RS4;11 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CD9 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CD3- , CD9+, CD14+, CD19+, CD20-, CD22+, CD38+, CD138+, CD269+, CD123+(low)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1227175"/>
                  </a:ext>
                </a:extLst>
              </a:tr>
              <a:tr h="603760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Chronic Myelogenous Leukemia (CML)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K562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CD29 or CD71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CD3-, CD14-, CD15+, CD19-, CD29+, CD33+, CD71+, CD235a+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6881756"/>
                  </a:ext>
                </a:extLst>
              </a:tr>
              <a:tr h="384210">
                <a:tc rowSpan="3"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Non-Hodgkin Lymphoma (NHL)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effectLst/>
                        </a:rPr>
                        <a:t>Daudi</a:t>
                      </a:r>
                      <a:r>
                        <a:rPr lang="en-US" sz="1600" b="1" dirty="0">
                          <a:effectLst/>
                        </a:rPr>
                        <a:t> 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CD40 or CD19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CD3-, CD19+, CD20+, CD40+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470916"/>
                  </a:ext>
                </a:extLst>
              </a:tr>
              <a:tr h="3842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Raji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CD40 or CD19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CD3-, CD19+, CD20+, CD40+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1967114"/>
                  </a:ext>
                </a:extLst>
              </a:tr>
              <a:tr h="3842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Ramos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CD40 or CD19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CD3-, CD19+, CD20+, CD40+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432955"/>
                  </a:ext>
                </a:extLst>
              </a:tr>
              <a:tr h="462031">
                <a:tc rowSpan="2"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Multiple Myeloma (MM)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RPMI 8226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CD9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CD3-, CD9+, CD19-, CD38+, CD138+, CD269+, HLA-DR+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696940"/>
                  </a:ext>
                </a:extLst>
              </a:tr>
              <a:tr h="6037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MM1R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CD9 and CD71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CD3-, CD9+, CD19-, CD38+, CD71+, CD138+, CD269+, HLA-DR+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164848"/>
                  </a:ext>
                </a:extLst>
              </a:tr>
              <a:tr h="384210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Acute Myeloid Leukemia (AML)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HEL 92.1.7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CD29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CD13+, CD29+, CD33+, CD15+, CD123+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075626"/>
                  </a:ext>
                </a:extLst>
              </a:tr>
              <a:tr h="384210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Chronic Lymphocytic Leukemia (CLL) 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MEC2 </a:t>
                      </a:r>
                      <a:endParaRPr lang="en-US" sz="16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CD40 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</a:rPr>
                        <a:t>CD3-, CD13+, CD19+, CD20+, CD40+, CD138+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895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556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AB0464-FC2D-7A4C-8E1E-701A3DB08D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080" t="1624" r="9501" b="12353"/>
          <a:stretch/>
        </p:blipFill>
        <p:spPr>
          <a:xfrm>
            <a:off x="7080548" y="1242238"/>
            <a:ext cx="4345331" cy="536313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628BA92-4A23-304B-ADF4-7DE4EA8D2D74}"/>
              </a:ext>
            </a:extLst>
          </p:cNvPr>
          <p:cNvSpPr/>
          <p:nvPr/>
        </p:nvSpPr>
        <p:spPr>
          <a:xfrm>
            <a:off x="411894" y="252621"/>
            <a:ext cx="74994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Non-adherent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 Cell Killing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1C826C-EEAA-594D-8867-C25D4E54E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121" y="1242238"/>
            <a:ext cx="6104236" cy="5177789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Coat with diluted Tethering Reagent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background measurement with culture medium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tumor cells and let settle (30 minutes)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start data acquisition to monitor target cell attachment and proliferation.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2: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Pause data acquisition and add effector cells </a:t>
            </a:r>
          </a:p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data acquisition to monitor effector cell-mediated killing of immobilized target cells.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9264AC1-CBC6-4643-A9EE-06CB77E2E723}"/>
              </a:ext>
            </a:extLst>
          </p:cNvPr>
          <p:cNvCxnSpPr>
            <a:cxnSpLocks/>
          </p:cNvCxnSpPr>
          <p:nvPr/>
        </p:nvCxnSpPr>
        <p:spPr>
          <a:xfrm>
            <a:off x="-259492" y="4287794"/>
            <a:ext cx="1257917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4ABBAAF-F751-6049-A6A5-B3C721C518A0}"/>
              </a:ext>
            </a:extLst>
          </p:cNvPr>
          <p:cNvSpPr/>
          <p:nvPr/>
        </p:nvSpPr>
        <p:spPr>
          <a:xfrm>
            <a:off x="7356392" y="3549130"/>
            <a:ext cx="598890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5858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 Index (CI)</a:t>
            </a:r>
          </a:p>
          <a:p>
            <a:r>
              <a:rPr lang="en-US" sz="1400" dirty="0">
                <a:solidFill>
                  <a:srgbClr val="5858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 = (impedance at time point n – impedance in the absence of cells) </a:t>
            </a:r>
          </a:p>
          <a:p>
            <a:r>
              <a:rPr lang="en-US" sz="1400" dirty="0">
                <a:solidFill>
                  <a:srgbClr val="5858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/nominal impedance value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362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F5D6-798D-254C-BE41-009C16DB6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78627"/>
            <a:ext cx="11811001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Tendency to foam: Use the reverse pipetting technique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54785-6364-6F46-BF77-3481D93A4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85869"/>
            <a:ext cx="10515600" cy="25935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all the way down to the second stop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 the operating button slightly past the first stop then take up the volume and release to the first stop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BEF7D2-5E1A-7344-B472-426DF1C1F2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809"/>
          <a:stretch/>
        </p:blipFill>
        <p:spPr>
          <a:xfrm>
            <a:off x="3085070" y="1569007"/>
            <a:ext cx="5762368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27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28BA92-4A23-304B-ADF4-7DE4EA8D2D74}"/>
              </a:ext>
            </a:extLst>
          </p:cNvPr>
          <p:cNvSpPr/>
          <p:nvPr/>
        </p:nvSpPr>
        <p:spPr>
          <a:xfrm>
            <a:off x="210065" y="164206"/>
            <a:ext cx="1293340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Highlight: Detecting Cytolytic Activity of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CD8+ T Cells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16CB90-7F14-4240-847F-E1AC249D41AD}"/>
              </a:ext>
            </a:extLst>
          </p:cNvPr>
          <p:cNvSpPr/>
          <p:nvPr/>
        </p:nvSpPr>
        <p:spPr>
          <a:xfrm>
            <a:off x="6993719" y="6390508"/>
            <a:ext cx="5334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5858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adapted from </a:t>
            </a:r>
            <a:r>
              <a:rPr lang="en-US" dirty="0">
                <a:solidFill>
                  <a:srgbClr val="E77A27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J Vis Exp. 2012 Aug 8;(66):e3683</a:t>
            </a:r>
            <a:r>
              <a:rPr lang="en-US" dirty="0">
                <a:solidFill>
                  <a:srgbClr val="5858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BC7577-4902-9141-A444-7F6205CD8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1535156"/>
            <a:ext cx="8648700" cy="3441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CCD5DF6-FA41-6749-9F11-CE11788591DA}"/>
              </a:ext>
            </a:extLst>
          </p:cNvPr>
          <p:cNvSpPr/>
          <p:nvPr/>
        </p:nvSpPr>
        <p:spPr>
          <a:xfrm>
            <a:off x="576648" y="5071877"/>
            <a:ext cx="11051060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 by side comparison with the 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 release assay vs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xCELLigence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RTCA assay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sensitivity and dynamic range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40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28BA92-4A23-304B-ADF4-7DE4EA8D2D74}"/>
              </a:ext>
            </a:extLst>
          </p:cNvPr>
          <p:cNvSpPr/>
          <p:nvPr/>
        </p:nvSpPr>
        <p:spPr>
          <a:xfrm>
            <a:off x="259491" y="116696"/>
            <a:ext cx="1293340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Cell Imaging with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xCELLigence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Biosensor 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7E05F8CA-A0FE-2849-97D3-1A66BF201A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83" b="8829"/>
          <a:stretch/>
        </p:blipFill>
        <p:spPr>
          <a:xfrm>
            <a:off x="5943792" y="883598"/>
            <a:ext cx="5498565" cy="585770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1E72A2-28FF-394B-AFD0-39782E870B0A}"/>
              </a:ext>
            </a:extLst>
          </p:cNvPr>
          <p:cNvSpPr/>
          <p:nvPr/>
        </p:nvSpPr>
        <p:spPr>
          <a:xfrm>
            <a:off x="259491" y="1098544"/>
            <a:ext cx="5033319" cy="5582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Simultaneously tracking five different perspectives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Impedance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nuclei labeled tumor cell counts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Induction of apoptosis tracked by percent cellular confluence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Caspase 3 activation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Phosphatidylserine translocation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F705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70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fluorescence: Annexin V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14EA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fluorescence: Activated Caspase 3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E5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fluorescence: Nuclear-localized BFB 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828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E4706-1B5F-AE40-A97E-DBFEF758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512616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580</Words>
  <Application>Microsoft Macintosh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Tech Journal Club  xCELLigence® Real-Time Cell Analyzers </vt:lpstr>
      <vt:lpstr> Issues with Golden standard: Chromium 51(Cr) release assay </vt:lpstr>
      <vt:lpstr> Monitored with the real-time cell analysis (RTCA; xCELLigence ACEA Biosciences </vt:lpstr>
      <vt:lpstr> Unit of a cellular impedance assay is a set of gold microelectrodes </vt:lpstr>
      <vt:lpstr>Suspension Tumor Line Tethering Approaches </vt:lpstr>
      <vt:lpstr>PowerPoint Presentation</vt:lpstr>
      <vt:lpstr>Tendency to foam: Use the reverse pipetting technique </vt:lpstr>
      <vt:lpstr>PowerPoint Presentation</vt:lpstr>
      <vt:lpstr>PowerPoint Presentation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Journal Club  xCELLigence® Real-Time Cell Analyzers </dc:title>
  <dc:creator>Cole, Gabby</dc:creator>
  <cp:lastModifiedBy>Cole, Gabby</cp:lastModifiedBy>
  <cp:revision>20</cp:revision>
  <dcterms:created xsi:type="dcterms:W3CDTF">2020-03-25T21:50:58Z</dcterms:created>
  <dcterms:modified xsi:type="dcterms:W3CDTF">2020-03-31T23:51:41Z</dcterms:modified>
</cp:coreProperties>
</file>
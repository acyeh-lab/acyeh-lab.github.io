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10"/>
  </p:notesMasterIdLst>
  <p:sldIdLst>
    <p:sldId id="256" r:id="rId5"/>
    <p:sldId id="413" r:id="rId6"/>
    <p:sldId id="691" r:id="rId7"/>
    <p:sldId id="692" r:id="rId8"/>
    <p:sldId id="693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8" roundtripDataSignature="AMtx7mgxgxKXR12cEqos2+P+1aGH8c7a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C9C3EF"/>
    <a:srgbClr val="C8B5FD"/>
    <a:srgbClr val="99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8602B3-2C26-2028-C4FF-6CED0AF3DAF2}" v="1" dt="2023-05-10T18:09:25.346"/>
  </p1510:revLst>
</p1510:revInfo>
</file>

<file path=ppt/tableStyles.xml><?xml version="1.0" encoding="utf-8"?>
<a:tblStyleLst xmlns:a="http://schemas.openxmlformats.org/drawingml/2006/main" def="{B78AED3A-1EB5-4CDB-847C-A24A35618D67}">
  <a:tblStyle styleId="{B78AED3A-1EB5-4CDB-847C-A24A35618D6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32645A0-38FC-4996-AE62-DF210B6195DE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03" autoAdjust="0"/>
    <p:restoredTop sz="96120" autoAdjust="0"/>
  </p:normalViewPr>
  <p:slideViewPr>
    <p:cSldViewPr snapToGrid="0">
      <p:cViewPr varScale="1">
        <p:scale>
          <a:sx n="109" d="100"/>
          <a:sy n="109" d="100"/>
        </p:scale>
        <p:origin x="79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63" Type="http://schemas.microsoft.com/office/2015/10/relationships/revisionInfo" Target="revisionInfo.xml"/><Relationship Id="rId7" Type="http://schemas.openxmlformats.org/officeDocument/2006/relationships/slide" Target="slides/slide3.xml"/><Relationship Id="rId59" Type="http://schemas.openxmlformats.org/officeDocument/2006/relationships/presProps" Target="presProps.xml"/><Relationship Id="rId2" Type="http://schemas.openxmlformats.org/officeDocument/2006/relationships/customXml" Target="../customXml/item2.xml"/><Relationship Id="rId62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58" Type="http://customschemas.google.com/relationships/presentationmetadata" Target="metadata"/><Relationship Id="rId5" Type="http://schemas.openxmlformats.org/officeDocument/2006/relationships/slide" Target="slides/slide1.xml"/><Relationship Id="rId61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6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8" name="Google Shape;438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439" name="Google Shape;439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336298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8" name="Google Shape;438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439" name="Google Shape;439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535136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8" name="Google Shape;438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439" name="Google Shape;439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246926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8" name="Google Shape;438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439" name="Google Shape;439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790541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/>
          <p:nvPr/>
        </p:nvSpPr>
        <p:spPr>
          <a:xfrm>
            <a:off x="1" y="1455463"/>
            <a:ext cx="12192000" cy="4037611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>
            <a:spLocks noGrp="1"/>
          </p:cNvSpPr>
          <p:nvPr>
            <p:ph type="ctrTitle"/>
          </p:nvPr>
        </p:nvSpPr>
        <p:spPr>
          <a:xfrm>
            <a:off x="428833" y="1984248"/>
            <a:ext cx="11334336" cy="1699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r>
              <a:rPr lang="en-US" sz="4500" b="1" dirty="0">
                <a:solidFill>
                  <a:schemeClr val="lt1"/>
                </a:solidFill>
              </a:rPr>
              <a:t>Preparing custom TCR libraries using the</a:t>
            </a:r>
            <a:br>
              <a:rPr lang="en-US" sz="4500" b="1" dirty="0">
                <a:solidFill>
                  <a:schemeClr val="lt1"/>
                </a:solidFill>
              </a:rPr>
            </a:br>
            <a:r>
              <a:rPr lang="en-US" sz="4500" b="1" dirty="0">
                <a:solidFill>
                  <a:schemeClr val="lt1"/>
                </a:solidFill>
              </a:rPr>
              <a:t>10x Genomics platform</a:t>
            </a:r>
            <a:endParaRPr sz="2400" b="1" dirty="0">
              <a:solidFill>
                <a:schemeClr val="lt1"/>
              </a:solidFill>
            </a:endParaRPr>
          </a:p>
        </p:txBody>
      </p:sp>
      <p:sp>
        <p:nvSpPr>
          <p:cNvPr id="91" name="Google Shape;91;p1"/>
          <p:cNvSpPr txBox="1">
            <a:spLocks noGrp="1"/>
          </p:cNvSpPr>
          <p:nvPr>
            <p:ph type="subTitle" idx="1"/>
          </p:nvPr>
        </p:nvSpPr>
        <p:spPr>
          <a:xfrm>
            <a:off x="1011045" y="4212762"/>
            <a:ext cx="10169912" cy="492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 dirty="0">
                <a:solidFill>
                  <a:schemeClr val="lt1"/>
                </a:solidFill>
              </a:rPr>
              <a:t>Megan Maerz</a:t>
            </a: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0"/>
          <p:cNvSpPr txBox="1"/>
          <p:nvPr/>
        </p:nvSpPr>
        <p:spPr>
          <a:xfrm>
            <a:off x="73711" y="25762"/>
            <a:ext cx="1204457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4000"/>
              <a:buFont typeface="Calibri"/>
              <a:buNone/>
            </a:pPr>
            <a:r>
              <a:rPr lang="en-US" sz="2800" b="1" u="sng" dirty="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TCR Targeted Enrichment</a:t>
            </a:r>
            <a:endParaRPr sz="2800" b="1" i="0" u="sng" strike="noStrike" cap="none" dirty="0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7796463" y="6160168"/>
            <a:ext cx="4227674" cy="3489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244066" y="4498175"/>
            <a:ext cx="11780071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700" dirty="0"/>
              <a:t>Primers that are complementary to the TCR constant regions and to Read 1 are used to amplify TCR-encoding transcripts in nested PCRs.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7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700" dirty="0"/>
              <a:t>10x only sells a kit for human or mouse </a:t>
            </a:r>
            <a:r>
              <a:rPr lang="el-GR" sz="1700" dirty="0"/>
              <a:t>αβ</a:t>
            </a:r>
            <a:r>
              <a:rPr lang="en-US" sz="1700" dirty="0"/>
              <a:t> TCRs   </a:t>
            </a:r>
            <a:r>
              <a:rPr lang="en-US" sz="1700" dirty="0">
                <a:sym typeface="Wingdings" panose="05000000000000000000" pitchFamily="2" charset="2"/>
              </a:rPr>
              <a:t>   </a:t>
            </a:r>
            <a:r>
              <a:rPr lang="en-US" sz="1700" u="sng" dirty="0">
                <a:sym typeface="Wingdings" panose="05000000000000000000" pitchFamily="2" charset="2"/>
              </a:rPr>
              <a:t>Custom primers required for other library preps (</a:t>
            </a:r>
            <a:r>
              <a:rPr lang="el-GR" sz="1700" u="sng" dirty="0">
                <a:sym typeface="Wingdings" panose="05000000000000000000" pitchFamily="2" charset="2"/>
              </a:rPr>
              <a:t>γδ</a:t>
            </a:r>
            <a:r>
              <a:rPr lang="en-US" sz="1700" u="sng" dirty="0">
                <a:sym typeface="Wingdings" panose="05000000000000000000" pitchFamily="2" charset="2"/>
              </a:rPr>
              <a:t>, NHP).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700" u="sng" dirty="0">
              <a:sym typeface="Wingdings" panose="05000000000000000000" pitchFamily="2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700" dirty="0">
                <a:sym typeface="Wingdings" panose="05000000000000000000" pitchFamily="2" charset="2"/>
              </a:rPr>
              <a:t>Custom primers for amplifying human </a:t>
            </a:r>
            <a:r>
              <a:rPr lang="el-GR" sz="1700" dirty="0">
                <a:sym typeface="Wingdings" panose="05000000000000000000" pitchFamily="2" charset="2"/>
              </a:rPr>
              <a:t>γδ</a:t>
            </a:r>
            <a:r>
              <a:rPr lang="en-US" sz="1700" dirty="0">
                <a:sym typeface="Wingdings" panose="05000000000000000000" pitchFamily="2" charset="2"/>
              </a:rPr>
              <a:t> TCRs have been published (PMID #31011186 and #33674358).</a:t>
            </a:r>
            <a:endParaRPr lang="en-US" sz="1700" dirty="0"/>
          </a:p>
        </p:txBody>
      </p:sp>
      <p:sp>
        <p:nvSpPr>
          <p:cNvPr id="7" name="Rectangle 6"/>
          <p:cNvSpPr/>
          <p:nvPr/>
        </p:nvSpPr>
        <p:spPr>
          <a:xfrm>
            <a:off x="5207000" y="3098800"/>
            <a:ext cx="484634" cy="5368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01752E-99FD-A782-E6ED-83CA41C7032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045" t="40972" r="51480" b="20611"/>
          <a:stretch/>
        </p:blipFill>
        <p:spPr>
          <a:xfrm>
            <a:off x="734923" y="992244"/>
            <a:ext cx="10722153" cy="2909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383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0"/>
          <p:cNvSpPr txBox="1"/>
          <p:nvPr/>
        </p:nvSpPr>
        <p:spPr>
          <a:xfrm>
            <a:off x="73711" y="25762"/>
            <a:ext cx="1204457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4000"/>
              <a:buFont typeface="Calibri"/>
              <a:buNone/>
            </a:pPr>
            <a:r>
              <a:rPr lang="en-US" sz="2800" b="1" u="sng" dirty="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Primer Design</a:t>
            </a:r>
            <a:endParaRPr sz="2800" b="1" i="0" u="sng" strike="noStrike" cap="none" dirty="0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l="76482" t="19664" r="4705" b="58923"/>
          <a:stretch/>
        </p:blipFill>
        <p:spPr>
          <a:xfrm>
            <a:off x="149981" y="1519049"/>
            <a:ext cx="7958321" cy="28416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81591" y="3994056"/>
            <a:ext cx="9925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dirty="0">
                <a:solidFill>
                  <a:srgbClr val="0070C0"/>
                </a:solidFill>
              </a:rPr>
              <a:t>P5</a:t>
            </a:r>
          </a:p>
          <a:p>
            <a:pPr algn="ctr"/>
            <a:r>
              <a:rPr lang="en-US" sz="1800" dirty="0">
                <a:solidFill>
                  <a:srgbClr val="0070C0"/>
                </a:solidFill>
              </a:rPr>
              <a:t>Adaptor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B2D04C-F033-E9D4-2915-33C6DE392D36}"/>
              </a:ext>
            </a:extLst>
          </p:cNvPr>
          <p:cNvSpPr txBox="1"/>
          <p:nvPr/>
        </p:nvSpPr>
        <p:spPr>
          <a:xfrm>
            <a:off x="8788190" y="1560980"/>
            <a:ext cx="3253829" cy="206210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u="sng" dirty="0"/>
              <a:t>Six unique primers are needed:</a:t>
            </a:r>
          </a:p>
          <a:p>
            <a:pPr marL="342900" indent="-342900">
              <a:buAutoNum type="arabicPeriod"/>
            </a:pPr>
            <a:r>
              <a:rPr lang="en-US" sz="1600" dirty="0"/>
              <a:t>10x_outer_F </a:t>
            </a:r>
            <a:r>
              <a:rPr lang="en-US" sz="1600"/>
              <a:t>(Forward)</a:t>
            </a:r>
            <a:endParaRPr lang="en-US" sz="1600" dirty="0"/>
          </a:p>
          <a:p>
            <a:pPr marL="342900" indent="-342900">
              <a:buAutoNum type="arabicPeriod"/>
            </a:pPr>
            <a:r>
              <a:rPr lang="en-US" sz="1600" dirty="0" err="1"/>
              <a:t>Constant_A</a:t>
            </a:r>
            <a:r>
              <a:rPr lang="en-US" sz="1600" dirty="0"/>
              <a:t>/D_Outer_R1</a:t>
            </a:r>
          </a:p>
          <a:p>
            <a:pPr marL="342900" indent="-342900">
              <a:buAutoNum type="arabicPeriod"/>
            </a:pPr>
            <a:r>
              <a:rPr lang="en-US" sz="1600" dirty="0" err="1"/>
              <a:t>Constant_B</a:t>
            </a:r>
            <a:r>
              <a:rPr lang="en-US" sz="1600" dirty="0"/>
              <a:t>/G_Outer_R2</a:t>
            </a:r>
          </a:p>
          <a:p>
            <a:pPr marL="342900" indent="-342900">
              <a:buAutoNum type="arabicPeriod"/>
            </a:pPr>
            <a:endParaRPr lang="en-US" sz="1600" dirty="0"/>
          </a:p>
          <a:p>
            <a:pPr marL="342900" indent="-342900">
              <a:buAutoNum type="arabicPeriod"/>
            </a:pPr>
            <a:r>
              <a:rPr lang="en-US" sz="1600" dirty="0"/>
              <a:t>Illumina_P5 (Forward)</a:t>
            </a:r>
          </a:p>
          <a:p>
            <a:pPr marL="342900" indent="-342900">
              <a:buAutoNum type="arabicPeriod"/>
            </a:pPr>
            <a:r>
              <a:rPr lang="en-US" sz="1600" dirty="0" err="1"/>
              <a:t>Constant_A</a:t>
            </a:r>
            <a:r>
              <a:rPr lang="en-US" sz="1600" dirty="0"/>
              <a:t>/D_Inner_R1</a:t>
            </a:r>
          </a:p>
          <a:p>
            <a:pPr marL="342900" indent="-342900">
              <a:buAutoNum type="arabicPeriod"/>
            </a:pPr>
            <a:r>
              <a:rPr lang="en-US" sz="1600" dirty="0" err="1"/>
              <a:t>Constant_B</a:t>
            </a:r>
            <a:r>
              <a:rPr lang="en-US" sz="1600" dirty="0"/>
              <a:t>/G_Inner_R2</a:t>
            </a:r>
          </a:p>
        </p:txBody>
      </p:sp>
      <p:sp>
        <p:nvSpPr>
          <p:cNvPr id="5" name="Left Brace 4">
            <a:extLst>
              <a:ext uri="{FF2B5EF4-FFF2-40B4-BE49-F238E27FC236}">
                <a16:creationId xmlns:a16="http://schemas.microsoft.com/office/drawing/2014/main" id="{99040878-C66F-C8F0-C3F1-C78BC80C3860}"/>
              </a:ext>
            </a:extLst>
          </p:cNvPr>
          <p:cNvSpPr/>
          <p:nvPr/>
        </p:nvSpPr>
        <p:spPr>
          <a:xfrm rot="5400000">
            <a:off x="4926563" y="132295"/>
            <a:ext cx="354563" cy="2586664"/>
          </a:xfrm>
          <a:prstGeom prst="leftBrace">
            <a:avLst>
              <a:gd name="adj1" fmla="val 58333"/>
              <a:gd name="adj2" fmla="val 50000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/>
          <p:cNvSpPr/>
          <p:nvPr/>
        </p:nvSpPr>
        <p:spPr>
          <a:xfrm>
            <a:off x="4295568" y="899429"/>
            <a:ext cx="1616551" cy="3489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Original transcript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1DF681-58B0-85D0-3BAC-A7AF13D3EFC6}"/>
              </a:ext>
            </a:extLst>
          </p:cNvPr>
          <p:cNvSpPr/>
          <p:nvPr/>
        </p:nvSpPr>
        <p:spPr>
          <a:xfrm>
            <a:off x="6628117" y="1344653"/>
            <a:ext cx="1616551" cy="3489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Added during cDNA Amp.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9881AA6B-BD00-3290-75B5-8BC85002388C}"/>
              </a:ext>
            </a:extLst>
          </p:cNvPr>
          <p:cNvSpPr/>
          <p:nvPr/>
        </p:nvSpPr>
        <p:spPr>
          <a:xfrm rot="5400000">
            <a:off x="7223557" y="1301171"/>
            <a:ext cx="354563" cy="1414925"/>
          </a:xfrm>
          <a:prstGeom prst="leftBrace">
            <a:avLst>
              <a:gd name="adj1" fmla="val 58333"/>
              <a:gd name="adj2" fmla="val 50000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BE6EA1A7-8444-2DD8-4F15-09C040659083}"/>
              </a:ext>
            </a:extLst>
          </p:cNvPr>
          <p:cNvSpPr/>
          <p:nvPr/>
        </p:nvSpPr>
        <p:spPr>
          <a:xfrm rot="5400000">
            <a:off x="2269248" y="209951"/>
            <a:ext cx="354563" cy="2347494"/>
          </a:xfrm>
          <a:prstGeom prst="leftBrace">
            <a:avLst>
              <a:gd name="adj1" fmla="val 58333"/>
              <a:gd name="adj2" fmla="val 50000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4353835-CEE3-4A22-E29C-871BC4FCE573}"/>
              </a:ext>
            </a:extLst>
          </p:cNvPr>
          <p:cNvSpPr/>
          <p:nvPr/>
        </p:nvSpPr>
        <p:spPr>
          <a:xfrm>
            <a:off x="1638253" y="857500"/>
            <a:ext cx="1616551" cy="3489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Gel bead primers</a:t>
            </a:r>
          </a:p>
        </p:txBody>
      </p:sp>
      <p:sp>
        <p:nvSpPr>
          <p:cNvPr id="13" name="Google Shape;99;p32">
            <a:extLst>
              <a:ext uri="{FF2B5EF4-FFF2-40B4-BE49-F238E27FC236}">
                <a16:creationId xmlns:a16="http://schemas.microsoft.com/office/drawing/2014/main" id="{FD3464FE-C001-B10D-2102-8325FBCC8B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81591" y="4895876"/>
            <a:ext cx="11588358" cy="1932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TCR transcripts are amplified in two nested PCRs.</a:t>
            </a:r>
          </a:p>
          <a:p>
            <a:pPr marL="800100" lvl="3">
              <a:buFont typeface="Arial" panose="020B0604020202020204" pitchFamily="34" charset="0"/>
              <a:buChar char="•"/>
            </a:pPr>
            <a:r>
              <a:rPr lang="en-US" sz="2000" u="sng" dirty="0"/>
              <a:t>First PCR</a:t>
            </a:r>
            <a:r>
              <a:rPr lang="en-US" sz="2000" dirty="0"/>
              <a:t>: Forward primer adds P5 adaptor (binds to Illumina flow cell), reverse primers bind to outer TCR constant regions.</a:t>
            </a:r>
          </a:p>
          <a:p>
            <a:pPr marL="800100" lvl="3">
              <a:buFont typeface="Arial" panose="020B0604020202020204" pitchFamily="34" charset="0"/>
              <a:buChar char="•"/>
            </a:pPr>
            <a:r>
              <a:rPr lang="en-US" sz="2000" u="sng" dirty="0"/>
              <a:t>Second PCR</a:t>
            </a:r>
            <a:r>
              <a:rPr lang="en-US" sz="2000" dirty="0"/>
              <a:t>: Forward primer binds to P5 adaptor, reverse primers bind to inner TCR constant regions.</a:t>
            </a:r>
          </a:p>
        </p:txBody>
      </p:sp>
    </p:spTree>
    <p:extLst>
      <p:ext uri="{BB962C8B-B14F-4D97-AF65-F5344CB8AC3E}">
        <p14:creationId xmlns:p14="http://schemas.microsoft.com/office/powerpoint/2010/main" val="1149520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0"/>
          <p:cNvSpPr txBox="1"/>
          <p:nvPr/>
        </p:nvSpPr>
        <p:spPr>
          <a:xfrm>
            <a:off x="73711" y="25762"/>
            <a:ext cx="1204457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4000"/>
              <a:buFont typeface="Calibri"/>
              <a:buNone/>
            </a:pPr>
            <a:r>
              <a:rPr lang="en-US" sz="2800" b="1" u="sng" dirty="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PCR Optimization</a:t>
            </a:r>
            <a:endParaRPr sz="2800" b="1" i="0" u="sng" strike="noStrike" cap="none" dirty="0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 dirty="0"/>
          </a:p>
        </p:txBody>
      </p:sp>
      <p:sp>
        <p:nvSpPr>
          <p:cNvPr id="13" name="Google Shape;99;p32">
            <a:extLst>
              <a:ext uri="{FF2B5EF4-FFF2-40B4-BE49-F238E27FC236}">
                <a16:creationId xmlns:a16="http://schemas.microsoft.com/office/drawing/2014/main" id="{FD3464FE-C001-B10D-2102-8325FBCC8B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01821" y="5407538"/>
            <a:ext cx="11588358" cy="1084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Custom primers may not amplify well without additional optimization.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We’ve found success in focusing on the annealing temperatures.</a:t>
            </a:r>
          </a:p>
        </p:txBody>
      </p:sp>
      <p:pic>
        <p:nvPicPr>
          <p:cNvPr id="7" name="Google Shape;311;p18">
            <a:extLst>
              <a:ext uri="{FF2B5EF4-FFF2-40B4-BE49-F238E27FC236}">
                <a16:creationId xmlns:a16="http://schemas.microsoft.com/office/drawing/2014/main" id="{5B477179-D8FE-3DAF-23F3-E0B82CDB56E1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 l="-268" r="1652"/>
          <a:stretch/>
        </p:blipFill>
        <p:spPr>
          <a:xfrm>
            <a:off x="795449" y="926154"/>
            <a:ext cx="3948001" cy="2031313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322;p18">
            <a:extLst>
              <a:ext uri="{FF2B5EF4-FFF2-40B4-BE49-F238E27FC236}">
                <a16:creationId xmlns:a16="http://schemas.microsoft.com/office/drawing/2014/main" id="{49992B9F-F4A8-0917-98AE-17F8F1FE287F}"/>
              </a:ext>
            </a:extLst>
          </p:cNvPr>
          <p:cNvSpPr txBox="1"/>
          <p:nvPr/>
        </p:nvSpPr>
        <p:spPr>
          <a:xfrm>
            <a:off x="1716654" y="1116612"/>
            <a:ext cx="2063885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TapeStation Trace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PCR not optimized</a:t>
            </a:r>
            <a:endParaRPr sz="18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oogle Shape;314;p18">
            <a:extLst>
              <a:ext uri="{FF2B5EF4-FFF2-40B4-BE49-F238E27FC236}">
                <a16:creationId xmlns:a16="http://schemas.microsoft.com/office/drawing/2014/main" id="{E084E85C-F545-E39A-2B16-DD78DEE760AD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81512" y="920840"/>
            <a:ext cx="4462513" cy="2036627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322;p18">
            <a:extLst>
              <a:ext uri="{FF2B5EF4-FFF2-40B4-BE49-F238E27FC236}">
                <a16:creationId xmlns:a16="http://schemas.microsoft.com/office/drawing/2014/main" id="{E338453D-3047-6C5B-561F-B3248D45EFDE}"/>
              </a:ext>
            </a:extLst>
          </p:cNvPr>
          <p:cNvSpPr txBox="1"/>
          <p:nvPr/>
        </p:nvSpPr>
        <p:spPr>
          <a:xfrm>
            <a:off x="5711757" y="1116612"/>
            <a:ext cx="2063885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TapeStation Trace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Optimized</a:t>
            </a:r>
            <a:endParaRPr sz="18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" name="Google Shape;339;p19">
            <a:extLst>
              <a:ext uri="{FF2B5EF4-FFF2-40B4-BE49-F238E27FC236}">
                <a16:creationId xmlns:a16="http://schemas.microsoft.com/office/drawing/2014/main" id="{5C637FD4-BD9C-EA58-6455-4979841D5C1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2903" y="3377298"/>
            <a:ext cx="3993091" cy="17466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340;p19">
            <a:extLst>
              <a:ext uri="{FF2B5EF4-FFF2-40B4-BE49-F238E27FC236}">
                <a16:creationId xmlns:a16="http://schemas.microsoft.com/office/drawing/2014/main" id="{781DC9FC-D64A-74D5-AC1E-B7C303946A82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56575" t="27891" r="21951" b="25687"/>
          <a:stretch/>
        </p:blipFill>
        <p:spPr>
          <a:xfrm>
            <a:off x="5307170" y="3210162"/>
            <a:ext cx="3379629" cy="1936639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322;p18">
            <a:extLst>
              <a:ext uri="{FF2B5EF4-FFF2-40B4-BE49-F238E27FC236}">
                <a16:creationId xmlns:a16="http://schemas.microsoft.com/office/drawing/2014/main" id="{F43831C5-770F-1830-BCD5-584568E4EC37}"/>
              </a:ext>
            </a:extLst>
          </p:cNvPr>
          <p:cNvSpPr txBox="1"/>
          <p:nvPr/>
        </p:nvSpPr>
        <p:spPr>
          <a:xfrm>
            <a:off x="1308544" y="3679261"/>
            <a:ext cx="206388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Final TCR library</a:t>
            </a:r>
            <a:endParaRPr sz="18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322;p18">
            <a:extLst>
              <a:ext uri="{FF2B5EF4-FFF2-40B4-BE49-F238E27FC236}">
                <a16:creationId xmlns:a16="http://schemas.microsoft.com/office/drawing/2014/main" id="{0FEF5BD2-675B-A2AD-8C0D-7116F31C9362}"/>
              </a:ext>
            </a:extLst>
          </p:cNvPr>
          <p:cNvSpPr txBox="1"/>
          <p:nvPr/>
        </p:nvSpPr>
        <p:spPr>
          <a:xfrm>
            <a:off x="7112768" y="3725407"/>
            <a:ext cx="2063885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TapeStation Trace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Optimized</a:t>
            </a:r>
            <a:endParaRPr sz="18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912048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0"/>
          <p:cNvSpPr txBox="1"/>
          <p:nvPr/>
        </p:nvSpPr>
        <p:spPr>
          <a:xfrm>
            <a:off x="73711" y="25762"/>
            <a:ext cx="1204457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4000"/>
              <a:buFont typeface="Calibri"/>
              <a:buNone/>
            </a:pPr>
            <a:r>
              <a:rPr lang="en-US" sz="2800" b="1" u="sng" dirty="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TCR Analysis</a:t>
            </a:r>
            <a:endParaRPr sz="2800" b="1" i="0" u="sng" strike="noStrike" cap="none" dirty="0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 dirty="0"/>
          </a:p>
        </p:txBody>
      </p:sp>
      <p:sp>
        <p:nvSpPr>
          <p:cNvPr id="13" name="Google Shape;99;p32">
            <a:extLst>
              <a:ext uri="{FF2B5EF4-FFF2-40B4-BE49-F238E27FC236}">
                <a16:creationId xmlns:a16="http://schemas.microsoft.com/office/drawing/2014/main" id="{FD3464FE-C001-B10D-2102-8325FBCC8B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848923" y="4464076"/>
            <a:ext cx="6937179" cy="2048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With some adjustments to the </a:t>
            </a:r>
            <a:r>
              <a:rPr lang="en-US" sz="2000" dirty="0" err="1"/>
              <a:t>cellranger</a:t>
            </a:r>
            <a:r>
              <a:rPr lang="en-US" sz="2000" dirty="0"/>
              <a:t> VDJ pipeline, the resulting data can be analyzed like any other TCR dataset (if the tool is compatible with your TCR/species of interest!).</a:t>
            </a:r>
          </a:p>
          <a:p>
            <a:pPr marL="800100" lvl="1">
              <a:buFont typeface="Arial" panose="020B0604020202020204" pitchFamily="34" charset="0"/>
              <a:buChar char="•"/>
            </a:pPr>
            <a:r>
              <a:rPr lang="en-US" sz="1600" dirty="0"/>
              <a:t>Gene usage</a:t>
            </a:r>
          </a:p>
          <a:p>
            <a:pPr marL="800100" lvl="1">
              <a:buFont typeface="Arial" panose="020B0604020202020204" pitchFamily="34" charset="0"/>
              <a:buChar char="•"/>
            </a:pPr>
            <a:r>
              <a:rPr lang="en-US" sz="1600" dirty="0"/>
              <a:t>CDR3 matches</a:t>
            </a:r>
          </a:p>
          <a:p>
            <a:pPr marL="800100" lvl="1">
              <a:buFont typeface="Arial" panose="020B0604020202020204" pitchFamily="34" charset="0"/>
              <a:buChar char="•"/>
            </a:pPr>
            <a:r>
              <a:rPr lang="en-US" sz="1600" dirty="0"/>
              <a:t>Clonality</a:t>
            </a:r>
          </a:p>
          <a:p>
            <a:pPr marL="800100" lvl="1">
              <a:buFont typeface="Arial" panose="020B0604020202020204" pitchFamily="34" charset="0"/>
              <a:buChar char="•"/>
            </a:pPr>
            <a:r>
              <a:rPr lang="en-US" sz="1600" dirty="0"/>
              <a:t>TCR clustering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30664EB1-AC36-5D5A-CF80-48C4775C24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819432"/>
            <a:ext cx="3578196" cy="1649462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D4985433-84E6-4ACD-0AA1-E0BDC0B6F14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2658"/>
          <a:stretch/>
        </p:blipFill>
        <p:spPr>
          <a:xfrm>
            <a:off x="25753" y="3038475"/>
            <a:ext cx="3458091" cy="235424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826A20EB-3FB2-9A46-3A54-CF1E998A80E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87054" t="39151" b="43369"/>
          <a:stretch/>
        </p:blipFill>
        <p:spPr>
          <a:xfrm>
            <a:off x="3362665" y="3759779"/>
            <a:ext cx="725015" cy="893463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C3F1B661-42AE-0CD2-C0C8-3B9CE9DADA14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7969" t="23750" r="50547" b="9604"/>
          <a:stretch/>
        </p:blipFill>
        <p:spPr>
          <a:xfrm>
            <a:off x="3971925" y="136524"/>
            <a:ext cx="8214927" cy="395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2004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481E1FE224FC4EA45DA8206F3C9166" ma:contentTypeVersion="17" ma:contentTypeDescription="Create a new document." ma:contentTypeScope="" ma:versionID="add6a290984be456bc3834c9e489c534">
  <xsd:schema xmlns:xsd="http://www.w3.org/2001/XMLSchema" xmlns:xs="http://www.w3.org/2001/XMLSchema" xmlns:p="http://schemas.microsoft.com/office/2006/metadata/properties" xmlns:ns2="54a47a8d-66b5-4693-ade1-27a51de72b70" xmlns:ns3="ab06a5aa-8e31-4bdb-9b13-38c58a92ec8a" xmlns:ns4="56001df1-9669-4d97-ab69-3591fb4c4e9a" targetNamespace="http://schemas.microsoft.com/office/2006/metadata/properties" ma:root="true" ma:fieldsID="5447667e53d7453327cd2163506fa4e9" ns2:_="" ns3:_="" ns4:_="">
    <xsd:import namespace="54a47a8d-66b5-4693-ade1-27a51de72b70"/>
    <xsd:import namespace="ab06a5aa-8e31-4bdb-9b13-38c58a92ec8a"/>
    <xsd:import namespace="56001df1-9669-4d97-ab69-3591fb4c4e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4:SharedWithUsers" minOccurs="0"/>
                <xsd:element ref="ns4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a47a8d-66b5-4693-ade1-27a51de72b7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e20148b9-20a4-48a0-acba-ba52d68a37a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06a5aa-8e31-4bdb-9b13-38c58a92ec8a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50889682-bbc1-4083-85c3-3cb31187d186}" ma:internalName="TaxCatchAll" ma:showField="CatchAllData" ma:web="56001df1-9669-4d97-ab69-3591fb4c4e9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001df1-9669-4d97-ab69-3591fb4c4e9a" elementFormDefault="qualified">
    <xsd:import namespace="http://schemas.microsoft.com/office/2006/documentManagement/types"/>
    <xsd:import namespace="http://schemas.microsoft.com/office/infopath/2007/PartnerControls"/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4a47a8d-66b5-4693-ade1-27a51de72b70">
      <Terms xmlns="http://schemas.microsoft.com/office/infopath/2007/PartnerControls"/>
    </lcf76f155ced4ddcb4097134ff3c332f>
    <TaxCatchAll xmlns="ab06a5aa-8e31-4bdb-9b13-38c58a92ec8a" xsi:nil="true"/>
  </documentManagement>
</p:properties>
</file>

<file path=customXml/itemProps1.xml><?xml version="1.0" encoding="utf-8"?>
<ds:datastoreItem xmlns:ds="http://schemas.openxmlformats.org/officeDocument/2006/customXml" ds:itemID="{E1AC6B83-EFD9-4A61-AD26-68528B67265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4a47a8d-66b5-4693-ade1-27a51de72b70"/>
    <ds:schemaRef ds:uri="ab06a5aa-8e31-4bdb-9b13-38c58a92ec8a"/>
    <ds:schemaRef ds:uri="56001df1-9669-4d97-ab69-3591fb4c4e9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93211ED-05A5-4F09-93DE-263427471D5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DF560FD-B969-4854-9A4A-0AB3DB871662}">
  <ds:schemaRefs>
    <ds:schemaRef ds:uri="http://schemas.microsoft.com/office/2006/metadata/properties"/>
    <ds:schemaRef ds:uri="http://schemas.microsoft.com/office/infopath/2007/PartnerControls"/>
    <ds:schemaRef ds:uri="54a47a8d-66b5-4693-ade1-27a51de72b70"/>
    <ds:schemaRef ds:uri="ab06a5aa-8e31-4bdb-9b13-38c58a92ec8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11380</TotalTime>
  <Words>290</Words>
  <Application>Microsoft Office PowerPoint</Application>
  <PresentationFormat>Widescreen</PresentationFormat>
  <Paragraphs>50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Preparing custom TCR libraries using the 10x Genomics platform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10x Pilot for γδ T cells</dc:title>
  <dc:creator>mdmaerz</dc:creator>
  <cp:lastModifiedBy>Yeh MD, Albert C</cp:lastModifiedBy>
  <cp:revision>529</cp:revision>
  <dcterms:created xsi:type="dcterms:W3CDTF">2019-11-12T20:20:02Z</dcterms:created>
  <dcterms:modified xsi:type="dcterms:W3CDTF">2023-05-10T19:05:53Z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0x01010024481E1FE224FC4EA45DA8206F3C9166</vt:lpwstr>
  </property>
  <property fmtid="{D5CDD505-2E9C-101B-9397-08002B2CF9AE}" pid="3" name="Order">
    <vt:r8>6800</vt:r8>
  </property>
  <property fmtid="{D5CDD505-2E9C-101B-9397-08002B2CF9AE}" pid="4" name="MediaServiceImageTags">
    <vt:lpwstr/>
  </property>
</Properties>
</file>